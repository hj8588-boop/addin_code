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88" r:id="rId3"/>
    <p:sldId id="307" r:id="rId4"/>
    <p:sldId id="289" r:id="rId5"/>
    <p:sldId id="260" r:id="rId6"/>
    <p:sldId id="313" r:id="rId7"/>
    <p:sldId id="261" r:id="rId8"/>
    <p:sldId id="262" r:id="rId9"/>
    <p:sldId id="263" r:id="rId10"/>
    <p:sldId id="276" r:id="rId11"/>
    <p:sldId id="277" r:id="rId12"/>
    <p:sldId id="290" r:id="rId13"/>
    <p:sldId id="1083" r:id="rId14"/>
    <p:sldId id="1086" r:id="rId15"/>
    <p:sldId id="293" r:id="rId16"/>
    <p:sldId id="297" r:id="rId17"/>
    <p:sldId id="279" r:id="rId18"/>
    <p:sldId id="280" r:id="rId19"/>
    <p:sldId id="298" r:id="rId20"/>
    <p:sldId id="311" r:id="rId21"/>
    <p:sldId id="281" r:id="rId22"/>
    <p:sldId id="282" r:id="rId23"/>
    <p:sldId id="283" r:id="rId24"/>
    <p:sldId id="284" r:id="rId25"/>
    <p:sldId id="285" r:id="rId26"/>
    <p:sldId id="286" r:id="rId27"/>
    <p:sldId id="305" r:id="rId28"/>
    <p:sldId id="309" r:id="rId29"/>
    <p:sldId id="312" r:id="rId30"/>
    <p:sldId id="299" r:id="rId31"/>
    <p:sldId id="310" r:id="rId32"/>
    <p:sldId id="301" r:id="rId33"/>
    <p:sldId id="304" r:id="rId34"/>
    <p:sldId id="314" r:id="rId35"/>
    <p:sldId id="315" r:id="rId36"/>
    <p:sldId id="303" r:id="rId37"/>
    <p:sldId id="302" r:id="rId38"/>
    <p:sldId id="1084" r:id="rId39"/>
    <p:sldId id="1085" r:id="rId40"/>
    <p:sldId id="306" r:id="rId41"/>
    <p:sldId id="308" r:id="rId42"/>
    <p:sldId id="316" r:id="rId43"/>
    <p:sldId id="1082" r:id="rId44"/>
    <p:sldId id="1081" r:id="rId45"/>
    <p:sldId id="1078" r:id="rId46"/>
    <p:sldId id="1080" r:id="rId47"/>
    <p:sldId id="1087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4724"/>
    <a:srgbClr val="CC4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002CC-47EE-4350-9D71-9659B7C0345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510D-5399-49EF-A48E-8417D48994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62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300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36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96E4E-6B1E-4956-8D64-2D339400602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695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575B-6DA0-DA7E-4B16-CFCC64F9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005596-EEC5-3A61-7412-BF9CBA8A3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041377-7FA7-2B17-86ED-E711FFF05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94830-2198-463B-EDE9-3DFD1CA2A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96E4E-6B1E-4956-8D64-2D339400602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234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18BF-ED53-43A0-7E8D-587F37F5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4AB104-B2CD-4759-F3D8-63ED38A23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F6CD7B-5F1B-3FA9-8FB5-CA50F010B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E1516D-6FFF-2649-55D5-D07816584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96E4E-6B1E-4956-8D64-2D339400602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159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35F12-B425-E890-AF47-BA4E4F6BE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7950F7-B28A-8204-E473-36C061D6F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6828C2-8539-60AD-2E00-BDF55FF7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001D-6C17-492C-8F55-F7C4ED83238F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A7028-49A0-A440-8F3B-165CF7B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6A9728-063E-DFAD-F5F0-41315E7C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17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9F360-1AF2-1BD5-5129-FFBF23D0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230B85-130F-CBF8-389F-BC6C1FCBE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C6297A-4834-BDB5-0598-093CD149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0D-FB2A-439B-99A2-DF3E3548E496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777CC-8870-EF3A-35C2-5DDEB965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07C041-66C3-88F4-959B-19C3DBE5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0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FD03C-ACB0-FDE2-DDF6-7CBEDCDE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B7DF61-8440-5434-E24F-454E67337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8584B0-FBC7-391E-3BB0-280821F8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8EB1-4EB8-403C-A1A9-B1EDEB66B134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68142-3160-14A0-C612-9B51F5F3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970923-2938-F10C-9A3C-7CE1C609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92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02BFC-016A-9C66-9403-2FA7BF70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20565-58F6-ED35-71F0-7160D66C0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998B38-0367-2583-06E6-76983F7BB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764C0C-B9DE-D103-32D7-A5D50812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6577C-5456-45D0-826F-E8E0C09E0E73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FAF6EB-AB23-8893-4419-6549BF50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0EF1D9-1204-6501-4B9C-83433262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FF0AB-F232-17EF-DFD6-6DDB8B78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19041F-2A5B-B127-2823-B8E01AAC0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3EAE3E-A7B1-19A4-DE8C-D2C22D2A5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5613DF-DC4F-828E-8C35-29F295800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0904B3-38EA-4C2A-11A3-113843C00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7CBF7C-6D2D-469F-EC94-581EDDA1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FF4A-74A3-4CCB-AD65-94F78115410F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885C46-4333-C9F8-D2B3-01EC4C3A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34945E-1A30-750D-BC8A-9675A9AE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15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7392F-17D9-BFDF-CDB5-776215A2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00137C-E385-AD27-2C88-254B01CF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C334-7BDE-4491-9FBF-2D5868B0BDC1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E8D0C6-92D3-00A9-9F7C-3E76A985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574B0E-C895-E836-73D7-0B426B15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35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E4FE1B-C164-D186-CFD3-70334BFD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8D43-3260-4438-BD7A-A190B1F81245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D870DC-E353-7E72-9178-56092370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4A7EA1-0001-62E0-605B-FAA5657C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550" y="6388100"/>
            <a:ext cx="2743200" cy="365125"/>
          </a:xfrm>
        </p:spPr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92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7D62C-11A1-C60B-9ADB-490ABF8B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8542EF-BC0A-F092-FD8B-93E25D632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C250E2-61CA-3601-6756-F9CB9087C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E608-F6C7-6DC8-8FC1-E4077899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6D79-6366-4CC9-B9BC-0781C3A2401A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0F25D0-B84F-064C-2237-15EE3A17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DEA756-F832-CBBB-A90B-6FA15629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3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3FF39-E348-66E1-5424-CF595C66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8A965D-1A82-993A-C32B-D84CFDBBE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E20FDE-D0E1-344D-8FE8-C3B4F129E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D2006-BFD3-6414-E794-7F0711DFC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20EB-4A4E-4766-ADB6-5BDBFB7BE08D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B79EC1-8EA2-7615-DDBC-EF2815F4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6D710-263C-EB10-DBFA-1E052E99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78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22C04-9430-AC79-FBEE-4DB554F6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97579B-ADB4-971B-939F-C4431C086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575AA-DC52-49DA-5D44-92E38965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2072F-22B1-4AF1-AB0C-2F33A07266BF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BB0C02-7FDE-7BC4-7EB2-4191FBF4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D87D3B-DB1E-BDD7-CD6D-16C17DBC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72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946B03-632F-8F21-D436-4F0D08AFB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1D6DA-94C0-E7FD-4B44-A8FE2DC4E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CAAD4-7AAA-1E4A-602B-998ADBD1C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2A3D-F41A-43AB-B79C-AF41FFDC7578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8605C5-BCB5-F220-0D97-14197E94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15847-C3CA-A075-4CB9-09B038B0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0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EE7B74-134F-3D86-A72A-C2263363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E6004D-6225-B08F-0768-D42E7588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C1340-2313-A945-0FDC-D21C5309C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A0810-9A5B-4D4B-832B-ABB6ED65463A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8B8F8-008B-EDC7-B8C8-0DC560A20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E392D-4D28-09F1-BB71-103F59465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83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todesk.co.kr/products/navisworks/3d-viewers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file:///\\hwjy\04.%20&#49444;&#44228;3&#54016;%20&#51089;&#50629;&#48169;\@&#51060;&#54812;&#51221;\@&#47112;&#48727;%20&#44368;&#50977;\IFC%20&#54364;&#51456;%20&#47605;&#54609;\Revit-IFC_Default_Mappings-2025.xlsx!Default%20Mappings%20!R1C1" TargetMode="Externa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567230-DD43-8DD0-095E-D62BBD676688}"/>
              </a:ext>
            </a:extLst>
          </p:cNvPr>
          <p:cNvSpPr txBox="1"/>
          <p:nvPr/>
        </p:nvSpPr>
        <p:spPr>
          <a:xfrm>
            <a:off x="711200" y="1841500"/>
            <a:ext cx="4572000" cy="66357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3400" b="1" dirty="0">
                <a:latin typeface="Malgun Gothic" panose="020B0503020000020004" pitchFamily="50" charset="-127"/>
              </a:rPr>
              <a:t>BIM </a:t>
            </a:r>
            <a:r>
              <a:rPr lang="ko-KR" altLang="en-US" sz="3400" b="1" dirty="0">
                <a:latin typeface="Malgun Gothic" panose="020B0503020000020004" pitchFamily="50" charset="-127"/>
              </a:rPr>
              <a:t>기초 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651AD-AD65-FE00-4A15-68B99BBD98B0}"/>
              </a:ext>
            </a:extLst>
          </p:cNvPr>
          <p:cNvSpPr txBox="1"/>
          <p:nvPr/>
        </p:nvSpPr>
        <p:spPr>
          <a:xfrm>
            <a:off x="736600" y="2971800"/>
            <a:ext cx="4826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latin typeface="Malgun Gothic" panose="020B0503020000020004" pitchFamily="50" charset="-127"/>
              </a:rPr>
              <a:t>Revit </a:t>
            </a:r>
            <a:r>
              <a:rPr lang="ko-KR" altLang="en-US" sz="1600" b="1" dirty="0">
                <a:latin typeface="Malgun Gothic" panose="020B0503020000020004" pitchFamily="50" charset="-127"/>
              </a:rPr>
              <a:t>실습 교육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FDBFD-A7D4-DC9C-B682-86724A6FFECE}"/>
              </a:ext>
            </a:extLst>
          </p:cNvPr>
          <p:cNvSpPr txBox="1"/>
          <p:nvPr/>
        </p:nvSpPr>
        <p:spPr>
          <a:xfrm>
            <a:off x="736600" y="3784600"/>
            <a:ext cx="4826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latin typeface="Malgun Gothic" panose="020B0503020000020004" pitchFamily="50" charset="-127"/>
              </a:rPr>
              <a:t>학습목표</a:t>
            </a:r>
            <a:r>
              <a:rPr lang="en-US" altLang="ko-KR" sz="1600" b="1" dirty="0">
                <a:latin typeface="Malgun Gothic" panose="020B0503020000020004" pitchFamily="50" charset="-127"/>
              </a:rPr>
              <a:t>: </a:t>
            </a:r>
            <a:r>
              <a:rPr lang="ko-KR" altLang="en-US" sz="1600" b="1" dirty="0">
                <a:latin typeface="Malgun Gothic" panose="020B0503020000020004" pitchFamily="50" charset="-127"/>
              </a:rPr>
              <a:t>건축 역사 전기공종 모델링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4DF3D9-FEBC-7080-B9F4-F05A2868025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F4C175-6665-0A39-8901-625039F3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285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7D60F0-FC7D-6C32-A509-BBE75F345BB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D70EF-FFFF-B2DA-DB5B-AC811F265A25}"/>
              </a:ext>
            </a:extLst>
          </p:cNvPr>
          <p:cNvSpPr txBox="1"/>
          <p:nvPr/>
        </p:nvSpPr>
        <p:spPr>
          <a:xfrm>
            <a:off x="304800" y="279400"/>
            <a:ext cx="2540000" cy="4547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8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1FDCC-C4B9-CF3A-933E-9B96A3217744}"/>
              </a:ext>
            </a:extLst>
          </p:cNvPr>
          <p:cNvSpPr txBox="1"/>
          <p:nvPr/>
        </p:nvSpPr>
        <p:spPr>
          <a:xfrm>
            <a:off x="304800" y="1041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01.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CA585-8C2F-6CBC-3148-CC14F959AE51}"/>
              </a:ext>
            </a:extLst>
          </p:cNvPr>
          <p:cNvSpPr txBox="1"/>
          <p:nvPr/>
        </p:nvSpPr>
        <p:spPr>
          <a:xfrm>
            <a:off x="1117600" y="1041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/>
              <a:t>BIM </a:t>
            </a:r>
            <a:r>
              <a:rPr lang="ko-KR" altLang="en-US" sz="1600" b="1" dirty="0"/>
              <a:t>개념과 </a:t>
            </a:r>
            <a:r>
              <a:rPr lang="en-US" altLang="ko-KR" sz="1600" b="1" dirty="0"/>
              <a:t>Revit</a:t>
            </a:r>
            <a:r>
              <a:rPr lang="ko-KR" altLang="en-US" sz="1600" b="1" dirty="0"/>
              <a:t>의 역할</a:t>
            </a:r>
            <a:endParaRPr lang="ko-KR" altLang="en-US" sz="1600" b="1" dirty="0"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D5DE1-BABC-9E86-B8D4-F0F4DBECB530}"/>
              </a:ext>
            </a:extLst>
          </p:cNvPr>
          <p:cNvSpPr txBox="1"/>
          <p:nvPr/>
        </p:nvSpPr>
        <p:spPr>
          <a:xfrm>
            <a:off x="1117600" y="1346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시각화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간섭 검토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수량산출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속성정보 입력</a:t>
            </a:r>
            <a:endParaRPr lang="ko-KR" altLang="en-US" sz="1200" dirty="0"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B07CC-D9E1-A4BA-C230-019E656D295C}"/>
              </a:ext>
            </a:extLst>
          </p:cNvPr>
          <p:cNvSpPr txBox="1"/>
          <p:nvPr/>
        </p:nvSpPr>
        <p:spPr>
          <a:xfrm>
            <a:off x="304800" y="1930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02.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1529E-B7CC-3273-A857-A8D16DCF592C}"/>
              </a:ext>
            </a:extLst>
          </p:cNvPr>
          <p:cNvSpPr txBox="1"/>
          <p:nvPr/>
        </p:nvSpPr>
        <p:spPr>
          <a:xfrm>
            <a:off x="1117600" y="1930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Revit interface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EF844-7E4A-BFD1-E08F-7982E66EF993}"/>
              </a:ext>
            </a:extLst>
          </p:cNvPr>
          <p:cNvSpPr txBox="1"/>
          <p:nvPr/>
        </p:nvSpPr>
        <p:spPr>
          <a:xfrm>
            <a:off x="1117600" y="2235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리본 메뉴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프로젝트 브라우저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속성 패널 등 필수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UI</a:t>
            </a:r>
            <a:endParaRPr lang="ko-KR" altLang="en-US" sz="1200">
              <a:solidFill>
                <a:srgbClr val="2A2A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639B3-6D74-C6A7-7C74-AECB1245912A}"/>
              </a:ext>
            </a:extLst>
          </p:cNvPr>
          <p:cNvSpPr txBox="1"/>
          <p:nvPr/>
        </p:nvSpPr>
        <p:spPr>
          <a:xfrm>
            <a:off x="304800" y="2819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03.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8FB7A-5221-3E4C-FFA1-5A12397BDCE1}"/>
              </a:ext>
            </a:extLst>
          </p:cNvPr>
          <p:cNvSpPr txBox="1"/>
          <p:nvPr/>
        </p:nvSpPr>
        <p:spPr>
          <a:xfrm>
            <a:off x="1117600" y="2819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공동 작업 </a:t>
            </a:r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(Worksharing)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988D1-4321-92CE-931C-06A6790FEE15}"/>
              </a:ext>
            </a:extLst>
          </p:cNvPr>
          <p:cNvSpPr txBox="1"/>
          <p:nvPr/>
        </p:nvSpPr>
        <p:spPr>
          <a:xfrm>
            <a:off x="1117600" y="3124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Central file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작성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Workset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생성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synchronize,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로컬파일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A02CF5-01A8-E8FA-9513-3FB923F55C03}"/>
              </a:ext>
            </a:extLst>
          </p:cNvPr>
          <p:cNvSpPr txBox="1"/>
          <p:nvPr/>
        </p:nvSpPr>
        <p:spPr>
          <a:xfrm>
            <a:off x="304800" y="3708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04.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2AF45-96B5-445C-4BD1-A406F97B786C}"/>
              </a:ext>
            </a:extLst>
          </p:cNvPr>
          <p:cNvSpPr txBox="1"/>
          <p:nvPr/>
        </p:nvSpPr>
        <p:spPr>
          <a:xfrm>
            <a:off x="1117600" y="3708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패밀리 작성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834BF8-1025-FD21-0E3E-B3FDE0851230}"/>
              </a:ext>
            </a:extLst>
          </p:cNvPr>
          <p:cNvSpPr txBox="1"/>
          <p:nvPr/>
        </p:nvSpPr>
        <p:spPr>
          <a:xfrm>
            <a:off x="1117600" y="4013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Instance parameter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Type parameter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구분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351B85-674C-E022-12E9-11BF8A3A9C5A}"/>
              </a:ext>
            </a:extLst>
          </p:cNvPr>
          <p:cNvSpPr txBox="1"/>
          <p:nvPr/>
        </p:nvSpPr>
        <p:spPr>
          <a:xfrm>
            <a:off x="304800" y="4597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05.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97CAC-1D8B-A4DF-A27E-FC3D79CF27F3}"/>
              </a:ext>
            </a:extLst>
          </p:cNvPr>
          <p:cNvSpPr txBox="1"/>
          <p:nvPr/>
        </p:nvSpPr>
        <p:spPr>
          <a:xfrm>
            <a:off x="1117600" y="4597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링크파일 불러오기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164F5-AA07-546F-7834-8A0A6D2EBBF3}"/>
              </a:ext>
            </a:extLst>
          </p:cNvPr>
          <p:cNvSpPr txBox="1"/>
          <p:nvPr/>
        </p:nvSpPr>
        <p:spPr>
          <a:xfrm>
            <a:off x="1117600" y="4902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Revit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링크와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링크 불러오기 기준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CD0189-A8F5-FAD4-317A-07E01F96F441}"/>
              </a:ext>
            </a:extLst>
          </p:cNvPr>
          <p:cNvSpPr txBox="1"/>
          <p:nvPr/>
        </p:nvSpPr>
        <p:spPr>
          <a:xfrm>
            <a:off x="304800" y="5486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06.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58F68-9396-6FD4-BF88-73840BCADFE9}"/>
              </a:ext>
            </a:extLst>
          </p:cNvPr>
          <p:cNvSpPr txBox="1"/>
          <p:nvPr/>
        </p:nvSpPr>
        <p:spPr>
          <a:xfrm>
            <a:off x="1117600" y="5486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트레이 작성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68F7A4-C728-4EC0-E970-2D5ABED0190E}"/>
              </a:ext>
            </a:extLst>
          </p:cNvPr>
          <p:cNvSpPr txBox="1"/>
          <p:nvPr/>
        </p:nvSpPr>
        <p:spPr>
          <a:xfrm>
            <a:off x="304800" y="62369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07.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14F5B6-B74E-705D-9FB5-AB57F1181E94}"/>
              </a:ext>
            </a:extLst>
          </p:cNvPr>
          <p:cNvSpPr txBox="1"/>
          <p:nvPr/>
        </p:nvSpPr>
        <p:spPr>
          <a:xfrm>
            <a:off x="1117600" y="62369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가시성 설정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D7B379-C9A8-DAB0-71BC-2CD8CC9BF22D}"/>
              </a:ext>
            </a:extLst>
          </p:cNvPr>
          <p:cNvSpPr txBox="1"/>
          <p:nvPr/>
        </p:nvSpPr>
        <p:spPr>
          <a:xfrm>
            <a:off x="1117600" y="65417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Filter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설정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View Template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생성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8379D995-9C04-C817-EE23-EC2B6BFE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0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1BE05-6BA8-12C4-0DE3-35515C90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1743F5-A3CC-7B5C-2DDA-5A59733BAB7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D6BFA-040C-D544-14A7-F3451562E76E}"/>
              </a:ext>
            </a:extLst>
          </p:cNvPr>
          <p:cNvSpPr txBox="1"/>
          <p:nvPr/>
        </p:nvSpPr>
        <p:spPr>
          <a:xfrm>
            <a:off x="304800" y="279400"/>
            <a:ext cx="2540000" cy="4547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8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A9ECE-9DF0-3777-2CAD-3A5C59988768}"/>
              </a:ext>
            </a:extLst>
          </p:cNvPr>
          <p:cNvSpPr txBox="1"/>
          <p:nvPr/>
        </p:nvSpPr>
        <p:spPr>
          <a:xfrm>
            <a:off x="304800" y="1041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08.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5F88A-48AC-2040-A15D-5900BFCABB7A}"/>
              </a:ext>
            </a:extLst>
          </p:cNvPr>
          <p:cNvSpPr txBox="1"/>
          <p:nvPr/>
        </p:nvSpPr>
        <p:spPr>
          <a:xfrm>
            <a:off x="1117600" y="1041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latin typeface="Malgun Gothic" panose="020B0503020000020004" pitchFamily="50" charset="-127"/>
              </a:rPr>
              <a:t>속성정보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34EAF-BB8E-B070-8EFD-757BD4B389C0}"/>
              </a:ext>
            </a:extLst>
          </p:cNvPr>
          <p:cNvSpPr txBox="1"/>
          <p:nvPr/>
        </p:nvSpPr>
        <p:spPr>
          <a:xfrm>
            <a:off x="1117600" y="1346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프로젝트 및 라이브러리 데이터 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4F4F3-8C16-08FA-5538-AACFFA682594}"/>
              </a:ext>
            </a:extLst>
          </p:cNvPr>
          <p:cNvSpPr txBox="1"/>
          <p:nvPr/>
        </p:nvSpPr>
        <p:spPr>
          <a:xfrm>
            <a:off x="304800" y="1930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09.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C32AC-A035-5E82-1877-3CB3B5F52D14}"/>
              </a:ext>
            </a:extLst>
          </p:cNvPr>
          <p:cNvSpPr txBox="1"/>
          <p:nvPr/>
        </p:nvSpPr>
        <p:spPr>
          <a:xfrm>
            <a:off x="1117600" y="1930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물량 산출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24C18-2AA5-FFC0-E13B-59F40B42A1D0}"/>
              </a:ext>
            </a:extLst>
          </p:cNvPr>
          <p:cNvSpPr txBox="1"/>
          <p:nvPr/>
        </p:nvSpPr>
        <p:spPr>
          <a:xfrm>
            <a:off x="1117600" y="2235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latin typeface="+mj-lt"/>
              </a:rPr>
              <a:t>•  Schedule</a:t>
            </a:r>
            <a:r>
              <a:rPr lang="ko-KR" altLang="en-US" sz="1200" dirty="0">
                <a:latin typeface="+mj-lt"/>
              </a:rPr>
              <a:t>작성</a:t>
            </a:r>
            <a:r>
              <a:rPr lang="en-US" altLang="ko-KR" sz="1200" dirty="0">
                <a:latin typeface="+mj-lt"/>
              </a:rPr>
              <a:t>, </a:t>
            </a:r>
            <a:r>
              <a:rPr lang="ko-KR" altLang="en-US" sz="1200" dirty="0">
                <a:latin typeface="+mj-lt"/>
              </a:rPr>
              <a:t>케이블 길이 추출</a:t>
            </a:r>
            <a:endParaRPr lang="en-US" altLang="ko-KR" sz="1200" dirty="0">
              <a:latin typeface="+mj-lt"/>
            </a:endParaRPr>
          </a:p>
          <a:p>
            <a:endParaRPr lang="ko-KR" altLang="en-US" sz="12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16865-81DB-FF8E-5C6F-61E645D7897F}"/>
              </a:ext>
            </a:extLst>
          </p:cNvPr>
          <p:cNvSpPr txBox="1"/>
          <p:nvPr/>
        </p:nvSpPr>
        <p:spPr>
          <a:xfrm>
            <a:off x="304800" y="2819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10.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872C42-8FAC-370B-D7FD-0C2E69179028}"/>
              </a:ext>
            </a:extLst>
          </p:cNvPr>
          <p:cNvSpPr txBox="1"/>
          <p:nvPr/>
        </p:nvSpPr>
        <p:spPr>
          <a:xfrm>
            <a:off x="1117600" y="2819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납품 파일 추출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8E9FE7-600B-AE25-41AF-08B8D7769832}"/>
              </a:ext>
            </a:extLst>
          </p:cNvPr>
          <p:cNvSpPr txBox="1"/>
          <p:nvPr/>
        </p:nvSpPr>
        <p:spPr>
          <a:xfrm>
            <a:off x="1117600" y="3124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NWC,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NWF,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NWD,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IFC</a:t>
            </a:r>
            <a:endParaRPr lang="ko-KR" altLang="en-US" sz="1200" dirty="0">
              <a:solidFill>
                <a:srgbClr val="2A2A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3D06A-95D6-42EC-21A0-A13484A55881}"/>
              </a:ext>
            </a:extLst>
          </p:cNvPr>
          <p:cNvSpPr txBox="1"/>
          <p:nvPr/>
        </p:nvSpPr>
        <p:spPr>
          <a:xfrm>
            <a:off x="304800" y="3708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11.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BE340-AD61-D68D-6BFA-BE1A6117E95F}"/>
              </a:ext>
            </a:extLst>
          </p:cNvPr>
          <p:cNvSpPr txBox="1"/>
          <p:nvPr/>
        </p:nvSpPr>
        <p:spPr>
          <a:xfrm>
            <a:off x="1117600" y="3708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간섭검토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FA85F-ADF0-B155-CA1B-700FEE11EE8D}"/>
              </a:ext>
            </a:extLst>
          </p:cNvPr>
          <p:cNvSpPr txBox="1"/>
          <p:nvPr/>
        </p:nvSpPr>
        <p:spPr>
          <a:xfrm>
            <a:off x="1117600" y="4013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간섭검토를 위한 세팅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EE8F9887-33B8-CCAA-9937-6A652A0E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02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7DB5DC1-995A-C930-279C-735B24B46D14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FB4661-03C3-5727-B6BD-2FDABE658510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1ED6625-62F0-84D3-E969-87BB15E6BE4F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89536-E73E-BD3F-2F76-90BBED27BCFF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</a:rPr>
              <a:t>BIM </a:t>
            </a:r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개념과 </a:t>
            </a:r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</a:rPr>
              <a:t>Revit</a:t>
            </a:r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의 역할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FF511-3C9D-31FE-5B18-C52F4F4A6213}"/>
              </a:ext>
            </a:extLst>
          </p:cNvPr>
          <p:cNvSpPr txBox="1"/>
          <p:nvPr/>
        </p:nvSpPr>
        <p:spPr>
          <a:xfrm>
            <a:off x="3708400" y="2523123"/>
            <a:ext cx="768985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BIM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의 필요성과 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의 실무적 이점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E4B1B4-2D3F-7E30-9BCD-1D154DBC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264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B794F76-92A7-64A5-7505-F74ADEDC424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5D574A-70F9-58D7-BE57-01B5C393EAF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CDA68-CE7E-F126-F84C-AAD8D415FA6A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BIM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개념 핵심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DC332-1F23-7B29-712C-D3FAA19D21B6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BIM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의 실무 가치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018174-8C5D-3645-9AC4-E2D872E9D628}"/>
              </a:ext>
            </a:extLst>
          </p:cNvPr>
          <p:cNvSpPr/>
          <p:nvPr/>
        </p:nvSpPr>
        <p:spPr>
          <a:xfrm>
            <a:off x="457200" y="142240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C844F4-6815-79FB-26CE-FB3DE998901E}"/>
              </a:ext>
            </a:extLst>
          </p:cNvPr>
          <p:cNvSpPr txBox="1"/>
          <p:nvPr/>
        </p:nvSpPr>
        <p:spPr>
          <a:xfrm>
            <a:off x="6858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시각화 및 도면화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13CD3C-5267-7589-4A59-3ADEA0AAB51E}"/>
              </a:ext>
            </a:extLst>
          </p:cNvPr>
          <p:cNvSpPr/>
          <p:nvPr/>
        </p:nvSpPr>
        <p:spPr>
          <a:xfrm>
            <a:off x="6858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95B1DC-16BC-B0FC-2C64-06EFDF5AE621}"/>
              </a:ext>
            </a:extLst>
          </p:cNvPr>
          <p:cNvSpPr txBox="1"/>
          <p:nvPr/>
        </p:nvSpPr>
        <p:spPr>
          <a:xfrm>
            <a:off x="6858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모델링을 기반으로 도면화 가능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모델링 변경사항이 실시간으로 도면에 반영됨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6851F2-57FA-4541-F307-BA9790735FC2}"/>
              </a:ext>
            </a:extLst>
          </p:cNvPr>
          <p:cNvSpPr/>
          <p:nvPr/>
        </p:nvSpPr>
        <p:spPr>
          <a:xfrm>
            <a:off x="4191000" y="143001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E0607-9DD4-DB3E-4938-CD00C46D4EE3}"/>
              </a:ext>
            </a:extLst>
          </p:cNvPr>
          <p:cNvSpPr txBox="1"/>
          <p:nvPr/>
        </p:nvSpPr>
        <p:spPr>
          <a:xfrm>
            <a:off x="44196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CC4700"/>
                </a:solidFill>
                <a:latin typeface="Malgun Gothic" panose="020B0503020000020004" pitchFamily="50" charset="-127"/>
              </a:rPr>
              <a:t>간섭 검토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A63044-2355-F237-517A-151697B04CC2}"/>
              </a:ext>
            </a:extLst>
          </p:cNvPr>
          <p:cNvSpPr/>
          <p:nvPr/>
        </p:nvSpPr>
        <p:spPr>
          <a:xfrm>
            <a:off x="44196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659B56-F503-354E-7171-37F4E115A214}"/>
              </a:ext>
            </a:extLst>
          </p:cNvPr>
          <p:cNvSpPr/>
          <p:nvPr/>
        </p:nvSpPr>
        <p:spPr>
          <a:xfrm>
            <a:off x="7924800" y="142240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25A055-813D-9945-A2B3-D211E0DE516B}"/>
              </a:ext>
            </a:extLst>
          </p:cNvPr>
          <p:cNvSpPr txBox="1"/>
          <p:nvPr/>
        </p:nvSpPr>
        <p:spPr>
          <a:xfrm>
            <a:off x="81534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CC4700"/>
                </a:solidFill>
                <a:latin typeface="Malgun Gothic" panose="020B0503020000020004" pitchFamily="50" charset="-127"/>
              </a:rPr>
              <a:t>정보 활용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E4A1B3-ACF3-82BF-E58F-7F7B18B46EDD}"/>
              </a:ext>
            </a:extLst>
          </p:cNvPr>
          <p:cNvSpPr/>
          <p:nvPr/>
        </p:nvSpPr>
        <p:spPr>
          <a:xfrm>
            <a:off x="81534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E1E0FA-0AC8-035A-A1F1-964559DF7026}"/>
              </a:ext>
            </a:extLst>
          </p:cNvPr>
          <p:cNvSpPr txBox="1"/>
          <p:nvPr/>
        </p:nvSpPr>
        <p:spPr>
          <a:xfrm>
            <a:off x="81534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수량산출 자동화</a:t>
            </a:r>
            <a:r>
              <a:rPr lang="en-US" altLang="ko-KR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(schedule)</a:t>
            </a: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객체 속성정보 입력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B7A1FC-6522-2859-DEB0-AD1FED9479A7}"/>
              </a:ext>
            </a:extLst>
          </p:cNvPr>
          <p:cNvSpPr txBox="1"/>
          <p:nvPr/>
        </p:nvSpPr>
        <p:spPr>
          <a:xfrm>
            <a:off x="44196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</a:rPr>
              <a:t>다분야 간섭 체크 </a:t>
            </a:r>
            <a:r>
              <a:rPr lang="en-US" altLang="ko-KR" sz="1200" b="1" dirty="0">
                <a:solidFill>
                  <a:srgbClr val="6B4724"/>
                </a:solidFill>
              </a:rPr>
              <a:t>(Clash)</a:t>
            </a: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93DB83-B2F2-1F50-6861-025ABD5ECBE2}"/>
              </a:ext>
            </a:extLst>
          </p:cNvPr>
          <p:cNvSpPr/>
          <p:nvPr/>
        </p:nvSpPr>
        <p:spPr>
          <a:xfrm>
            <a:off x="457200" y="5638800"/>
            <a:ext cx="6063673" cy="609600"/>
          </a:xfrm>
          <a:prstGeom prst="rect">
            <a:avLst/>
          </a:prstGeom>
          <a:solidFill>
            <a:srgbClr val="FDF8E9"/>
          </a:solidFill>
          <a:ln>
            <a:solidFill>
              <a:srgbClr val="F9E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최종 성과물</a:t>
            </a:r>
            <a:r>
              <a:rPr lang="en-US" altLang="ko-KR" sz="16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: RVT, NWC, NWD, IFC</a:t>
            </a:r>
            <a:r>
              <a:rPr lang="en-US" altLang="ko-KR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충북선 고속화 납품 기준</a:t>
            </a:r>
            <a:r>
              <a:rPr lang="en-US" altLang="ko-KR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 b="1" dirty="0">
              <a:solidFill>
                <a:srgbClr val="D666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64D441-894B-6709-E8D4-BCEE53DFF094}"/>
              </a:ext>
            </a:extLst>
          </p:cNvPr>
          <p:cNvSpPr/>
          <p:nvPr/>
        </p:nvSpPr>
        <p:spPr>
          <a:xfrm>
            <a:off x="457200" y="3375983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D4C5E8-7D66-F13C-E013-9E5F1EEE43DC}"/>
              </a:ext>
            </a:extLst>
          </p:cNvPr>
          <p:cNvSpPr txBox="1"/>
          <p:nvPr/>
        </p:nvSpPr>
        <p:spPr>
          <a:xfrm>
            <a:off x="685800" y="3579183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협업 가능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AC2107-AA60-5050-C1A2-404E2461C4D1}"/>
              </a:ext>
            </a:extLst>
          </p:cNvPr>
          <p:cNvSpPr/>
          <p:nvPr/>
        </p:nvSpPr>
        <p:spPr>
          <a:xfrm>
            <a:off x="685800" y="4036383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66CB69-EA25-8C18-8FA4-BDB121C4CDEB}"/>
              </a:ext>
            </a:extLst>
          </p:cNvPr>
          <p:cNvSpPr txBox="1"/>
          <p:nvPr/>
        </p:nvSpPr>
        <p:spPr>
          <a:xfrm>
            <a:off x="685800" y="4188783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2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Worksharing</a:t>
            </a: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을 통한 협업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4250AB80-4D71-4EB8-04F8-5EDFD742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77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73F9-B487-F1E6-7A8B-79311CD2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1CA9E3-C5C6-FC64-1D68-C621D18FD72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3F7C5B-6CDF-E143-5B4F-9DC49CD1A4F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6583FED-D3D6-564C-1BBC-E71A2F6B7A11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BD8249-39FA-A712-43F1-F476C5A435E7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영어버전으로 변경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FA3654-8BB7-1C0E-1EFC-7F9488B14D1F}"/>
              </a:ext>
            </a:extLst>
          </p:cNvPr>
          <p:cNvSpPr txBox="1"/>
          <p:nvPr/>
        </p:nvSpPr>
        <p:spPr>
          <a:xfrm>
            <a:off x="917574" y="2061468"/>
            <a:ext cx="3853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바로가기 </a:t>
            </a:r>
            <a:r>
              <a:rPr lang="ko-KR" altLang="en-US" sz="2000" dirty="0" err="1"/>
              <a:t>우클릭</a:t>
            </a:r>
            <a:r>
              <a:rPr lang="ko-KR" altLang="en-US" sz="2000" dirty="0"/>
              <a:t> 후 </a:t>
            </a:r>
            <a:r>
              <a:rPr lang="ko-KR" altLang="en-US" sz="2000" dirty="0" err="1"/>
              <a:t>속성창</a:t>
            </a:r>
            <a:endParaRPr lang="en-US" altLang="ko-KR" sz="2000" dirty="0"/>
          </a:p>
          <a:p>
            <a:r>
              <a:rPr lang="en-US" altLang="ko-KR" sz="2000" dirty="0"/>
              <a:t>2. KOR → </a:t>
            </a:r>
            <a:r>
              <a:rPr lang="en-US" altLang="ko-KR" sz="2000" dirty="0" err="1"/>
              <a:t>enu</a:t>
            </a:r>
            <a:r>
              <a:rPr lang="ko-KR" altLang="en-US" sz="2000" dirty="0"/>
              <a:t>로 변경</a:t>
            </a:r>
            <a:endParaRPr lang="en-US" altLang="ko-KR" sz="2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9044B88-AA8D-302D-ED9D-37811CBF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190" y="2061468"/>
            <a:ext cx="3492156" cy="43708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8725B6-4F7A-FC96-C1C3-C797517FB0EC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영어버전으로 변경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7377D6-E73C-9D07-BB71-9A04B7C48879}"/>
              </a:ext>
            </a:extLst>
          </p:cNvPr>
          <p:cNvSpPr/>
          <p:nvPr/>
        </p:nvSpPr>
        <p:spPr>
          <a:xfrm>
            <a:off x="5713020" y="3509818"/>
            <a:ext cx="2608943" cy="2344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4CC7FE-1938-1C9B-E88C-00BDF32F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55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FDF21A9-FEC0-8EDC-C3CC-234A22569D01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6BCEF9-D50A-AB58-D999-EA19FCD2BC4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30C6F1A-0BD2-C7FA-294A-15C09044F92D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2BA74-DE4D-D1B6-DA64-05C5CAAD399A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</a:rPr>
              <a:t>Revit interface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9E5B6-AE84-8733-2E73-049FE59E9AD4}"/>
              </a:ext>
            </a:extLst>
          </p:cNvPr>
          <p:cNvSpPr txBox="1"/>
          <p:nvPr/>
        </p:nvSpPr>
        <p:spPr>
          <a:xfrm>
            <a:off x="3708400" y="2523123"/>
            <a:ext cx="768985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리본 기능 기본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D26D9-A111-7162-0BD4-7079346E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9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2083122-E2BA-BC4D-82A9-608BBA7B3B1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20E9C6-B5A3-488C-7F43-F7533EA4E40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E976E-A4E6-9ACA-3A5C-BC0DC83845F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화면 전체 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9F424-E701-3E21-359A-252D679B4D66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먼저 화면을 큰 덩어리로 이해합니다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F868E-F7B8-F3BF-4B78-5812BB2BFE91}"/>
              </a:ext>
            </a:extLst>
          </p:cNvPr>
          <p:cNvSpPr txBox="1"/>
          <p:nvPr/>
        </p:nvSpPr>
        <p:spPr>
          <a:xfrm>
            <a:off x="150093" y="2708377"/>
            <a:ext cx="2471434" cy="78043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</a:rPr>
              <a:t>빠른 실행 도구 모음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현재 뷰와 객체속성 확인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(PP)</a:t>
            </a:r>
          </a:p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</a:rPr>
              <a:t>도면 및 패밀리 관리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700"/>
              </a:spcAft>
              <a:buFont typeface="+mj-lt"/>
              <a:buChar char="✓"/>
            </a:pPr>
            <a:endParaRPr lang="ko-KR" altLang="en-US" sz="1100" dirty="0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D3C4E5-FBA5-C342-3E18-125B28BE62E9}"/>
              </a:ext>
            </a:extLst>
          </p:cNvPr>
          <p:cNvSpPr/>
          <p:nvPr/>
        </p:nvSpPr>
        <p:spPr>
          <a:xfrm>
            <a:off x="3028288" y="1009977"/>
            <a:ext cx="8839200" cy="55594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D874F0-38FE-03D1-619D-BC95018FB3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2" r="13671"/>
          <a:stretch>
            <a:fillRect/>
          </a:stretch>
        </p:blipFill>
        <p:spPr>
          <a:xfrm>
            <a:off x="3067542" y="1080404"/>
            <a:ext cx="8760691" cy="541928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D67F57-7A2A-CA93-BE0F-B9A415F3FA8E}"/>
              </a:ext>
            </a:extLst>
          </p:cNvPr>
          <p:cNvSpPr/>
          <p:nvPr/>
        </p:nvSpPr>
        <p:spPr>
          <a:xfrm>
            <a:off x="3028286" y="1211869"/>
            <a:ext cx="6331857" cy="170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01F590-91F1-1AD6-48B6-E7FAEC3AB4E8}"/>
              </a:ext>
            </a:extLst>
          </p:cNvPr>
          <p:cNvSpPr/>
          <p:nvPr/>
        </p:nvSpPr>
        <p:spPr>
          <a:xfrm>
            <a:off x="3063631" y="1962733"/>
            <a:ext cx="1696804" cy="43215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DDB2E0-8FAC-FD68-0C57-E677574474A1}"/>
              </a:ext>
            </a:extLst>
          </p:cNvPr>
          <p:cNvSpPr/>
          <p:nvPr/>
        </p:nvSpPr>
        <p:spPr>
          <a:xfrm>
            <a:off x="10530081" y="1962732"/>
            <a:ext cx="1311300" cy="46537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C5569-8AD6-9949-AB88-5F021F9EB6E6}"/>
              </a:ext>
            </a:extLst>
          </p:cNvPr>
          <p:cNvSpPr txBox="1"/>
          <p:nvPr/>
        </p:nvSpPr>
        <p:spPr>
          <a:xfrm>
            <a:off x="2613892" y="1065902"/>
            <a:ext cx="44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92DE0-27BD-C852-C8D5-F531B663188C}"/>
              </a:ext>
            </a:extLst>
          </p:cNvPr>
          <p:cNvSpPr txBox="1"/>
          <p:nvPr/>
        </p:nvSpPr>
        <p:spPr>
          <a:xfrm>
            <a:off x="2632451" y="1778067"/>
            <a:ext cx="44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2B7D7-615F-90F3-BE0B-5C7D87E63273}"/>
              </a:ext>
            </a:extLst>
          </p:cNvPr>
          <p:cNvSpPr txBox="1"/>
          <p:nvPr/>
        </p:nvSpPr>
        <p:spPr>
          <a:xfrm>
            <a:off x="10155129" y="1839259"/>
            <a:ext cx="335508" cy="3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4F1DCF-C397-22FA-869C-E17590471432}"/>
              </a:ext>
            </a:extLst>
          </p:cNvPr>
          <p:cNvSpPr txBox="1"/>
          <p:nvPr/>
        </p:nvSpPr>
        <p:spPr>
          <a:xfrm>
            <a:off x="177800" y="4720590"/>
            <a:ext cx="3258127" cy="84201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700"/>
              </a:spcAft>
            </a:pP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* </a:t>
            </a:r>
            <a:r>
              <a:rPr lang="ko-KR" altLang="en-US" sz="1100" b="1" dirty="0">
                <a:solidFill>
                  <a:srgbClr val="FF0000"/>
                </a:solidFill>
              </a:rPr>
              <a:t>주의사항</a:t>
            </a:r>
            <a:endParaRPr lang="en-US" altLang="ko-KR" sz="11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700"/>
              </a:spcAft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도면작성시 기본 도면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(floor</a:t>
            </a: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plan)</a:t>
            </a: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수정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x,</a:t>
            </a:r>
          </a:p>
          <a:p>
            <a:pPr>
              <a:spcAft>
                <a:spcPts val="700"/>
              </a:spcAft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반드시 복사하여 사용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71DD89-6580-5618-6B84-C71B6A50F5F9}"/>
              </a:ext>
            </a:extLst>
          </p:cNvPr>
          <p:cNvSpPr txBox="1"/>
          <p:nvPr/>
        </p:nvSpPr>
        <p:spPr>
          <a:xfrm>
            <a:off x="8941426" y="5806648"/>
            <a:ext cx="2078133" cy="294821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700"/>
              </a:spcAft>
            </a:pPr>
            <a:r>
              <a:rPr lang="ko-KR" altLang="en-US" sz="1100" dirty="0" err="1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작업뷰</a:t>
            </a:r>
            <a:r>
              <a:rPr lang="en-US" altLang="ko-KR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시트관리</a:t>
            </a:r>
            <a:r>
              <a:rPr lang="en-US" altLang="ko-KR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패밀리 관리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5CFE4F-43F1-E4EE-7A01-0F7B7003AC68}"/>
              </a:ext>
            </a:extLst>
          </p:cNvPr>
          <p:cNvSpPr/>
          <p:nvPr/>
        </p:nvSpPr>
        <p:spPr>
          <a:xfrm>
            <a:off x="60366" y="2679513"/>
            <a:ext cx="2553526" cy="7969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BB7F2E-3013-DF63-C823-EC57B515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77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B450B0C-CA8B-DD63-3B32-C58BA4934CB8}"/>
              </a:ext>
            </a:extLst>
          </p:cNvPr>
          <p:cNvSpPr txBox="1"/>
          <p:nvPr/>
        </p:nvSpPr>
        <p:spPr>
          <a:xfrm>
            <a:off x="6768573" y="1509188"/>
            <a:ext cx="51832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Detail</a:t>
            </a:r>
            <a:r>
              <a:rPr lang="ko-KR" altLang="en-US" sz="1800" dirty="0"/>
              <a:t> </a:t>
            </a:r>
            <a:r>
              <a:rPr lang="en-US" altLang="ko-KR" sz="1800" dirty="0"/>
              <a:t>Level:</a:t>
            </a:r>
            <a:r>
              <a:rPr lang="ko-KR" altLang="en-US" dirty="0"/>
              <a:t> </a:t>
            </a:r>
            <a:r>
              <a:rPr lang="en-US" altLang="ko-KR" dirty="0"/>
              <a:t>fine</a:t>
            </a:r>
          </a:p>
          <a:p>
            <a:endParaRPr lang="en-US" altLang="ko-KR" dirty="0"/>
          </a:p>
          <a:p>
            <a:r>
              <a:rPr lang="en-US" altLang="ko-KR" dirty="0"/>
              <a:t>Visual Style: shade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663138-FD3B-4E7B-0BE3-5531EC25909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E38D5C-4C03-8547-1F3B-1EEF4EA07E0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24AA8-BCCC-DCE6-7419-C79C4547A615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리본 메뉴 이해하기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FCEA1-7E09-4272-F89D-44D1429C125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도구는 탭과 패널 기준으로 찾는 습관이 중요합니다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CDC5B-40AB-67AC-6AAB-89B1A65C5477}"/>
              </a:ext>
            </a:extLst>
          </p:cNvPr>
          <p:cNvSpPr txBox="1"/>
          <p:nvPr/>
        </p:nvSpPr>
        <p:spPr>
          <a:xfrm>
            <a:off x="457200" y="1371600"/>
            <a:ext cx="4318000" cy="1107996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✓"/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29D0082-6DBF-3901-EA97-CD94BE190644}"/>
              </a:ext>
            </a:extLst>
          </p:cNvPr>
          <p:cNvGrpSpPr/>
          <p:nvPr/>
        </p:nvGrpSpPr>
        <p:grpSpPr>
          <a:xfrm>
            <a:off x="1046017" y="1498600"/>
            <a:ext cx="4483096" cy="1624284"/>
            <a:chOff x="1166090" y="2674474"/>
            <a:chExt cx="4483096" cy="16242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6E1E6B-6B87-F86E-7BFA-3C321B0F967A}"/>
                </a:ext>
              </a:extLst>
            </p:cNvPr>
            <p:cNvSpPr txBox="1"/>
            <p:nvPr/>
          </p:nvSpPr>
          <p:spPr>
            <a:xfrm>
              <a:off x="1478492" y="3848561"/>
              <a:ext cx="154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Detail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Level(</a:t>
              </a:r>
              <a:r>
                <a:rPr lang="ko-KR" altLang="en-US" sz="1000" dirty="0"/>
                <a:t>상세수준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B0FF55-DF74-6D2E-32E3-2647004F6018}"/>
                </a:ext>
              </a:extLst>
            </p:cNvPr>
            <p:cNvSpPr txBox="1"/>
            <p:nvPr/>
          </p:nvSpPr>
          <p:spPr>
            <a:xfrm>
              <a:off x="2103581" y="2688061"/>
              <a:ext cx="9752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Visual Style</a:t>
              </a:r>
              <a:endParaRPr lang="ko-KR" altLang="en-US" sz="1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459E75-1A38-0DB5-0033-4A658737AE1B}"/>
                </a:ext>
              </a:extLst>
            </p:cNvPr>
            <p:cNvSpPr txBox="1"/>
            <p:nvPr/>
          </p:nvSpPr>
          <p:spPr>
            <a:xfrm>
              <a:off x="3330857" y="2685062"/>
              <a:ext cx="775856" cy="252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뷰 자르기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9DAD40-CBA5-39FB-4BBA-54DB8B5CEB67}"/>
                </a:ext>
              </a:extLst>
            </p:cNvPr>
            <p:cNvSpPr txBox="1"/>
            <p:nvPr/>
          </p:nvSpPr>
          <p:spPr>
            <a:xfrm>
              <a:off x="4106713" y="2674474"/>
              <a:ext cx="154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임시 숨기기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분리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4F7DC7-C574-FA7E-2802-A6FAEF4255FC}"/>
                </a:ext>
              </a:extLst>
            </p:cNvPr>
            <p:cNvSpPr txBox="1"/>
            <p:nvPr/>
          </p:nvSpPr>
          <p:spPr>
            <a:xfrm>
              <a:off x="3408064" y="4052537"/>
              <a:ext cx="1864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뷰 자르기 영역 표시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숨기기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5796A0-6A5C-24D6-28A4-3000CCA7AB5C}"/>
                </a:ext>
              </a:extLst>
            </p:cNvPr>
            <p:cNvSpPr txBox="1"/>
            <p:nvPr/>
          </p:nvSpPr>
          <p:spPr>
            <a:xfrm>
              <a:off x="1166090" y="2674475"/>
              <a:ext cx="4768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축척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9284EEC-E296-3FB4-73C8-A78CDDE87A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8726" y="2940477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33E32AE3-B990-9EC9-0770-96223FDB65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1532" y="3662582"/>
              <a:ext cx="105431" cy="336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77CAEA3D-9862-F349-695F-613D7DA6C6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5902" y="3534310"/>
              <a:ext cx="127678" cy="253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CC58666-6D21-A942-53BC-98FD7D14C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2870" y="2940477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AF9E1917-E9A8-D242-C489-65ED6FD788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1817" y="2933479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38D9C28E-1E33-1BBF-32F8-7578246A6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0189" y="2920695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F4353C4B-5F6D-18D8-0667-438FFB125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03" y="2079657"/>
            <a:ext cx="5768319" cy="237705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C61F07F6-11ED-9412-09C3-6C8ABA46D623}"/>
              </a:ext>
            </a:extLst>
          </p:cNvPr>
          <p:cNvSpPr/>
          <p:nvPr/>
        </p:nvSpPr>
        <p:spPr>
          <a:xfrm>
            <a:off x="457200" y="2079657"/>
            <a:ext cx="2036618" cy="25298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53BEEF-7CFE-0B0F-EF64-19F347E2DFC8}"/>
              </a:ext>
            </a:extLst>
          </p:cNvPr>
          <p:cNvSpPr/>
          <p:nvPr/>
        </p:nvSpPr>
        <p:spPr>
          <a:xfrm>
            <a:off x="4134152" y="2011633"/>
            <a:ext cx="760912" cy="38932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18B941B-868E-13B8-5D8A-B0612A92AACB}"/>
              </a:ext>
            </a:extLst>
          </p:cNvPr>
          <p:cNvGrpSpPr/>
          <p:nvPr/>
        </p:nvGrpSpPr>
        <p:grpSpPr>
          <a:xfrm>
            <a:off x="702376" y="4284887"/>
            <a:ext cx="3827647" cy="492924"/>
            <a:chOff x="457200" y="3225754"/>
            <a:chExt cx="2831878" cy="364689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EE0B8E-62C5-5D78-9D27-C3DFECC1A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1856" r="3737" b="17271"/>
            <a:stretch>
              <a:fillRect/>
            </a:stretch>
          </p:blipFill>
          <p:spPr>
            <a:xfrm>
              <a:off x="457200" y="3286779"/>
              <a:ext cx="2753584" cy="269665"/>
            </a:xfrm>
            <a:prstGeom prst="rect">
              <a:avLst/>
            </a:prstGeom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2C163C9-91B2-3353-BF46-E292A20F74D9}"/>
                </a:ext>
              </a:extLst>
            </p:cNvPr>
            <p:cNvSpPr/>
            <p:nvPr/>
          </p:nvSpPr>
          <p:spPr>
            <a:xfrm>
              <a:off x="665017" y="3225754"/>
              <a:ext cx="380999" cy="364689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B860A76-49F0-0EA1-1BFA-8A8AE513D06E}"/>
                </a:ext>
              </a:extLst>
            </p:cNvPr>
            <p:cNvSpPr/>
            <p:nvPr/>
          </p:nvSpPr>
          <p:spPr>
            <a:xfrm>
              <a:off x="1358419" y="3244272"/>
              <a:ext cx="304126" cy="346171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A7C34D1-2AD2-02E3-3374-62D762F8688B}"/>
                </a:ext>
              </a:extLst>
            </p:cNvPr>
            <p:cNvSpPr/>
            <p:nvPr/>
          </p:nvSpPr>
          <p:spPr>
            <a:xfrm>
              <a:off x="2661679" y="3244272"/>
              <a:ext cx="627399" cy="346171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C0F12F6-C0CA-68B3-DD37-7C1556572986}"/>
                </a:ext>
              </a:extLst>
            </p:cNvPr>
            <p:cNvSpPr/>
            <p:nvPr/>
          </p:nvSpPr>
          <p:spPr>
            <a:xfrm>
              <a:off x="1987618" y="3225754"/>
              <a:ext cx="379198" cy="364689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F742A6-9ED3-9F92-9ED7-A3A422405AF1}"/>
              </a:ext>
            </a:extLst>
          </p:cNvPr>
          <p:cNvSpPr txBox="1"/>
          <p:nvPr/>
        </p:nvSpPr>
        <p:spPr>
          <a:xfrm>
            <a:off x="349503" y="3723649"/>
            <a:ext cx="1173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링크 선택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on/off</a:t>
            </a:r>
            <a:endParaRPr lang="ko-KR" altLang="en-US" sz="10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06436BD-8574-055B-AECF-66A3FD33DFAF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936175" y="3969870"/>
            <a:ext cx="233941" cy="24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CC23A9A-592C-78B1-4782-0BE11554D4CC}"/>
              </a:ext>
            </a:extLst>
          </p:cNvPr>
          <p:cNvSpPr txBox="1"/>
          <p:nvPr/>
        </p:nvSpPr>
        <p:spPr>
          <a:xfrm>
            <a:off x="1346871" y="5175311"/>
            <a:ext cx="1424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Pin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 객체 선택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on/off</a:t>
            </a:r>
            <a:endParaRPr lang="ko-KR" altLang="en-US" sz="10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D27C8E0-9647-CF65-39B6-386713C004F2}"/>
              </a:ext>
            </a:extLst>
          </p:cNvPr>
          <p:cNvCxnSpPr>
            <a:cxnSpLocks/>
          </p:cNvCxnSpPr>
          <p:nvPr/>
        </p:nvCxnSpPr>
        <p:spPr>
          <a:xfrm flipV="1">
            <a:off x="1920489" y="4883136"/>
            <a:ext cx="205532" cy="24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2984406-6547-1980-646A-BFEBE7970488}"/>
              </a:ext>
            </a:extLst>
          </p:cNvPr>
          <p:cNvSpPr txBox="1"/>
          <p:nvPr/>
        </p:nvSpPr>
        <p:spPr>
          <a:xfrm>
            <a:off x="2291744" y="3523594"/>
            <a:ext cx="180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1A1C1F"/>
                </a:solidFill>
                <a:latin typeface="ui-monospace"/>
              </a:rPr>
              <a:t>선택없이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 드래그로 이동 가능 항상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x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로 설정</a:t>
            </a:r>
            <a:endParaRPr lang="ko-KR" altLang="en-US" sz="1000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1F699B2-B90E-28EF-B7E3-DBFFE929E84C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3084086" y="3923704"/>
            <a:ext cx="108848" cy="242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4C89AD4-2076-0C53-B9F4-4E682FDE5802}"/>
              </a:ext>
            </a:extLst>
          </p:cNvPr>
          <p:cNvSpPr txBox="1"/>
          <p:nvPr/>
        </p:nvSpPr>
        <p:spPr>
          <a:xfrm>
            <a:off x="3102235" y="5236289"/>
            <a:ext cx="14718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선택 객체 필터로 확인</a:t>
            </a:r>
            <a:endParaRPr lang="ko-KR" altLang="en-US" sz="100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0F36505-7B7C-C911-9A68-D4451E8FE88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838136" y="4919332"/>
            <a:ext cx="215627" cy="316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365D04-1167-0047-E529-C76E35F57451}"/>
              </a:ext>
            </a:extLst>
          </p:cNvPr>
          <p:cNvSpPr txBox="1"/>
          <p:nvPr/>
        </p:nvSpPr>
        <p:spPr>
          <a:xfrm>
            <a:off x="4574037" y="2606596"/>
            <a:ext cx="1237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숨긴 객체 표시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3A791CC-CD8B-286B-2ADA-4C7D224A44D0}"/>
              </a:ext>
            </a:extLst>
          </p:cNvPr>
          <p:cNvCxnSpPr>
            <a:cxnSpLocks/>
          </p:cNvCxnSpPr>
          <p:nvPr/>
        </p:nvCxnSpPr>
        <p:spPr>
          <a:xfrm flipH="1" flipV="1">
            <a:off x="4782416" y="2408074"/>
            <a:ext cx="52715" cy="18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88CF69-34AE-E339-87B1-229C240B07B5}"/>
              </a:ext>
            </a:extLst>
          </p:cNvPr>
          <p:cNvSpPr/>
          <p:nvPr/>
        </p:nvSpPr>
        <p:spPr>
          <a:xfrm rot="16200000">
            <a:off x="3395404" y="3847689"/>
            <a:ext cx="5836227" cy="45848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ECCE6B9B-6F49-72C6-5118-9F3A65084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56257"/>
              </p:ext>
            </p:extLst>
          </p:nvPr>
        </p:nvGraphicFramePr>
        <p:xfrm>
          <a:off x="6810867" y="3708401"/>
          <a:ext cx="5140988" cy="201481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656406">
                  <a:extLst>
                    <a:ext uri="{9D8B030D-6E8A-4147-A177-3AD203B41FA5}">
                      <a16:colId xmlns:a16="http://schemas.microsoft.com/office/drawing/2014/main" val="1267400426"/>
                    </a:ext>
                  </a:extLst>
                </a:gridCol>
                <a:gridCol w="2484582">
                  <a:extLst>
                    <a:ext uri="{9D8B030D-6E8A-4147-A177-3AD203B41FA5}">
                      <a16:colId xmlns:a16="http://schemas.microsoft.com/office/drawing/2014/main" val="1302810371"/>
                    </a:ext>
                  </a:extLst>
                </a:gridCol>
              </a:tblGrid>
              <a:tr h="368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</a:rPr>
                        <a:t>기능명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</a:rPr>
                        <a:t>설명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31967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Isolate Category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ko-KR" altLang="en-US" sz="1100" dirty="0">
                          <a:effectLst/>
                        </a:rPr>
                        <a:t>카테고리 단독 선택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선택한 객체와 같은 </a:t>
                      </a:r>
                      <a:r>
                        <a:rPr lang="ko-KR" altLang="en-US" sz="1100" b="1" dirty="0">
                          <a:effectLst/>
                        </a:rPr>
                        <a:t>카테고리를</a:t>
                      </a:r>
                      <a:r>
                        <a:rPr lang="en-US" altLang="ko-KR" sz="1100" b="1" dirty="0">
                          <a:effectLst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</a:rPr>
                        <a:t>제외하고</a:t>
                      </a:r>
                      <a:r>
                        <a:rPr lang="ko-KR" altLang="en-US" sz="1100" dirty="0">
                          <a:effectLst/>
                        </a:rPr>
                        <a:t> 모두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23775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1">
                          <a:effectLst/>
                        </a:rPr>
                        <a:t>Hide Category</a:t>
                      </a:r>
                      <a:r>
                        <a:rPr lang="ko-KR" altLang="en-US" sz="1100">
                          <a:effectLst/>
                        </a:rPr>
                        <a:t> </a:t>
                      </a:r>
                      <a:r>
                        <a:rPr lang="en-US" altLang="ko-KR" sz="1100">
                          <a:effectLst/>
                        </a:rPr>
                        <a:t>(</a:t>
                      </a:r>
                      <a:r>
                        <a:rPr lang="ko-KR" altLang="en-US" sz="1100">
                          <a:effectLst/>
                        </a:rPr>
                        <a:t>카테고리 숨기기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  <a:endParaRPr lang="en-US" altLang="ko-KR" sz="11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선택한 객체와 </a:t>
                      </a:r>
                      <a:r>
                        <a:rPr lang="ko-KR" altLang="en-US" sz="1100" b="1" dirty="0">
                          <a:effectLst/>
                        </a:rPr>
                        <a:t>같은 카테고리</a:t>
                      </a:r>
                      <a:r>
                        <a:rPr lang="ko-KR" altLang="en-US" sz="1100" dirty="0">
                          <a:effectLst/>
                        </a:rPr>
                        <a:t>에 속한 모든 객체를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254082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Isolate Element</a:t>
                      </a:r>
                      <a:r>
                        <a:rPr lang="en-US" sz="1100">
                          <a:effectLst/>
                        </a:rPr>
                        <a:t> (</a:t>
                      </a:r>
                      <a:r>
                        <a:rPr lang="ko-KR" altLang="en-US" sz="1100">
                          <a:effectLst/>
                        </a:rPr>
                        <a:t>요소 단독 선택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  <a:endParaRPr lang="en-US" altLang="ko-KR" sz="11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>
                          <a:effectLst/>
                        </a:rPr>
                        <a:t>선택한 객체를</a:t>
                      </a:r>
                      <a:r>
                        <a:rPr lang="ko-KR" altLang="en-US" sz="1100">
                          <a:effectLst/>
                        </a:rPr>
                        <a:t> 제외하고 모두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932955"/>
                  </a:ext>
                </a:extLst>
              </a:tr>
              <a:tr h="368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Hide Element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ko-KR" altLang="en-US" sz="1100" dirty="0">
                          <a:effectLst/>
                        </a:rPr>
                        <a:t>요소 숨기기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>
                          <a:effectLst/>
                        </a:rPr>
                        <a:t>선택한 객체만</a:t>
                      </a:r>
                      <a:r>
                        <a:rPr lang="ko-KR" altLang="en-US" sz="1100" dirty="0">
                          <a:effectLst/>
                        </a:rPr>
                        <a:t> 콕 집어서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9981"/>
                  </a:ext>
                </a:extLst>
              </a:tr>
            </a:tbl>
          </a:graphicData>
        </a:graphic>
      </p:graphicFrame>
      <p:pic>
        <p:nvPicPr>
          <p:cNvPr id="45" name="그림 44">
            <a:extLst>
              <a:ext uri="{FF2B5EF4-FFF2-40B4-BE49-F238E27FC236}">
                <a16:creationId xmlns:a16="http://schemas.microsoft.com/office/drawing/2014/main" id="{C3DE56C3-60AD-962A-34BF-3C23F890D6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14" t="5342" b="22387"/>
          <a:stretch>
            <a:fillRect/>
          </a:stretch>
        </p:blipFill>
        <p:spPr>
          <a:xfrm>
            <a:off x="6815810" y="3326277"/>
            <a:ext cx="432634" cy="3567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00ADAE-6643-DC26-8446-820DDD4C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9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FDB0CC-4A60-841D-3665-9D4B445A8B19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8D3B737-0E8C-1511-489D-CF4F20035D08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79EB2-5AD3-39AC-C5AE-B5F673F27CC6}"/>
              </a:ext>
            </a:extLst>
          </p:cNvPr>
          <p:cNvSpPr txBox="1"/>
          <p:nvPr/>
        </p:nvSpPr>
        <p:spPr>
          <a:xfrm>
            <a:off x="3810000" y="2523123"/>
            <a:ext cx="6604000" cy="132715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중앙 파일과 로컬 파일 개념</a:t>
            </a:r>
            <a:endParaRPr lang="en-US" altLang="ko-KR" sz="2000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2. VBS 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로컬파일 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DEB0C98-AE05-F84C-0AAE-71BA0C1B6CC7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5D3EF8-9979-B863-CD38-7751C5D72633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US" altLang="ko-KR" sz="16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</a:rPr>
              <a:t>)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3C2463-E382-CB83-3570-151E3C97A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95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452C61-A00C-496C-2780-F029720B1CA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96344E-22CE-B132-6450-5BF9A7E14DC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CB915-91A9-41C3-9480-525126A7016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 설정 기본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FA1D9-1527-C31C-8153-8DA905791AE2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Central file, </a:t>
            </a:r>
            <a:r>
              <a:rPr lang="en-US" altLang="ko-KR" sz="1100" dirty="0" err="1">
                <a:solidFill>
                  <a:srgbClr val="FFD774"/>
                </a:solidFill>
                <a:latin typeface="Malgun Gothic" panose="020B0503020000020004" pitchFamily="50" charset="-127"/>
              </a:rPr>
              <a:t>Workset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Synchronize</a:t>
            </a:r>
            <a:endParaRPr lang="ko-KR" altLang="en-US" sz="1100" dirty="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569022-47F7-9273-C47D-A77CACBB8218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7AEAA-B315-B81C-7147-CA46F9C1EA9D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핵심 개념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983C3E-4F2D-D942-1CE6-3F0A541B83D9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EB97A-F017-C9E2-21DB-DE71CEF168FA}"/>
              </a:ext>
            </a:extLst>
          </p:cNvPr>
          <p:cNvSpPr txBox="1"/>
          <p:nvPr/>
        </p:nvSpPr>
        <p:spPr>
          <a:xfrm>
            <a:off x="685799" y="2290618"/>
            <a:ext cx="5105401" cy="317038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</a:rPr>
              <a:t>Central file</a:t>
            </a:r>
            <a:r>
              <a:rPr lang="ko-KR" altLang="en-US" b="1" dirty="0">
                <a:solidFill>
                  <a:srgbClr val="6B4724"/>
                </a:solidFill>
              </a:rPr>
              <a:t>은 기준 모델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 err="1">
                <a:solidFill>
                  <a:srgbClr val="6B4724"/>
                </a:solidFill>
              </a:rPr>
              <a:t>Workset</a:t>
            </a:r>
            <a:r>
              <a:rPr lang="ko-KR" altLang="en-US" b="1" dirty="0">
                <a:solidFill>
                  <a:srgbClr val="6B4724"/>
                </a:solidFill>
              </a:rPr>
              <a:t>으로 작업 영역을 분리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</a:rPr>
              <a:t>Synchronize(</a:t>
            </a:r>
            <a:r>
              <a:rPr lang="ko-KR" altLang="en-US" b="1" dirty="0">
                <a:solidFill>
                  <a:srgbClr val="6B4724"/>
                </a:solidFill>
              </a:rPr>
              <a:t>동기화</a:t>
            </a:r>
            <a:r>
              <a:rPr lang="en-US" altLang="ko-KR" b="1" dirty="0">
                <a:solidFill>
                  <a:srgbClr val="6B4724"/>
                </a:solidFill>
              </a:rPr>
              <a:t>) =</a:t>
            </a:r>
            <a:r>
              <a:rPr lang="ko-KR" altLang="en-US" b="1" dirty="0">
                <a:solidFill>
                  <a:srgbClr val="6B4724"/>
                </a:solidFill>
              </a:rPr>
              <a:t>저장</a:t>
            </a:r>
            <a:endParaRPr lang="en-US" altLang="ko-KR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endParaRPr lang="en-US" altLang="ko-KR" b="1" dirty="0">
              <a:solidFill>
                <a:srgbClr val="6B4724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3ADDB3-C4A2-652B-2115-0D8C6D9DD37B}"/>
              </a:ext>
            </a:extLst>
          </p:cNvPr>
          <p:cNvSpPr/>
          <p:nvPr/>
        </p:nvSpPr>
        <p:spPr>
          <a:xfrm>
            <a:off x="62230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FB15B-1D69-A171-8A65-AB8B04104AE6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주의사항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026B5B-2F4C-022F-DE30-2F84DF963CFB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25DA3-446C-3F02-842D-52375FF40F8C}"/>
              </a:ext>
            </a:extLst>
          </p:cNvPr>
          <p:cNvSpPr txBox="1"/>
          <p:nvPr/>
        </p:nvSpPr>
        <p:spPr>
          <a:xfrm>
            <a:off x="6451599" y="2286000"/>
            <a:ext cx="5105401" cy="227676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FF0000"/>
                </a:solidFill>
              </a:rPr>
              <a:t>중앙 파일 직접 열어서 작업 금지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드라이브 경로 동일하게 설정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작업 전 로컬 파일 생성 확인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작업 후 동기화 습관들이기</a:t>
            </a:r>
            <a:endParaRPr lang="en-US" altLang="ko-KR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ko-KR" b="1" dirty="0">
                <a:solidFill>
                  <a:srgbClr val="6B4724"/>
                </a:solidFill>
              </a:rPr>
              <a:t>   (</a:t>
            </a:r>
            <a:r>
              <a:rPr lang="ko-KR" altLang="en-US" b="1" dirty="0">
                <a:solidFill>
                  <a:srgbClr val="6B4724"/>
                </a:solidFill>
              </a:rPr>
              <a:t>공동작업 시 </a:t>
            </a:r>
            <a:r>
              <a:rPr lang="en-US" altLang="ko-KR" b="1" dirty="0">
                <a:solidFill>
                  <a:srgbClr val="6B4724"/>
                </a:solidFill>
              </a:rPr>
              <a:t>2</a:t>
            </a:r>
            <a:r>
              <a:rPr lang="ko-KR" altLang="en-US" b="1" dirty="0">
                <a:solidFill>
                  <a:srgbClr val="6B4724"/>
                </a:solidFill>
              </a:rPr>
              <a:t>시간 주기로 저장을 권장</a:t>
            </a:r>
            <a:r>
              <a:rPr lang="en-US" altLang="ko-KR" b="1" dirty="0">
                <a:solidFill>
                  <a:srgbClr val="6B4724"/>
                </a:solidFill>
              </a:rPr>
              <a:t>)</a:t>
            </a:r>
            <a:endParaRPr lang="ko-KR" altLang="en-US" b="1" dirty="0">
              <a:solidFill>
                <a:srgbClr val="6B4724"/>
              </a:solidFill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4593CF0-1C03-6CAF-9C8A-5AA6DC1A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512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0EAE7-C19B-A75A-6A0E-B66348E2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2193DB-5324-028B-E231-D592583635E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FB8FA5-6654-D04B-7727-BADCE10C7C6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1BACB-7B0A-7148-08E0-43D76451CAE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987D7B-A282-277D-3A85-5F6F2A4068C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143074-05B1-830E-71A7-7C746B65193F}"/>
              </a:ext>
            </a:extLst>
          </p:cNvPr>
          <p:cNvSpPr txBox="1"/>
          <p:nvPr/>
        </p:nvSpPr>
        <p:spPr>
          <a:xfrm>
            <a:off x="917574" y="1353582"/>
            <a:ext cx="218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12CD8B6-55CD-FB38-EE9B-2AC731856450}"/>
              </a:ext>
            </a:extLst>
          </p:cNvPr>
          <p:cNvGrpSpPr/>
          <p:nvPr/>
        </p:nvGrpSpPr>
        <p:grpSpPr>
          <a:xfrm>
            <a:off x="3509818" y="1954646"/>
            <a:ext cx="7293842" cy="4169929"/>
            <a:chOff x="917575" y="1861413"/>
            <a:chExt cx="6938585" cy="396682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BC3BAE6-C135-0D14-A5E9-D5377DF2F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6960" b="10472"/>
            <a:stretch>
              <a:fillRect/>
            </a:stretch>
          </p:blipFill>
          <p:spPr>
            <a:xfrm>
              <a:off x="917575" y="1861413"/>
              <a:ext cx="6938585" cy="3966827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AA4EBA8-2FAE-D5C2-5FA2-748C2454B496}"/>
                </a:ext>
              </a:extLst>
            </p:cNvPr>
            <p:cNvSpPr/>
            <p:nvPr/>
          </p:nvSpPr>
          <p:spPr>
            <a:xfrm>
              <a:off x="5293761" y="4488756"/>
              <a:ext cx="2206166" cy="4988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49809B7-A9E1-B99E-2A5C-8F361EB79B4F}"/>
                </a:ext>
              </a:extLst>
            </p:cNvPr>
            <p:cNvSpPr/>
            <p:nvPr/>
          </p:nvSpPr>
          <p:spPr>
            <a:xfrm>
              <a:off x="1742379" y="2127567"/>
              <a:ext cx="428166" cy="5417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6FC468-2139-D751-8DBA-FF094D2D03B9}"/>
                </a:ext>
              </a:extLst>
            </p:cNvPr>
            <p:cNvSpPr/>
            <p:nvPr/>
          </p:nvSpPr>
          <p:spPr>
            <a:xfrm>
              <a:off x="4667274" y="1975166"/>
              <a:ext cx="505089" cy="25079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9BE9762-7573-993E-53CC-00AFED7CEFFA}"/>
              </a:ext>
            </a:extLst>
          </p:cNvPr>
          <p:cNvSpPr txBox="1"/>
          <p:nvPr/>
        </p:nvSpPr>
        <p:spPr>
          <a:xfrm>
            <a:off x="917574" y="1954647"/>
            <a:ext cx="2592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드라이브 경로 설정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File open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Central File</a:t>
            </a:r>
            <a:r>
              <a:rPr lang="ko-KR" altLang="en-US" dirty="0"/>
              <a:t>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다시 저장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4F8186-CFF8-89DE-47A0-07ED9EFB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38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60C59-4B78-B5F0-E09E-571217A3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BF3DF01-173C-B850-6DB4-BBFCDB11FB3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7FD244-AFCF-B38D-0E5E-D4A47214D5D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BE436-0FC5-E2E9-722F-62195876051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8B537CB-0CD9-F829-7F7A-5DBCEFDA609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C05891-C7BF-8A20-2913-FDF38ECFB844}"/>
              </a:ext>
            </a:extLst>
          </p:cNvPr>
          <p:cNvSpPr txBox="1"/>
          <p:nvPr/>
        </p:nvSpPr>
        <p:spPr>
          <a:xfrm>
            <a:off x="917574" y="1353582"/>
            <a:ext cx="47258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  <a:p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FFBE370-1503-A3C4-5133-A791C85546AE}"/>
              </a:ext>
            </a:extLst>
          </p:cNvPr>
          <p:cNvGrpSpPr/>
          <p:nvPr/>
        </p:nvGrpSpPr>
        <p:grpSpPr>
          <a:xfrm>
            <a:off x="843685" y="2201740"/>
            <a:ext cx="8789842" cy="1392733"/>
            <a:chOff x="3268073" y="5271710"/>
            <a:chExt cx="8392675" cy="1329802"/>
          </a:xfrm>
        </p:grpSpPr>
        <p:pic>
          <p:nvPicPr>
            <p:cNvPr id="6" name="그림 5" descr="텍스트, 스크린샷, 소프트웨어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4DBB6C1-86ED-BB1B-6EA1-49E2730B1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1278" y="5764833"/>
              <a:ext cx="2286005" cy="836679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46957D9-8AD8-D01A-A646-0B046EF04C93}"/>
                </a:ext>
              </a:extLst>
            </p:cNvPr>
            <p:cNvSpPr/>
            <p:nvPr/>
          </p:nvSpPr>
          <p:spPr>
            <a:xfrm>
              <a:off x="4113542" y="5737209"/>
              <a:ext cx="190654" cy="16171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3791AC-BA78-5167-5EDD-CEE589C65686}"/>
                </a:ext>
              </a:extLst>
            </p:cNvPr>
            <p:cNvSpPr txBox="1"/>
            <p:nvPr/>
          </p:nvSpPr>
          <p:spPr>
            <a:xfrm>
              <a:off x="3268073" y="5271710"/>
              <a:ext cx="8392675" cy="352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dirty="0"/>
                <a:t>Sync</a:t>
              </a:r>
              <a:r>
                <a:rPr lang="ko-KR" altLang="en-US" dirty="0"/>
                <a:t> 아이콘 활성화 확인</a:t>
              </a:r>
              <a:r>
                <a:rPr lang="en-US" altLang="ko-KR" dirty="0"/>
                <a:t>(</a:t>
              </a:r>
              <a:r>
                <a:rPr lang="ko-KR" altLang="en-US" dirty="0"/>
                <a:t>활성화시 </a:t>
              </a:r>
              <a:r>
                <a:rPr lang="en-US" altLang="ko-KR" dirty="0"/>
                <a:t>Central File</a:t>
              </a:r>
              <a:r>
                <a:rPr lang="ko-KR" altLang="en-US" dirty="0"/>
                <a:t>로 정상 생성 된 것임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715D432-5CAE-FE47-C221-D6AE56215C0F}"/>
              </a:ext>
            </a:extLst>
          </p:cNvPr>
          <p:cNvSpPr txBox="1"/>
          <p:nvPr/>
        </p:nvSpPr>
        <p:spPr>
          <a:xfrm>
            <a:off x="843683" y="3987818"/>
            <a:ext cx="90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중앙 파일 생성 후 반드시 </a:t>
            </a:r>
            <a:r>
              <a:rPr lang="en-US" altLang="ko-KR" dirty="0" err="1"/>
              <a:t>vbs</a:t>
            </a:r>
            <a:r>
              <a:rPr lang="ko-KR" altLang="en-US" dirty="0"/>
              <a:t>파일로 로컬 파일에서 작업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r>
              <a:rPr lang="ko-KR" altLang="en-US" dirty="0"/>
              <a:t>   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로컬 파일이 아닌 중앙 파일을 열어 </a:t>
            </a:r>
            <a:r>
              <a:rPr lang="ko-KR" altLang="en-US" dirty="0" err="1">
                <a:solidFill>
                  <a:srgbClr val="FF0000"/>
                </a:solidFill>
              </a:rPr>
              <a:t>작업시</a:t>
            </a:r>
            <a:r>
              <a:rPr lang="ko-KR" altLang="en-US" dirty="0">
                <a:solidFill>
                  <a:srgbClr val="FF0000"/>
                </a:solidFill>
              </a:rPr>
              <a:t> 파일 잠김 및 동기화 충돌 가능성 있음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6C5A35E-7AB6-5A34-B18C-000B5CAF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7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75D5F-2DDE-AD26-41D4-63DF3ED8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A9B58D-2376-5FEB-0112-85933336801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048C0F-2D30-B1F3-EF87-57E3B3A858D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A34D4-0571-A86B-8E96-9950C25782B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D20A97E-91AD-9B26-F542-1B26B0709202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0AA3A9-7D2A-48EA-5C22-8446526125D9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 err="1"/>
              <a:t>Vbs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파일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572DD-C045-67D2-A0EE-D3D2368D0776}"/>
              </a:ext>
            </a:extLst>
          </p:cNvPr>
          <p:cNvSpPr txBox="1"/>
          <p:nvPr/>
        </p:nvSpPr>
        <p:spPr>
          <a:xfrm>
            <a:off x="843683" y="1978043"/>
            <a:ext cx="90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err="1"/>
              <a:t>Vbs</a:t>
            </a:r>
            <a:r>
              <a:rPr lang="en-US" altLang="ko-KR" dirty="0"/>
              <a:t> </a:t>
            </a:r>
            <a:r>
              <a:rPr lang="ko-KR" altLang="en-US" dirty="0"/>
              <a:t>파일 센트럴 파일명이랑 동일하게 설정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로컬 드라이브로 경로 설정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44C1BC8-DA42-E6CE-5C0C-74E35A8B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586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B580-6A98-F606-13FA-BA2C7695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740FC1-77B5-E653-44D6-ABA58B10D1F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E99AF1-05FE-2A17-BCF7-7F7856FBCBC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43D3C-F7BE-BA6A-0C3F-C6D9E042D94F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EF54FE2-3777-2DA8-7993-51649007D195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79992-61F0-7937-DF9C-3A407FE7116C}"/>
              </a:ext>
            </a:extLst>
          </p:cNvPr>
          <p:cNvSpPr txBox="1"/>
          <p:nvPr/>
        </p:nvSpPr>
        <p:spPr>
          <a:xfrm>
            <a:off x="917574" y="1353582"/>
            <a:ext cx="64438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WORKSET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err="1"/>
              <a:t>공종</a:t>
            </a:r>
            <a:r>
              <a:rPr lang="en-US" altLang="ko-KR" dirty="0"/>
              <a:t>/ </a:t>
            </a:r>
            <a:r>
              <a:rPr lang="ko-KR" altLang="en-US" dirty="0"/>
              <a:t>작업자별  </a:t>
            </a:r>
            <a:r>
              <a:rPr lang="en-US" altLang="ko-KR" dirty="0" err="1"/>
              <a:t>workset</a:t>
            </a:r>
            <a:r>
              <a:rPr lang="en-US" altLang="ko-KR" dirty="0"/>
              <a:t> </a:t>
            </a:r>
            <a:r>
              <a:rPr lang="ko-KR" altLang="en-US" dirty="0"/>
              <a:t>분리하기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err="1"/>
              <a:t>Workset</a:t>
            </a:r>
            <a:r>
              <a:rPr lang="ko-KR" altLang="en-US" dirty="0"/>
              <a:t> </a:t>
            </a:r>
            <a:r>
              <a:rPr lang="en-US" altLang="ko-KR" dirty="0"/>
              <a:t>name:</a:t>
            </a:r>
            <a:r>
              <a:rPr lang="ko-KR" altLang="en-US" dirty="0"/>
              <a:t> </a:t>
            </a:r>
            <a:r>
              <a:rPr lang="en-US" altLang="ko-KR" dirty="0"/>
              <a:t>ex) EL(</a:t>
            </a:r>
            <a:r>
              <a:rPr lang="ko-KR" altLang="en-US" dirty="0" err="1"/>
              <a:t>공종</a:t>
            </a:r>
            <a:r>
              <a:rPr lang="en-US" altLang="ko-KR" dirty="0"/>
              <a:t>)_</a:t>
            </a:r>
            <a:r>
              <a:rPr lang="en-US" altLang="ko-KR" dirty="0" err="1"/>
              <a:t>lhj</a:t>
            </a:r>
            <a:r>
              <a:rPr lang="en-US" altLang="ko-KR" dirty="0"/>
              <a:t>(</a:t>
            </a:r>
            <a:r>
              <a:rPr lang="ko-KR" altLang="en-US" dirty="0"/>
              <a:t>작업자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Editable: NO, opened: YES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sz="1400" b="1" dirty="0"/>
              <a:t> </a:t>
            </a:r>
          </a:p>
          <a:p>
            <a:endParaRPr lang="en-US" altLang="ko-KR" sz="1800" b="1" dirty="0"/>
          </a:p>
        </p:txBody>
      </p:sp>
      <p:pic>
        <p:nvPicPr>
          <p:cNvPr id="10" name="그림 9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610612-3A5B-2192-9591-C3FD6B5CFA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01" t="29984" r="288"/>
          <a:stretch>
            <a:fillRect/>
          </a:stretch>
        </p:blipFill>
        <p:spPr>
          <a:xfrm>
            <a:off x="1330037" y="3429000"/>
            <a:ext cx="4765963" cy="313319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393868-E1C9-BC9D-B069-B8CBE7940F83}"/>
              </a:ext>
            </a:extLst>
          </p:cNvPr>
          <p:cNvSpPr/>
          <p:nvPr/>
        </p:nvSpPr>
        <p:spPr>
          <a:xfrm>
            <a:off x="2412015" y="3822971"/>
            <a:ext cx="2602006" cy="4862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A2DFAD-F860-CA71-3F98-EF59A1C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987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3E549-3AE3-1FD0-55B1-02982914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25D8B0-76AC-7095-6251-F7ADA4490E7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6C58B0-029B-9564-8952-8905EC86F74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BB2FA-4BC8-E50E-89DE-E9E8178A9C8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9ADFA77-E028-B132-D539-EF6C65557BA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81A61-17C9-EDC5-5EB5-E43A5844E15F}"/>
              </a:ext>
            </a:extLst>
          </p:cNvPr>
          <p:cNvSpPr txBox="1"/>
          <p:nvPr/>
        </p:nvSpPr>
        <p:spPr>
          <a:xfrm>
            <a:off x="917574" y="1353582"/>
            <a:ext cx="472584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Synchronize</a:t>
            </a:r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동기화 시간 준수 </a:t>
            </a:r>
            <a:r>
              <a:rPr lang="en-US" altLang="ko-KR" dirty="0"/>
              <a:t>(30</a:t>
            </a:r>
            <a:r>
              <a:rPr lang="ko-KR" altLang="en-US" dirty="0"/>
              <a:t>분</a:t>
            </a:r>
            <a:r>
              <a:rPr lang="en-US" altLang="ko-KR" dirty="0"/>
              <a:t>~2</a:t>
            </a:r>
            <a:r>
              <a:rPr lang="ko-KR" altLang="en-US" dirty="0"/>
              <a:t>시간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동기화 전 권한 포기 필수</a:t>
            </a:r>
            <a:endParaRPr lang="en-US" altLang="ko-KR" dirty="0"/>
          </a:p>
          <a:p>
            <a:r>
              <a:rPr lang="en-US" altLang="ko-KR" sz="1400" b="1" dirty="0"/>
              <a:t> </a:t>
            </a:r>
          </a:p>
          <a:p>
            <a:endParaRPr lang="en-US" altLang="ko-KR" sz="18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89C0FA-5C78-AA38-0085-4FF04F17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636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4BFBBA-3B2B-202F-092C-8F76E9DDFD89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99F751-4BDC-5112-850D-069665382DF4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E6E02-EC53-794A-A788-2A9FD0373D8E}"/>
              </a:ext>
            </a:extLst>
          </p:cNvPr>
          <p:cNvSpPr txBox="1"/>
          <p:nvPr/>
        </p:nvSpPr>
        <p:spPr>
          <a:xfrm>
            <a:off x="3943350" y="2553900"/>
            <a:ext cx="6604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  <a:latin typeface="+mn-ea"/>
              </a:rPr>
              <a:t>패밀리의 역할과 기본 작성 순서를 이해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D0C2F0-6735-2943-4C38-17A13E4C8BD5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EF62A-6094-84EB-E06E-0A033114D3AD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패밀리 작성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CC502A-43F1-9043-7EFC-6B794588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257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61495BE-FC87-E7AC-027D-05D48DBDB8B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69A144-114E-3A84-B121-0FE8190424B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45940-089B-772F-2738-68C5CD76EC1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패밀리 작성 기본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E67C2-C4E1-0BA9-EA64-901C33A46AD2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템플릿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기준면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형상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파라미터순으로 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3370B1-5F48-F6C9-67B5-78F588B1782B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F7D6A-67EA-BCA7-C3AD-4000C2340F7F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>
                <a:solidFill>
                  <a:srgbClr val="CC4700"/>
                </a:solidFill>
                <a:latin typeface="Malgun Gothic" panose="020B0503020000020004" pitchFamily="50" charset="-127"/>
              </a:rPr>
              <a:t>작성 단계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CEE7CD-41B9-C5B5-1716-E95B12A48A7D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BC645-92B4-531B-5DE7-206D2ECCE68C}"/>
              </a:ext>
            </a:extLst>
          </p:cNvPr>
          <p:cNvSpPr txBox="1"/>
          <p:nvPr/>
        </p:nvSpPr>
        <p:spPr>
          <a:xfrm>
            <a:off x="685800" y="2286000"/>
            <a:ext cx="4876800" cy="30988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Generic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model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템플릿 선택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카테고리 설정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기준선 설정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파라미터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Tx/>
              <a:buChar char="-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BBAB65-E9A0-1962-E8CD-1312C66EBD0F}"/>
              </a:ext>
            </a:extLst>
          </p:cNvPr>
          <p:cNvSpPr/>
          <p:nvPr/>
        </p:nvSpPr>
        <p:spPr>
          <a:xfrm>
            <a:off x="62230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7E5CD-44F5-003F-E659-76603EAD06D1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>
                <a:solidFill>
                  <a:srgbClr val="CC4700"/>
                </a:solidFill>
                <a:latin typeface="Malgun Gothic" panose="020B0503020000020004" pitchFamily="50" charset="-127"/>
              </a:rPr>
              <a:t>체크 포인트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A4FC26-76DD-5595-2C30-5F9EFF9F8C33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2F690-E8E9-4A71-9C08-69C00BEFA6CF}"/>
              </a:ext>
            </a:extLst>
          </p:cNvPr>
          <p:cNvSpPr txBox="1"/>
          <p:nvPr/>
        </p:nvSpPr>
        <p:spPr>
          <a:xfrm>
            <a:off x="6451600" y="2286000"/>
            <a:ext cx="4876800" cy="227676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Instance parameter 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Type parameter 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프로젝트에 로드 후 테스트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51094C6-0A33-25F8-EB8B-975940D0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233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D57F2-2A2A-F166-14F4-92F7A94F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C090C25-DA30-B442-ACF4-39847EABDAA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0B58A9-568B-5ECD-F4B4-AA6E02C1209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E083E-354A-7FA7-DAEA-F83D519D175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5EBE146-5697-2AE2-D4AE-C602F839172B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D3A0F0-40B0-65C9-5B21-128CFE8F3624}"/>
              </a:ext>
            </a:extLst>
          </p:cNvPr>
          <p:cNvSpPr txBox="1"/>
          <p:nvPr/>
        </p:nvSpPr>
        <p:spPr>
          <a:xfrm>
            <a:off x="950766" y="1298291"/>
            <a:ext cx="89647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전등 작성</a:t>
            </a:r>
            <a:r>
              <a:rPr lang="en-US" altLang="ko-KR" sz="1600" b="1" dirty="0"/>
              <a:t>(A-TYPE, D-TYPE, </a:t>
            </a:r>
            <a:r>
              <a:rPr lang="ko-KR" altLang="en-US" sz="1600" b="1" dirty="0"/>
              <a:t>객체에 따라 기준선 상이</a:t>
            </a:r>
            <a:r>
              <a:rPr lang="en-US" altLang="ko-KR" sz="1600" b="1" dirty="0"/>
              <a:t>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	</a:t>
            </a:r>
            <a:r>
              <a:rPr lang="ko-KR" altLang="en-US" sz="1400" dirty="0"/>
              <a:t>패밀리명</a:t>
            </a:r>
            <a:r>
              <a:rPr lang="en-US" altLang="ko-KR" sz="1400" dirty="0"/>
              <a:t>: LIGHTING CEILING_(A)_LED 40W</a:t>
            </a:r>
          </a:p>
          <a:p>
            <a:r>
              <a:rPr lang="en-US" altLang="ko-KR" sz="1400" dirty="0"/>
              <a:t>	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LIGHTING CEILING_(A)_LED 40W/ LIGHTING CEILING_(A-1)_LED 40W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BEC3EDB-D247-A866-DAC3-548FD14431CB}"/>
              </a:ext>
            </a:extLst>
          </p:cNvPr>
          <p:cNvSpPr/>
          <p:nvPr/>
        </p:nvSpPr>
        <p:spPr>
          <a:xfrm>
            <a:off x="558800" y="3893093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72BB4-73B6-BA68-1A64-A3338FC836B6}"/>
              </a:ext>
            </a:extLst>
          </p:cNvPr>
          <p:cNvSpPr txBox="1"/>
          <p:nvPr/>
        </p:nvSpPr>
        <p:spPr>
          <a:xfrm>
            <a:off x="950766" y="3857227"/>
            <a:ext cx="5985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특고압반</a:t>
            </a:r>
            <a:r>
              <a:rPr lang="ko-KR" altLang="en-US" sz="2000" b="1" dirty="0"/>
              <a:t> 작성</a:t>
            </a:r>
            <a:r>
              <a:rPr lang="en-US" altLang="ko-KR" sz="1400" b="1" dirty="0"/>
              <a:t>(1600x2000x2350/ 600x2000x2350, </a:t>
            </a:r>
            <a:r>
              <a:rPr lang="ko-KR" altLang="en-US" sz="1400" b="1" dirty="0"/>
              <a:t>타입별 작성</a:t>
            </a:r>
            <a:r>
              <a:rPr lang="en-US" altLang="ko-KR" sz="1400" b="1" dirty="0"/>
              <a:t>)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F8C3BD0-3FA9-E0AE-5E68-3EF404487C23}"/>
              </a:ext>
            </a:extLst>
          </p:cNvPr>
          <p:cNvSpPr/>
          <p:nvPr/>
        </p:nvSpPr>
        <p:spPr>
          <a:xfrm>
            <a:off x="558800" y="2618776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0E18F-8C3F-A86F-ABA1-F46F6A0C7D11}"/>
              </a:ext>
            </a:extLst>
          </p:cNvPr>
          <p:cNvSpPr txBox="1"/>
          <p:nvPr/>
        </p:nvSpPr>
        <p:spPr>
          <a:xfrm>
            <a:off x="950766" y="2577759"/>
            <a:ext cx="708833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저압반</a:t>
            </a:r>
            <a:r>
              <a:rPr lang="ko-KR" altLang="en-US" sz="2000" b="1" dirty="0"/>
              <a:t> 작성</a:t>
            </a:r>
            <a:r>
              <a:rPr lang="en-US" altLang="ko-KR" sz="1600" b="1" dirty="0"/>
              <a:t>(parameter, Name plate, door </a:t>
            </a:r>
            <a:r>
              <a:rPr lang="en-US" altLang="ko-KR" sz="1600" b="1" dirty="0" err="1"/>
              <a:t>handel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삽입하기</a:t>
            </a:r>
            <a:r>
              <a:rPr lang="en-US" altLang="ko-KR" sz="1600" b="1" dirty="0"/>
              <a:t>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	</a:t>
            </a:r>
            <a:r>
              <a:rPr lang="ko-KR" altLang="en-US" sz="1400" dirty="0"/>
              <a:t> 패밀리명</a:t>
            </a:r>
            <a:r>
              <a:rPr lang="en-US" altLang="ko-KR" sz="1400" dirty="0"/>
              <a:t>: LV PNL</a:t>
            </a:r>
          </a:p>
          <a:p>
            <a:r>
              <a:rPr lang="en-US" altLang="ko-KR" sz="1400" b="1" dirty="0"/>
              <a:t>	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LV PNL_000Wx000Dx000H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052B0-E7B5-795A-6B31-DBDF13E633D1}"/>
              </a:ext>
            </a:extLst>
          </p:cNvPr>
          <p:cNvSpPr txBox="1"/>
          <p:nvPr/>
        </p:nvSpPr>
        <p:spPr>
          <a:xfrm>
            <a:off x="7532104" y="3222865"/>
            <a:ext cx="4590766" cy="3570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패밀리 작성순서</a:t>
            </a:r>
            <a:endParaRPr lang="en-US" altLang="ko-KR" b="1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Generic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model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템플릿 선택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카테고리 설정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기준선 설정 </a:t>
            </a:r>
            <a:r>
              <a:rPr lang="en-US" altLang="ko-KR" sz="1200" dirty="0">
                <a:latin typeface="Malgun Gothic" panose="020B0503020000020004" pitchFamily="50" charset="-127"/>
              </a:rPr>
              <a:t>(</a:t>
            </a:r>
            <a:r>
              <a:rPr lang="ko-KR" altLang="en-US" sz="1200" dirty="0">
                <a:latin typeface="Malgun Gothic" panose="020B0503020000020004" pitchFamily="50" charset="-127"/>
              </a:rPr>
              <a:t>장비 기준선</a:t>
            </a:r>
            <a:r>
              <a:rPr lang="en-US" altLang="ko-KR" sz="1200" dirty="0">
                <a:latin typeface="Malgun Gothic" panose="020B0503020000020004" pitchFamily="50" charset="-127"/>
              </a:rPr>
              <a:t>: </a:t>
            </a:r>
            <a:r>
              <a:rPr lang="ko-KR" altLang="en-US" sz="1200" dirty="0">
                <a:latin typeface="Malgun Gothic" panose="020B0503020000020004" pitchFamily="50" charset="-127"/>
              </a:rPr>
              <a:t>왼쪽 최하단</a:t>
            </a:r>
            <a:r>
              <a:rPr lang="en-US" altLang="ko-KR" sz="1200" dirty="0">
                <a:latin typeface="Malgun Gothic" panose="020B0503020000020004" pitchFamily="50" charset="-127"/>
              </a:rPr>
              <a:t>)</a:t>
            </a:r>
            <a:endParaRPr lang="en-US" altLang="ko-KR" sz="1400" dirty="0"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파라미터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길이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,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비상등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400" dirty="0" err="1">
                <a:solidFill>
                  <a:srgbClr val="FF0000"/>
                </a:solidFill>
                <a:latin typeface="Malgun Gothic" panose="020B0503020000020004" pitchFamily="50" charset="-127"/>
              </a:rPr>
              <a:t>일반등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)</a:t>
            </a: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패밀리명 </a:t>
            </a:r>
            <a:r>
              <a:rPr lang="ko-KR" altLang="en-US" sz="1400" dirty="0" err="1">
                <a:solidFill>
                  <a:srgbClr val="FF0000"/>
                </a:solidFill>
                <a:latin typeface="Malgun Gothic" panose="020B0503020000020004" pitchFamily="50" charset="-127"/>
              </a:rPr>
              <a:t>타입명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설정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6402C34C-47E7-CD4D-D197-48DFAA75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68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F8BD3-FF02-5E94-4B1F-0948FC19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56F8DC-A6B5-EFE7-E350-10D8AE9A1FC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CEE0CF-4EC1-4C3F-1136-AE58529D2E8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26030-6EAD-C2A5-60CF-6BAA67C5246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패밀리 작성 기본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72D9B-6CED-4791-CB79-FD8EC2B4904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템플릿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기준면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형상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파라미터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테스트 순으로 진행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92503-0DF7-EB15-9973-90B700B847EE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B9FE139-B9BF-0C37-932D-9932A4CB6A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6" t="2392" r="778"/>
          <a:stretch>
            <a:fillRect/>
          </a:stretch>
        </p:blipFill>
        <p:spPr>
          <a:xfrm>
            <a:off x="685800" y="2171699"/>
            <a:ext cx="5818909" cy="3587174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4F0DA3-5B2B-2764-4327-D7D85F5B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545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63CDA67-A0EA-C69B-B07C-E5F4450A28D6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23A914-8415-0A0D-1213-3D0B9E10F67C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2A64D-14F9-3BD0-7638-F72230FBB19C}"/>
              </a:ext>
            </a:extLst>
          </p:cNvPr>
          <p:cNvSpPr txBox="1"/>
          <p:nvPr/>
        </p:nvSpPr>
        <p:spPr>
          <a:xfrm>
            <a:off x="3810000" y="2553900"/>
            <a:ext cx="7273636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과 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CAD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를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 link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로 불러오기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057A6B1-0391-9E86-C055-E435FF4D4304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2971E2-6FB1-F8F9-1CBB-7944C4D003AD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링크 파일 불러오기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B11E8F-A3CF-2325-10DA-604180DD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74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3BD1B29-8A62-01B9-96B7-1900D347518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12C20C-A1A4-7AAD-F4E0-C18F29FD93C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41EBF-AD61-E2F0-B5E5-C045851AA8A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링크와 </a:t>
            </a:r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링크 불러오기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96E6A-CADA-F5A0-3672-88BB9F8505D8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링크 목적과 좌표 기준을 먼저 확인합니다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C79FD2-6A7A-ED49-4F6B-CF2CEA28305F}"/>
              </a:ext>
            </a:extLst>
          </p:cNvPr>
          <p:cNvSpPr/>
          <p:nvPr/>
        </p:nvSpPr>
        <p:spPr>
          <a:xfrm>
            <a:off x="457200" y="1473200"/>
            <a:ext cx="5334000" cy="5038436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Auto - Center to Center (</a:t>
            </a:r>
            <a:r>
              <a:rPr lang="ko-KR" altLang="en-US" dirty="0"/>
              <a:t>자동 </a:t>
            </a:r>
            <a:r>
              <a:rPr lang="en-US" altLang="ko-KR" dirty="0"/>
              <a:t>- </a:t>
            </a:r>
            <a:r>
              <a:rPr lang="ko-KR" altLang="en-US" dirty="0"/>
              <a:t>중심 대 중심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CB43D-9E21-E95B-6AEB-34A84854260B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링크</a:t>
            </a:r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모델 참조</a:t>
            </a:r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)</a:t>
            </a:r>
            <a:endParaRPr lang="ko-KR" altLang="en-US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  <a:p>
            <a:endParaRPr lang="ko-KR" altLang="en-US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E28377-D4C7-1885-83CA-BDA17AE120D2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F9EA54-3D4D-2BAB-DFF6-0A1B26B990ED}"/>
              </a:ext>
            </a:extLst>
          </p:cNvPr>
          <p:cNvSpPr/>
          <p:nvPr/>
        </p:nvSpPr>
        <p:spPr>
          <a:xfrm>
            <a:off x="6223000" y="1473200"/>
            <a:ext cx="5334000" cy="5038436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64752-1A6F-6457-8601-71C231ECDF36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링크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51EB4A-EEF6-478D-6E25-51649235A070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264DE-02BC-511D-8A03-CAF99D16FB87}"/>
              </a:ext>
            </a:extLst>
          </p:cNvPr>
          <p:cNvSpPr txBox="1"/>
          <p:nvPr/>
        </p:nvSpPr>
        <p:spPr>
          <a:xfrm>
            <a:off x="6451600" y="2285999"/>
            <a:ext cx="4770582" cy="22490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캐드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wblock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으로 저장하여 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link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하기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링크 될 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캐드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파일명은 구분 가능하게 하기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(ex.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증평역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전등 평면도 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01F_260417)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A81BE02-7FD0-2224-9C33-74DFE7734C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67" r="1587"/>
          <a:stretch>
            <a:fillRect/>
          </a:stretch>
        </p:blipFill>
        <p:spPr>
          <a:xfrm>
            <a:off x="685800" y="2313200"/>
            <a:ext cx="4916285" cy="9694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DD6B19-90E2-90CA-C2D6-D233B68BAE3D}"/>
              </a:ext>
            </a:extLst>
          </p:cNvPr>
          <p:cNvSpPr txBox="1"/>
          <p:nvPr/>
        </p:nvSpPr>
        <p:spPr>
          <a:xfrm>
            <a:off x="685800" y="3517900"/>
            <a:ext cx="5013036" cy="27559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Internal Origin to Internal Origin: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FF0000"/>
                </a:solidFill>
              </a:rPr>
              <a:t>내부 원점 </a:t>
            </a:r>
            <a:r>
              <a:rPr lang="ko-KR" altLang="en-US" sz="1400" b="1" dirty="0">
                <a:solidFill>
                  <a:srgbClr val="6B4724"/>
                </a:solidFill>
              </a:rPr>
              <a:t>기준</a:t>
            </a:r>
            <a:r>
              <a:rPr lang="en-US" altLang="ko-KR" sz="1400" b="1" dirty="0">
                <a:solidFill>
                  <a:srgbClr val="6B4724"/>
                </a:solidFill>
              </a:rPr>
              <a:t>(0,0,0)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By Shared Coordinates: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</a:rPr>
              <a:t>두 파일이 </a:t>
            </a:r>
            <a:r>
              <a:rPr lang="ko-KR" altLang="en-US" sz="1400" b="1" dirty="0">
                <a:solidFill>
                  <a:srgbClr val="FF0000"/>
                </a:solidFill>
              </a:rPr>
              <a:t>공유하고 있는 대지 좌표</a:t>
            </a:r>
            <a:r>
              <a:rPr lang="en-US" altLang="ko-KR" sz="1400" b="1" dirty="0">
                <a:solidFill>
                  <a:srgbClr val="6B4724"/>
                </a:solidFill>
              </a:rPr>
              <a:t>(</a:t>
            </a:r>
            <a:r>
              <a:rPr lang="ko-KR" altLang="en-US" sz="1400" b="1" dirty="0">
                <a:solidFill>
                  <a:srgbClr val="6B4724"/>
                </a:solidFill>
              </a:rPr>
              <a:t>위도</a:t>
            </a:r>
            <a:r>
              <a:rPr lang="en-US" altLang="ko-KR" sz="1400" b="1" dirty="0">
                <a:solidFill>
                  <a:srgbClr val="6B4724"/>
                </a:solidFill>
              </a:rPr>
              <a:t>, </a:t>
            </a:r>
            <a:r>
              <a:rPr lang="ko-KR" altLang="en-US" sz="1400" b="1" dirty="0">
                <a:solidFill>
                  <a:srgbClr val="6B4724"/>
                </a:solidFill>
              </a:rPr>
              <a:t>경도 및 실제 방위</a:t>
            </a:r>
            <a:r>
              <a:rPr lang="en-US" altLang="ko-KR" sz="1400" b="1" dirty="0">
                <a:solidFill>
                  <a:srgbClr val="6B4724"/>
                </a:solidFill>
              </a:rPr>
              <a:t>)</a:t>
            </a:r>
            <a:r>
              <a:rPr lang="ko-KR" altLang="en-US" sz="1400" b="1" dirty="0">
                <a:solidFill>
                  <a:srgbClr val="6B4724"/>
                </a:solidFill>
              </a:rPr>
              <a:t>를 기준으로 배치합니다</a:t>
            </a:r>
            <a:r>
              <a:rPr lang="en-US" altLang="ko-KR" sz="1400" b="1" dirty="0">
                <a:solidFill>
                  <a:srgbClr val="6B4724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Project Base Point to Project Base Point: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</a:rPr>
              <a:t>프로젝트 </a:t>
            </a:r>
            <a:r>
              <a:rPr lang="ko-KR" altLang="en-US" sz="1400" b="1" dirty="0">
                <a:solidFill>
                  <a:srgbClr val="FF0000"/>
                </a:solidFill>
              </a:rPr>
              <a:t>내부 기준점</a:t>
            </a:r>
            <a:r>
              <a:rPr lang="en-US" altLang="ko-KR" sz="1400" b="1" dirty="0">
                <a:solidFill>
                  <a:srgbClr val="6B4724"/>
                </a:solidFill>
              </a:rPr>
              <a:t>,</a:t>
            </a:r>
            <a:r>
              <a:rPr lang="ko-KR" altLang="en-US" sz="1400" b="1" dirty="0">
                <a:solidFill>
                  <a:srgbClr val="6B4724"/>
                </a:solidFill>
              </a:rPr>
              <a:t> 타 분야들과 합의 된 프로젝트 내부의 기준점을 정했을 경우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D51452-656B-9B96-1B5B-14AD72FA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541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84A8F62-5C82-A347-C2A6-EB0974A4BCA1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803929-9EC0-310E-2E32-2C1A6649CCD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AB56313-A452-2C1A-B194-EC3833D8E083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6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8C9AD-AA6A-B8FD-E864-79B8C2F30977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트레이 작성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B9C945-FF76-C67D-A87C-3AF8B819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47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8F7B6F-0596-5FB0-AA1A-9EA208F4639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646769-A4A8-3866-903A-52603B34E2C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A0CF5-4C28-6E25-9152-869CDA81B0C6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트레이 작성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AF805-9D55-47AE-4D38-7E79556872B7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타입 설정 후 경로를 따라 작성하고 연결 상태를 점검합니다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452D71-836A-9A0E-8C9F-1F68C8052C27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3AD59-05C8-EC53-B371-4BE56B5348BE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작성 순서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E0E2D2-1C10-362C-94DD-D31D4823E12E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4928A-DDC0-ABEE-92F0-862718CBA719}"/>
              </a:ext>
            </a:extLst>
          </p:cNvPr>
          <p:cNvSpPr txBox="1"/>
          <p:nvPr/>
        </p:nvSpPr>
        <p:spPr>
          <a:xfrm>
            <a:off x="685800" y="2286000"/>
            <a:ext cx="5105400" cy="22860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시스템 탭에서 트레이 선택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폭과 높이 규격 지정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없을 경우 추가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건축전기 케이블 작성 시 드래그 금지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,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경사 생길 수 있음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연결 부속 정상 여부 확인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(Analyze)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BA201-39A7-181D-E2C5-AB0028D34617}"/>
              </a:ext>
            </a:extLst>
          </p:cNvPr>
          <p:cNvSpPr txBox="1"/>
          <p:nvPr/>
        </p:nvSpPr>
        <p:spPr>
          <a:xfrm>
            <a:off x="6176818" y="2285999"/>
            <a:ext cx="5938982" cy="381952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케이블 트레이 명칭 기준</a:t>
            </a:r>
            <a:endParaRPr lang="en-US" altLang="ko-KR" sz="1400" b="1" dirty="0">
              <a:solidFill>
                <a:srgbClr val="6B4724"/>
              </a:solidFill>
              <a:highlight>
                <a:srgbClr val="FFFF00"/>
              </a:highlight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Ex)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케이블 트레이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</a:t>
            </a: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  - CABLE TRAY_LADDER_W/O COVER, AL 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  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피팅류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: 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BEND_CABLE TRAY_SOLID_W/ COVER_H, </a:t>
            </a: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(GALV (R300))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CROSS_CABLE TRAY_LADDER_W/ COVER_H, </a:t>
            </a: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(GALV (R300))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F7FF61B-F09C-1EE0-6119-72FBF5E6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20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E87B26A-64E2-F777-3FD6-24094AB4FB0A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D39E1B-0DC5-EC67-A1D1-351F0DE6FDB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DC32F-223C-AEE0-B1D6-1C32EFD9751D}"/>
              </a:ext>
            </a:extLst>
          </p:cNvPr>
          <p:cNvSpPr txBox="1"/>
          <p:nvPr/>
        </p:nvSpPr>
        <p:spPr>
          <a:xfrm>
            <a:off x="3708400" y="2498095"/>
            <a:ext cx="6604000" cy="100979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1. Filter </a:t>
            </a:r>
            <a:r>
              <a:rPr lang="ko-KR" altLang="en-US" sz="2000" b="1" dirty="0">
                <a:solidFill>
                  <a:srgbClr val="CC4700"/>
                </a:solidFill>
              </a:rPr>
              <a:t>생성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endParaRPr lang="en-US" altLang="ko-KR" sz="2000" b="1" dirty="0">
              <a:solidFill>
                <a:srgbClr val="CC4700"/>
              </a:solidFill>
            </a:endParaRPr>
          </a:p>
          <a:p>
            <a:r>
              <a:rPr lang="en-US" altLang="ko-KR" sz="2000" b="1" dirty="0">
                <a:solidFill>
                  <a:srgbClr val="CC4700"/>
                </a:solidFill>
              </a:rPr>
              <a:t>2. View Template </a:t>
            </a:r>
            <a:r>
              <a:rPr lang="ko-KR" altLang="en-US" sz="2000" b="1" dirty="0">
                <a:solidFill>
                  <a:srgbClr val="CC4700"/>
                </a:solidFill>
              </a:rPr>
              <a:t>생성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E911968-F831-6783-817E-C120599E10F1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7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CD9EA-9146-6090-AF90-702D72D03874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가시성 설정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C500BE-4248-D51E-966D-30B8FEDB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98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EF330F-034A-6333-11D5-0557F650C9F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FBEA23-6783-A645-54FD-C158FD931E4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3A1BF-ED25-275C-495D-9ABC7A1AFE0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가시성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649D9-D142-B875-89F2-0DE8348FF3C1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표현 제어와 검토 효율을 높이는 기본 설정입니다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 dirty="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6C524D-072C-6642-9C3E-A18E15BD6E66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78AD3F-A6A7-51E0-8208-859D6E5BAC1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주요 기능</a:t>
            </a:r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(</a:t>
            </a:r>
            <a:r>
              <a:rPr lang="en-US" altLang="ko-KR" sz="1600" b="1" dirty="0" err="1">
                <a:solidFill>
                  <a:srgbClr val="CC4700"/>
                </a:solidFill>
                <a:latin typeface="Malgun Gothic" panose="020B0503020000020004" pitchFamily="50" charset="-127"/>
              </a:rPr>
              <a:t>vv</a:t>
            </a:r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)</a:t>
            </a:r>
            <a:endParaRPr lang="ko-KR" altLang="en-US" sz="1600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7C4F31-2584-5011-5BE2-F7E3BD1E0C0A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B26B0-FF87-8428-5D64-F6BFE55FB141}"/>
              </a:ext>
            </a:extLst>
          </p:cNvPr>
          <p:cNvSpPr txBox="1"/>
          <p:nvPr/>
        </p:nvSpPr>
        <p:spPr>
          <a:xfrm>
            <a:off x="685800" y="2286000"/>
            <a:ext cx="4876800" cy="15378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Filter: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원하는 객체 쉽게 구별 가능함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View Template: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뷰 템플릿 적용으로 뷰 설정 간편화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View Range</a:t>
            </a:r>
          </a:p>
          <a:p>
            <a:pPr>
              <a:spcAft>
                <a:spcPts val="400"/>
              </a:spcAft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23677FD-0048-2290-0643-E881124B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942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33A22-DD23-AB77-63A8-65F6932C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1D6A26-9B5F-1F75-E242-CAF9919B07C0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5EFF15-E010-F493-B23E-F397932C7A08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76CD2-25B3-D0C9-3E84-388192E33592}"/>
              </a:ext>
            </a:extLst>
          </p:cNvPr>
          <p:cNvSpPr txBox="1"/>
          <p:nvPr/>
        </p:nvSpPr>
        <p:spPr>
          <a:xfrm>
            <a:off x="3708400" y="2553900"/>
            <a:ext cx="1120775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속성정보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1D1C6-BC6E-2F9C-E5B9-D39F34C6A6D9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 입력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6568F4D-B4B1-D3CB-8E13-3A33705618D5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8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062488-8886-C359-278E-411FD38A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04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9A4C-6877-2AD8-D2C5-D93C5383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334DF3-13C7-34C0-0980-7C6CCC8BC32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F80BC7-AA29-5171-359B-2434F40FCBD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9CAF0-7378-62FE-5F56-145FC48FE55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1FDB9-F77A-1231-A6C1-BFC73EAF45A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객체의 데이터 관리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2525A9-5BC6-2A3D-7B81-CCF5FA5982D0}"/>
              </a:ext>
            </a:extLst>
          </p:cNvPr>
          <p:cNvSpPr/>
          <p:nvPr/>
        </p:nvSpPr>
        <p:spPr>
          <a:xfrm>
            <a:off x="457200" y="1473200"/>
            <a:ext cx="11049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1B776-D281-1BEE-1A24-B8040CEDBA0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Parameter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종류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3627A7-FA16-5813-D676-531137145EC3}"/>
              </a:ext>
            </a:extLst>
          </p:cNvPr>
          <p:cNvSpPr/>
          <p:nvPr/>
        </p:nvSpPr>
        <p:spPr>
          <a:xfrm flipV="1">
            <a:off x="685800" y="2031999"/>
            <a:ext cx="10820400" cy="45719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B16BCE9-02D7-B876-7A19-474830F27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692862"/>
              </p:ext>
            </p:extLst>
          </p:nvPr>
        </p:nvGraphicFramePr>
        <p:xfrm>
          <a:off x="685798" y="2343766"/>
          <a:ext cx="10305474" cy="285118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29329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3011055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  <a:gridCol w="2806084">
                  <a:extLst>
                    <a:ext uri="{9D8B030D-6E8A-4147-A177-3AD203B41FA5}">
                      <a16:colId xmlns:a16="http://schemas.microsoft.com/office/drawing/2014/main" val="3608364053"/>
                    </a:ext>
                  </a:extLst>
                </a:gridCol>
                <a:gridCol w="3059006">
                  <a:extLst>
                    <a:ext uri="{9D8B030D-6E8A-4147-A177-3AD203B41FA5}">
                      <a16:colId xmlns:a16="http://schemas.microsoft.com/office/drawing/2014/main" val="2539076256"/>
                    </a:ext>
                  </a:extLst>
                </a:gridCol>
              </a:tblGrid>
              <a:tr h="246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구분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설명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특징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/>
                        <a:t>ex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/>
                        <a:t>프로젝트 파라미터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프로젝트 내 적용되는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패밀리로 전달되지 않음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/>
                        <a:t>패밀리 파라미터</a:t>
                      </a:r>
                      <a:endParaRPr lang="ko-KR" altLang="en-US" sz="110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개별 패밀리</a:t>
                      </a:r>
                      <a:r>
                        <a:rPr lang="en-US" altLang="ko-KR" sz="1100" dirty="0"/>
                        <a:t>(.</a:t>
                      </a:r>
                      <a:r>
                        <a:rPr lang="en-US" altLang="ko-KR" sz="1100" dirty="0" err="1"/>
                        <a:t>rfa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내에서 정의된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일람표</a:t>
                      </a:r>
                      <a:r>
                        <a:rPr lang="en-US" altLang="ko-KR" sz="1100" dirty="0"/>
                        <a:t>(Schedule) </a:t>
                      </a:r>
                      <a:r>
                        <a:rPr lang="ko-KR" altLang="en-US" sz="1100" dirty="0"/>
                        <a:t>추출 어려움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/>
                        <a:t>공유 파라미터</a:t>
                      </a:r>
                      <a:endParaRPr lang="ko-KR" altLang="en-US" sz="110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외부 텍스트 파일</a:t>
                      </a:r>
                      <a:r>
                        <a:rPr lang="en-US" altLang="ko-KR" sz="1100" dirty="0"/>
                        <a:t>(.txt)</a:t>
                      </a:r>
                      <a:r>
                        <a:rPr lang="ko-KR" altLang="en-US" sz="1100" dirty="0"/>
                        <a:t>에 저장되어 공유되는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일람표</a:t>
                      </a:r>
                      <a:r>
                        <a:rPr lang="en-US" altLang="ko-KR" sz="1100" dirty="0"/>
                        <a:t>(Schedule)</a:t>
                      </a:r>
                      <a:r>
                        <a:rPr lang="ko-KR" altLang="en-US" sz="1100" dirty="0"/>
                        <a:t> 및 태그 필요시 사용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075664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/>
                        <a:t>시스템 파라미터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/>
                        <a:t>Revit </a:t>
                      </a:r>
                      <a:r>
                        <a:rPr lang="ko-KR" altLang="en-US" sz="1100" dirty="0"/>
                        <a:t>소프트웨어에 기본 내장된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삭제 불가능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68361"/>
                  </a:ext>
                </a:extLst>
              </a:tr>
            </a:tbl>
          </a:graphicData>
        </a:graphic>
      </p:graphicFrame>
      <p:pic>
        <p:nvPicPr>
          <p:cNvPr id="17" name="그림 16">
            <a:extLst>
              <a:ext uri="{FF2B5EF4-FFF2-40B4-BE49-F238E27FC236}">
                <a16:creationId xmlns:a16="http://schemas.microsoft.com/office/drawing/2014/main" id="{2F495DEA-96CB-C7FB-DAEE-F2BEE22571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0" r="35608"/>
          <a:stretch>
            <a:fillRect/>
          </a:stretch>
        </p:blipFill>
        <p:spPr>
          <a:xfrm>
            <a:off x="7940171" y="2598418"/>
            <a:ext cx="3332550" cy="2700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77505C6-54C6-E9D9-92A6-505AA5502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171" y="2616102"/>
            <a:ext cx="2499231" cy="2969219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1821E3-5992-B9F8-5CF3-72F4B210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672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31D42-15F7-D8BE-A213-012DF4D85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6C472B-3DD2-0725-FF5B-EA1E52F711B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DA35B8-B362-2591-77B6-F28BE212DF2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0BF6A-F444-7B96-A4F1-40EE41CB16B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3226C8C-56E0-0848-6F89-AF8FA5CBECED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95F7E0-4B69-7B4C-6D63-9A5C3A326AD2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프로젝트 파라미터 입력</a:t>
            </a:r>
            <a:endParaRPr lang="en-US" altLang="ko-KR" sz="20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AA190D-4F4E-E802-4367-A61B4701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638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2A7CD-FDE2-1CF4-CC5B-ABED44C9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160C19E-C658-3FC8-EBDA-8E3C6CB268F3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2A8054-DC0A-CF7A-E238-4B5B431CECD5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C7179-C575-1295-7BE6-7A6476E152E9}"/>
              </a:ext>
            </a:extLst>
          </p:cNvPr>
          <p:cNvSpPr txBox="1"/>
          <p:nvPr/>
        </p:nvSpPr>
        <p:spPr>
          <a:xfrm>
            <a:off x="3708400" y="2523123"/>
            <a:ext cx="6604000" cy="1241858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1. Schedule</a:t>
            </a:r>
            <a:r>
              <a:rPr lang="ko-KR" altLang="en-US" sz="2000" b="1" dirty="0">
                <a:solidFill>
                  <a:srgbClr val="CC4700"/>
                </a:solidFill>
              </a:rPr>
              <a:t>작성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endParaRPr lang="en-US" altLang="ko-KR" sz="2000" b="1" dirty="0">
              <a:solidFill>
                <a:srgbClr val="CC4700"/>
              </a:solidFill>
            </a:endParaRPr>
          </a:p>
          <a:p>
            <a:r>
              <a:rPr lang="en-US" altLang="ko-KR" sz="2000" b="1" dirty="0">
                <a:solidFill>
                  <a:srgbClr val="CC4700"/>
                </a:solidFill>
              </a:rPr>
              <a:t>2. </a:t>
            </a:r>
            <a:r>
              <a:rPr lang="ko-KR" altLang="en-US" sz="2000" b="1" dirty="0">
                <a:solidFill>
                  <a:srgbClr val="CC4700"/>
                </a:solidFill>
              </a:rPr>
              <a:t>케이블 길이 추출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F26372F-7E41-4CAE-BE93-4E5E2842F13F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F44E5-6B25-4D82-9B0E-31FEB2536B10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056FD-3DF7-DA8B-C84A-178536F8680F}"/>
              </a:ext>
            </a:extLst>
          </p:cNvPr>
          <p:cNvSpPr txBox="1"/>
          <p:nvPr/>
        </p:nvSpPr>
        <p:spPr>
          <a:xfrm>
            <a:off x="279292" y="25077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9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3C2BD7-ACF4-7207-7723-97FF2B37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86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4C9B6-57E7-1174-DF40-C90247DB4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940D04-E921-1D35-3060-C7B87BDC065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5944C0-AE39-F9B4-690B-FD941C402BA4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5DC65-2406-DB1E-4DE1-A873E444318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DF8EA18-02EC-E4CC-C8EA-4D9DCB8E1263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D197C7-FBC3-FFBE-B072-C0E13DCB68B2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Schedule</a:t>
            </a:r>
            <a:r>
              <a:rPr lang="ko-KR" altLang="en-US" sz="2000" b="1" dirty="0">
                <a:solidFill>
                  <a:srgbClr val="CC4700"/>
                </a:solidFill>
              </a:rPr>
              <a:t>작성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213C4-558A-71F8-5F02-B166F58619D3}"/>
              </a:ext>
            </a:extLst>
          </p:cNvPr>
          <p:cNvSpPr txBox="1"/>
          <p:nvPr/>
        </p:nvSpPr>
        <p:spPr>
          <a:xfrm>
            <a:off x="843684" y="1938358"/>
            <a:ext cx="5704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수량 산출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속성값 확인</a:t>
            </a:r>
            <a:r>
              <a:rPr lang="en-US" altLang="ko-KR" dirty="0"/>
              <a:t>(</a:t>
            </a:r>
            <a:r>
              <a:rPr lang="ko-KR" altLang="en-US" dirty="0"/>
              <a:t>트레이 </a:t>
            </a:r>
            <a:r>
              <a:rPr lang="en-US" altLang="ko-KR" dirty="0"/>
              <a:t>length, width, height) 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575A5CD-1694-DABD-6B97-74F672BDBBD6}"/>
              </a:ext>
            </a:extLst>
          </p:cNvPr>
          <p:cNvSpPr/>
          <p:nvPr/>
        </p:nvSpPr>
        <p:spPr>
          <a:xfrm>
            <a:off x="525607" y="3812992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72519-1C37-D8B9-51FB-A7BC96BDF2E9}"/>
              </a:ext>
            </a:extLst>
          </p:cNvPr>
          <p:cNvSpPr txBox="1"/>
          <p:nvPr/>
        </p:nvSpPr>
        <p:spPr>
          <a:xfrm>
            <a:off x="917574" y="3787364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케이블 길이 추출</a:t>
            </a:r>
            <a:endParaRPr lang="en-US" altLang="ko-KR" sz="2000" b="1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9D55DDA-29AB-2D55-9EFA-B7264C0E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572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810B-DCF3-32E0-2F7D-0CC3E2BC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FB8D21-6F41-B514-E196-0C021BD588D8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80E76D-C7A7-F62D-6182-15B8FCF89F8F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E28DE-12A9-B114-D349-E90F25604DB3}"/>
              </a:ext>
            </a:extLst>
          </p:cNvPr>
          <p:cNvSpPr txBox="1"/>
          <p:nvPr/>
        </p:nvSpPr>
        <p:spPr>
          <a:xfrm>
            <a:off x="3708400" y="2497093"/>
            <a:ext cx="6604000" cy="19253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파일정리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6DE7035-1E64-794F-783A-DB9001FCFA06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9C845-DA44-702A-4E3D-4B17154AA9F9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A8BAA9-55B6-7E6C-3098-DBD9D1E3A73C}"/>
              </a:ext>
            </a:extLst>
          </p:cNvPr>
          <p:cNvSpPr txBox="1"/>
          <p:nvPr/>
        </p:nvSpPr>
        <p:spPr>
          <a:xfrm>
            <a:off x="212768" y="24980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10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E68946C-086D-B77C-6A11-7C8692AE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657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8FAA8-0C87-4388-1797-B0720599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23E7E33-3A25-D562-16C4-F05609A7D26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DB5B26-38F2-EE4D-52FF-F2F7830695F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C4EC6-8DF4-225F-281C-2E39FA7733CB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latinLnBrk="0"/>
            <a:r>
              <a:rPr lang="en-US" altLang="ko-KR" sz="2400" b="1" dirty="0">
                <a:solidFill>
                  <a:schemeClr val="bg1"/>
                </a:solidFill>
              </a:rPr>
              <a:t>Navisworks Exporters </a:t>
            </a:r>
            <a:r>
              <a:rPr lang="ko-KR" altLang="en-US" sz="2400" b="1" dirty="0">
                <a:solidFill>
                  <a:schemeClr val="bg1"/>
                </a:solidFill>
              </a:rPr>
              <a:t>설치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2135821-9ABD-6201-4E09-28605FF4D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074" y="1717830"/>
            <a:ext cx="7549726" cy="3768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13F25B-BBAA-040A-C636-A8C34516F979}"/>
              </a:ext>
            </a:extLst>
          </p:cNvPr>
          <p:cNvSpPr/>
          <p:nvPr/>
        </p:nvSpPr>
        <p:spPr>
          <a:xfrm>
            <a:off x="4310671" y="3255165"/>
            <a:ext cx="2212890" cy="170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210EAFA-87B3-A810-DDC6-5A56D543B84A}"/>
              </a:ext>
            </a:extLst>
          </p:cNvPr>
          <p:cNvSpPr txBox="1">
            <a:spLocks/>
          </p:cNvSpPr>
          <p:nvPr/>
        </p:nvSpPr>
        <p:spPr>
          <a:xfrm>
            <a:off x="4022639" y="3177835"/>
            <a:ext cx="253106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639CDFB1-1829-96E1-B7CF-E295BE04236E}"/>
              </a:ext>
            </a:extLst>
          </p:cNvPr>
          <p:cNvSpPr txBox="1">
            <a:spLocks/>
          </p:cNvSpPr>
          <p:nvPr/>
        </p:nvSpPr>
        <p:spPr>
          <a:xfrm>
            <a:off x="664319" y="1172502"/>
            <a:ext cx="776848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marL="342900" indent="-342900" latinLnBrk="0">
              <a:buFont typeface="Wingdings" panose="05000000000000000000" pitchFamily="2" charset="2"/>
              <a:buChar char="ü"/>
            </a:pPr>
            <a:r>
              <a:rPr lang="en-US" altLang="ko-KR" sz="1500" dirty="0"/>
              <a:t>Navisworks Exporters </a:t>
            </a:r>
            <a:r>
              <a:rPr lang="ko-KR" altLang="en-US" sz="1500" dirty="0"/>
              <a:t>설치 진행</a:t>
            </a:r>
            <a:r>
              <a:rPr lang="en-US" altLang="ko-KR" sz="1500" dirty="0"/>
              <a:t>(</a:t>
            </a:r>
            <a:r>
              <a:rPr lang="ko-KR" altLang="en-US" sz="1500" dirty="0"/>
              <a:t>설치된 </a:t>
            </a:r>
            <a:r>
              <a:rPr lang="ko-KR" altLang="en-US" sz="1500" dirty="0" err="1"/>
              <a:t>레빗</a:t>
            </a:r>
            <a:r>
              <a:rPr lang="ko-KR" altLang="en-US" sz="1500" dirty="0"/>
              <a:t> 버전으로 설치</a:t>
            </a:r>
            <a:r>
              <a:rPr lang="en-US" altLang="ko-KR" sz="1500" dirty="0"/>
              <a:t>)</a:t>
            </a:r>
            <a:r>
              <a:rPr lang="ko-KR" altLang="en-US" sz="1500" dirty="0"/>
              <a:t> </a:t>
            </a:r>
            <a:endParaRPr lang="en-US" altLang="ko-KR" sz="1500" dirty="0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D3BBA69B-8F8E-2B9B-EC34-D1640E5113AA}"/>
              </a:ext>
            </a:extLst>
          </p:cNvPr>
          <p:cNvSpPr txBox="1">
            <a:spLocks/>
          </p:cNvSpPr>
          <p:nvPr/>
        </p:nvSpPr>
        <p:spPr>
          <a:xfrm>
            <a:off x="2150431" y="5574330"/>
            <a:ext cx="5688632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en-US" altLang="ko-KR" sz="15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https://www.autodesk.co.kr/products/navisworks/3d-viewers</a:t>
            </a:r>
            <a:endParaRPr lang="en-US" altLang="ko-KR" sz="1500" dirty="0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A23409A3-7105-5907-B34D-5633E169667F}"/>
              </a:ext>
            </a:extLst>
          </p:cNvPr>
          <p:cNvSpPr txBox="1">
            <a:spLocks/>
          </p:cNvSpPr>
          <p:nvPr/>
        </p:nvSpPr>
        <p:spPr>
          <a:xfrm>
            <a:off x="1031961" y="5573011"/>
            <a:ext cx="111847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en-US" altLang="ko-KR" sz="1500" dirty="0"/>
              <a:t>* </a:t>
            </a:r>
            <a:r>
              <a:rPr lang="ko-KR" altLang="en-US" sz="1500" dirty="0"/>
              <a:t>설치 주소</a:t>
            </a:r>
            <a:endParaRPr lang="en-US" altLang="ko-KR" sz="15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1F3A56-A812-B9FC-4CFA-F25B5FF5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375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7527-4980-FE07-BC29-54BE0BAD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9CFAA85-E588-4149-85D2-A32B809B7CE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B3C42F-588D-F2AD-5511-DF14B79ACBBE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70232-6001-94E4-D189-3422911A6D4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E4242-DA8F-EFAB-1814-49C960C00A71}"/>
              </a:ext>
            </a:extLst>
          </p:cNvPr>
          <p:cNvSpPr txBox="1"/>
          <p:nvPr/>
        </p:nvSpPr>
        <p:spPr>
          <a:xfrm>
            <a:off x="945283" y="1443887"/>
            <a:ext cx="97042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NWC</a:t>
            </a:r>
            <a:r>
              <a:rPr lang="en-US" altLang="ko-KR" dirty="0"/>
              <a:t> (Navisworks Cache) </a:t>
            </a:r>
          </a:p>
          <a:p>
            <a:r>
              <a:rPr lang="en-US" altLang="ko-KR" dirty="0"/>
              <a:t>    </a:t>
            </a:r>
            <a:r>
              <a:rPr lang="en-US" altLang="ko-KR" sz="1400" dirty="0"/>
              <a:t>- NWC</a:t>
            </a:r>
            <a:r>
              <a:rPr lang="ko-KR" altLang="en-US" sz="1400" dirty="0"/>
              <a:t>파일 내에서는 객체 수정 불가</a:t>
            </a:r>
            <a:endParaRPr lang="en-US" altLang="ko-K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9CDB70-0601-3247-F087-46A5B4A3D5D3}"/>
              </a:ext>
            </a:extLst>
          </p:cNvPr>
          <p:cNvSpPr txBox="1"/>
          <p:nvPr/>
        </p:nvSpPr>
        <p:spPr>
          <a:xfrm>
            <a:off x="1521402" y="2509595"/>
            <a:ext cx="64160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altLang="ko-KR" sz="1400" dirty="0"/>
              <a:t>EXPORT</a:t>
            </a:r>
            <a:r>
              <a:rPr lang="ko-KR" altLang="en-US" sz="1400" dirty="0"/>
              <a:t>시 </a:t>
            </a:r>
            <a:r>
              <a:rPr lang="en-US" altLang="ko-KR" sz="1400" dirty="0"/>
              <a:t>Detail Level</a:t>
            </a:r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r>
              <a:rPr lang="en-US" altLang="ko-KR" sz="1400" dirty="0" err="1"/>
              <a:t>vv</a:t>
            </a:r>
            <a:r>
              <a:rPr lang="ko-KR" altLang="en-US" sz="1400" dirty="0"/>
              <a:t> 눌러서 </a:t>
            </a:r>
            <a:r>
              <a:rPr lang="en-US" altLang="ko-KR" sz="1400" dirty="0"/>
              <a:t>Model Categories </a:t>
            </a:r>
            <a:r>
              <a:rPr lang="ko-KR" altLang="en-US" sz="1400" dirty="0"/>
              <a:t>제외 나머지 탭들 비활성화</a:t>
            </a:r>
            <a:endParaRPr lang="en-US" altLang="ko-KR" sz="1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1A60DA9-90CB-A425-B5C1-9EE5CDC2B4CD}"/>
              </a:ext>
            </a:extLst>
          </p:cNvPr>
          <p:cNvGrpSpPr/>
          <p:nvPr/>
        </p:nvGrpSpPr>
        <p:grpSpPr>
          <a:xfrm>
            <a:off x="1997096" y="4584603"/>
            <a:ext cx="3377317" cy="2016822"/>
            <a:chOff x="1997096" y="4584603"/>
            <a:chExt cx="3377317" cy="2016822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735D8C47-F9D3-C138-0A55-0A20D7D23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50" b="17992"/>
            <a:stretch>
              <a:fillRect/>
            </a:stretch>
          </p:blipFill>
          <p:spPr>
            <a:xfrm>
              <a:off x="1997096" y="4584603"/>
              <a:ext cx="3377317" cy="2016822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3EAD6F9-AFB5-94E8-7A55-CB549C432552}"/>
                </a:ext>
              </a:extLst>
            </p:cNvPr>
            <p:cNvSpPr/>
            <p:nvPr/>
          </p:nvSpPr>
          <p:spPr>
            <a:xfrm>
              <a:off x="2353635" y="4687200"/>
              <a:ext cx="1909140" cy="1143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289710FE-7366-7063-0227-5F88DAD55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449160"/>
              </p:ext>
            </p:extLst>
          </p:nvPr>
        </p:nvGraphicFramePr>
        <p:xfrm>
          <a:off x="1997096" y="2911628"/>
          <a:ext cx="2961268" cy="111081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53212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2008056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</a:tblGrid>
              <a:tr h="246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/>
                        <a:t>구분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/>
                        <a:t>Detail Level</a:t>
                      </a:r>
                      <a:endParaRPr lang="ko-KR" altLang="en-US" sz="120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43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Cable tray</a:t>
                      </a:r>
                      <a:endParaRPr lang="ko-KR" altLang="en-US" sz="1400" b="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 err="1"/>
                        <a:t>midum</a:t>
                      </a:r>
                      <a:endParaRPr lang="ko-KR" altLang="en-US" sz="1400" b="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43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나머지 객체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/>
                        <a:t>fine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</a:tbl>
          </a:graphicData>
        </a:graphic>
      </p:graphicFrame>
      <p:sp>
        <p:nvSpPr>
          <p:cNvPr id="40" name="타원 39">
            <a:extLst>
              <a:ext uri="{FF2B5EF4-FFF2-40B4-BE49-F238E27FC236}">
                <a16:creationId xmlns:a16="http://schemas.microsoft.com/office/drawing/2014/main" id="{35E10EC7-B8A9-5F27-9980-2A0E5F0DA8CE}"/>
              </a:ext>
            </a:extLst>
          </p:cNvPr>
          <p:cNvSpPr/>
          <p:nvPr/>
        </p:nvSpPr>
        <p:spPr>
          <a:xfrm>
            <a:off x="553317" y="1052741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EB9159-21AE-EE7B-BB69-47B7E447C895}"/>
              </a:ext>
            </a:extLst>
          </p:cNvPr>
          <p:cNvSpPr txBox="1"/>
          <p:nvPr/>
        </p:nvSpPr>
        <p:spPr>
          <a:xfrm>
            <a:off x="945283" y="996183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499C3A-84AB-4279-9A63-1D51BD446666}"/>
              </a:ext>
            </a:extLst>
          </p:cNvPr>
          <p:cNvSpPr txBox="1"/>
          <p:nvPr/>
        </p:nvSpPr>
        <p:spPr>
          <a:xfrm>
            <a:off x="1288473" y="2248946"/>
            <a:ext cx="641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NWC </a:t>
            </a:r>
            <a:r>
              <a:rPr lang="ko-KR" altLang="en-US" sz="1400" b="1" dirty="0" err="1"/>
              <a:t>추출시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REVIT </a:t>
            </a:r>
            <a:r>
              <a:rPr lang="ko-KR" altLang="en-US" sz="1400" b="1" dirty="0" err="1"/>
              <a:t>설정값</a:t>
            </a:r>
            <a:endParaRPr lang="en-US" altLang="ko-KR" sz="1400" b="1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10A532-94F4-74CD-AEDE-02C7F137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770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91542-7353-6736-B4C1-E0E626E2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5F0CAF7-BA12-24FF-C203-41B1D8B02F1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65D7DA-96CC-DD96-DD57-EB4ADDE4ADB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3D0DE-A162-EB6E-51BD-FDE35B1F5C9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4098D0-8B01-BECD-8861-2085823CC9B1}"/>
              </a:ext>
            </a:extLst>
          </p:cNvPr>
          <p:cNvSpPr txBox="1"/>
          <p:nvPr/>
        </p:nvSpPr>
        <p:spPr>
          <a:xfrm>
            <a:off x="920729" y="1197755"/>
            <a:ext cx="641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ko-KR" sz="1400" b="1" dirty="0"/>
              <a:t>NWC </a:t>
            </a:r>
            <a:r>
              <a:rPr lang="ko-KR" altLang="en-US" sz="1400" b="1" dirty="0" err="1"/>
              <a:t>추출시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Navisworks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설정값</a:t>
            </a:r>
            <a:endParaRPr lang="en-US" altLang="ko-KR" sz="14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8FFBBD0-128F-A44E-A3E1-A485AEABA7E6}"/>
              </a:ext>
            </a:extLst>
          </p:cNvPr>
          <p:cNvGrpSpPr/>
          <p:nvPr/>
        </p:nvGrpSpPr>
        <p:grpSpPr>
          <a:xfrm>
            <a:off x="993754" y="1843763"/>
            <a:ext cx="10883344" cy="4334209"/>
            <a:chOff x="1022329" y="2112773"/>
            <a:chExt cx="10883344" cy="4334209"/>
          </a:xfrm>
        </p:grpSpPr>
        <p:sp>
          <p:nvSpPr>
            <p:cNvPr id="8" name="제목 1">
              <a:extLst>
                <a:ext uri="{FF2B5EF4-FFF2-40B4-BE49-F238E27FC236}">
                  <a16:creationId xmlns:a16="http://schemas.microsoft.com/office/drawing/2014/main" id="{8744AAA2-1763-025D-D7D4-E152C5290DC9}"/>
                </a:ext>
              </a:extLst>
            </p:cNvPr>
            <p:cNvSpPr txBox="1">
              <a:spLocks/>
            </p:cNvSpPr>
            <p:nvPr/>
          </p:nvSpPr>
          <p:spPr>
            <a:xfrm>
              <a:off x="5410921" y="5383324"/>
              <a:ext cx="6477181" cy="10178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marL="342900" indent="-342900" defTabSz="914400" latinLnBrk="0">
                <a:buAutoNum type="arabicParenR"/>
              </a:pPr>
              <a:r>
                <a:rPr lang="en-US" altLang="ko-KR" sz="1500" b="0" dirty="0"/>
                <a:t>Navisworks Tool </a:t>
              </a:r>
              <a:r>
                <a:rPr lang="ko-KR" altLang="en-US" sz="1500" b="0" dirty="0"/>
                <a:t>실행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en-US" altLang="ko-KR" sz="1500" b="0" dirty="0"/>
                <a:t>Settings </a:t>
              </a:r>
              <a:r>
                <a:rPr lang="ko-KR" altLang="en-US" sz="1500" b="0" dirty="0"/>
                <a:t>창 설정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ko-KR" altLang="en-US" sz="1500" b="0" dirty="0"/>
                <a:t>그림과 같이 동일한 설정 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ko-KR" altLang="en-US" sz="1500" b="0" dirty="0"/>
                <a:t>해당 사항 체크 필요 </a:t>
              </a:r>
              <a:r>
                <a:rPr lang="en-US" altLang="ko-KR" sz="1500" b="0" dirty="0"/>
                <a:t>(</a:t>
              </a:r>
              <a:r>
                <a:rPr lang="ko-KR" altLang="en-US" sz="1500" b="0" dirty="0"/>
                <a:t>공동 작업 및 </a:t>
              </a:r>
              <a:r>
                <a:rPr lang="ko-KR" altLang="en-US" sz="1500" b="0" dirty="0" err="1"/>
                <a:t>확인시</a:t>
              </a:r>
              <a:r>
                <a:rPr lang="ko-KR" altLang="en-US" sz="1500" b="0" dirty="0"/>
                <a:t> 필요항목</a:t>
              </a:r>
              <a:r>
                <a:rPr lang="en-US" altLang="ko-KR" sz="1500" b="0" dirty="0"/>
                <a:t>)</a:t>
              </a:r>
              <a:r>
                <a:rPr lang="ko-KR" altLang="en-US" sz="1500" b="0" dirty="0"/>
                <a:t> </a:t>
              </a:r>
              <a:endParaRPr lang="en-US" altLang="ko-KR" sz="1500" b="0" dirty="0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565AC8C-DE59-C235-A686-5BA700406E3A}"/>
                </a:ext>
              </a:extLst>
            </p:cNvPr>
            <p:cNvGrpSpPr/>
            <p:nvPr/>
          </p:nvGrpSpPr>
          <p:grpSpPr>
            <a:xfrm>
              <a:off x="1022329" y="2194595"/>
              <a:ext cx="3916840" cy="1435296"/>
              <a:chOff x="1022329" y="2194595"/>
              <a:chExt cx="3916840" cy="1435296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8BD6A2A0-F06C-0B51-EB30-A9F600C41C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17421"/>
              <a:stretch/>
            </p:blipFill>
            <p:spPr>
              <a:xfrm>
                <a:off x="1022329" y="2194595"/>
                <a:ext cx="3916840" cy="1435296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9EA6537-9425-79E2-8DA6-6BADA53E107D}"/>
                  </a:ext>
                </a:extLst>
              </p:cNvPr>
              <p:cNvSpPr/>
              <p:nvPr/>
            </p:nvSpPr>
            <p:spPr>
              <a:xfrm>
                <a:off x="1572253" y="2919146"/>
                <a:ext cx="829202" cy="22405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3" name="제목 1">
                <a:extLst>
                  <a:ext uri="{FF2B5EF4-FFF2-40B4-BE49-F238E27FC236}">
                    <a16:creationId xmlns:a16="http://schemas.microsoft.com/office/drawing/2014/main" id="{C5061374-86F2-214B-EBD4-77D07C1682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3231" y="2855974"/>
                <a:ext cx="238929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①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2548CC3A-DCB6-81C6-6085-6D97E0B50C0E}"/>
                </a:ext>
              </a:extLst>
            </p:cNvPr>
            <p:cNvGrpSpPr/>
            <p:nvPr/>
          </p:nvGrpSpPr>
          <p:grpSpPr>
            <a:xfrm>
              <a:off x="1052455" y="3663435"/>
              <a:ext cx="4237250" cy="2783547"/>
              <a:chOff x="1645262" y="4113402"/>
              <a:chExt cx="3935260" cy="2585163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20863D75-185A-5178-8922-B556762C6E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5262" y="4113402"/>
                <a:ext cx="3935260" cy="2585163"/>
              </a:xfrm>
              <a:prstGeom prst="rect">
                <a:avLst/>
              </a:prstGeom>
            </p:spPr>
          </p:pic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00F693FE-5BC7-8D43-6C8A-C7DB0BCFDE76}"/>
                  </a:ext>
                </a:extLst>
              </p:cNvPr>
              <p:cNvSpPr/>
              <p:nvPr/>
            </p:nvSpPr>
            <p:spPr>
              <a:xfrm>
                <a:off x="2238757" y="6508682"/>
                <a:ext cx="1354187" cy="12071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제목 1">
                <a:extLst>
                  <a:ext uri="{FF2B5EF4-FFF2-40B4-BE49-F238E27FC236}">
                    <a16:creationId xmlns:a16="http://schemas.microsoft.com/office/drawing/2014/main" id="{612AA23B-A208-9975-0E2A-8B6E36E1FB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27723" y="6183356"/>
                <a:ext cx="211034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②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D1CC582-6F17-6E25-E8E2-8C901BDEE2F4}"/>
                </a:ext>
              </a:extLst>
            </p:cNvPr>
            <p:cNvGrpSpPr/>
            <p:nvPr/>
          </p:nvGrpSpPr>
          <p:grpSpPr>
            <a:xfrm>
              <a:off x="5289705" y="2223342"/>
              <a:ext cx="3463929" cy="3017940"/>
              <a:chOff x="5124884" y="2377840"/>
              <a:chExt cx="3069507" cy="2674301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869A3CE2-65BC-EE89-7D61-173731D3C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9509" y="2377841"/>
                <a:ext cx="3044882" cy="2674300"/>
              </a:xfrm>
              <a:prstGeom prst="rect">
                <a:avLst/>
              </a:prstGeom>
            </p:spPr>
          </p:pic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EB9AB29-367D-13CC-B1DF-DE226EB29CE3}"/>
                  </a:ext>
                </a:extLst>
              </p:cNvPr>
              <p:cNvSpPr/>
              <p:nvPr/>
            </p:nvSpPr>
            <p:spPr>
              <a:xfrm>
                <a:off x="5124884" y="2377840"/>
                <a:ext cx="3069507" cy="264691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19" name="제목 1">
              <a:extLst>
                <a:ext uri="{FF2B5EF4-FFF2-40B4-BE49-F238E27FC236}">
                  <a16:creationId xmlns:a16="http://schemas.microsoft.com/office/drawing/2014/main" id="{B0AB0BC6-6CB0-A144-99CC-D6D18A44F131}"/>
                </a:ext>
              </a:extLst>
            </p:cNvPr>
            <p:cNvSpPr txBox="1">
              <a:spLocks/>
            </p:cNvSpPr>
            <p:nvPr/>
          </p:nvSpPr>
          <p:spPr>
            <a:xfrm>
              <a:off x="5008920" y="2112773"/>
              <a:ext cx="211034" cy="32532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defTabSz="914400" latinLnBrk="0"/>
              <a:r>
                <a:rPr lang="ko-KR" altLang="en-US" sz="1500" dirty="0">
                  <a:solidFill>
                    <a:srgbClr val="FF0000"/>
                  </a:solidFill>
                </a:rPr>
                <a:t>③</a:t>
              </a:r>
              <a:endParaRPr lang="en-US" altLang="ko-KR" sz="1500" dirty="0">
                <a:solidFill>
                  <a:srgbClr val="FF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04049F3-67A3-EB1F-64A0-A3AC47BB69C2}"/>
                </a:ext>
              </a:extLst>
            </p:cNvPr>
            <p:cNvSpPr/>
            <p:nvPr/>
          </p:nvSpPr>
          <p:spPr>
            <a:xfrm>
              <a:off x="1022329" y="2161051"/>
              <a:ext cx="10883344" cy="42859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1B69145B-DF4F-4F0F-A7BE-47AAF8666CD7}"/>
                </a:ext>
              </a:extLst>
            </p:cNvPr>
            <p:cNvGrpSpPr/>
            <p:nvPr/>
          </p:nvGrpSpPr>
          <p:grpSpPr>
            <a:xfrm>
              <a:off x="8808240" y="2227977"/>
              <a:ext cx="3042827" cy="1967109"/>
              <a:chOff x="8711932" y="2422722"/>
              <a:chExt cx="3042827" cy="1967109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F30FB180-C160-F8F9-6F98-13BFF52944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8802"/>
              <a:stretch>
                <a:fillRect/>
              </a:stretch>
            </p:blipFill>
            <p:spPr>
              <a:xfrm>
                <a:off x="8711932" y="2434355"/>
                <a:ext cx="3042827" cy="1955476"/>
              </a:xfrm>
              <a:prstGeom prst="rect">
                <a:avLst/>
              </a:prstGeom>
            </p:spPr>
          </p:pic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D8892A0-FC51-B158-0EB7-F517010F879D}"/>
                  </a:ext>
                </a:extLst>
              </p:cNvPr>
              <p:cNvSpPr/>
              <p:nvPr/>
            </p:nvSpPr>
            <p:spPr>
              <a:xfrm>
                <a:off x="9489620" y="3924914"/>
                <a:ext cx="1315769" cy="1282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2" name="제목 1">
                <a:extLst>
                  <a:ext uri="{FF2B5EF4-FFF2-40B4-BE49-F238E27FC236}">
                    <a16:creationId xmlns:a16="http://schemas.microsoft.com/office/drawing/2014/main" id="{EE542D24-B180-749E-A226-E60107EDE6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00006" y="3759182"/>
                <a:ext cx="231245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④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25D37768-3E52-F4B6-0E0B-6179EA4636FE}"/>
                  </a:ext>
                </a:extLst>
              </p:cNvPr>
              <p:cNvSpPr/>
              <p:nvPr/>
            </p:nvSpPr>
            <p:spPr>
              <a:xfrm>
                <a:off x="8711932" y="2422722"/>
                <a:ext cx="3042827" cy="19671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277F1D-24E1-DE06-B964-91A60CDE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445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33D61-C248-4571-DBF1-A41EA7ED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316C19-900D-395F-A253-4E6AC0FE5DC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BC0541-4BCD-913C-BC5B-B46F31B9B91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33653-0DD6-A70F-C10E-65AA67BFF591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D152DBA-3BFD-E7A7-BC0B-43A7F101EA1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6537A2-17A3-45D1-5AFA-D30073190E70}"/>
              </a:ext>
            </a:extLst>
          </p:cNvPr>
          <p:cNvSpPr txBox="1"/>
          <p:nvPr/>
        </p:nvSpPr>
        <p:spPr>
          <a:xfrm>
            <a:off x="917574" y="1353582"/>
            <a:ext cx="47258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  <a:p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002FE-60D1-6DF8-34FC-F083E80AF45A}"/>
              </a:ext>
            </a:extLst>
          </p:cNvPr>
          <p:cNvSpPr txBox="1"/>
          <p:nvPr/>
        </p:nvSpPr>
        <p:spPr>
          <a:xfrm>
            <a:off x="843684" y="2123997"/>
            <a:ext cx="8143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NWF</a:t>
            </a:r>
            <a:r>
              <a:rPr lang="en-US" altLang="ko-KR" dirty="0"/>
              <a:t> (Navisworks File)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r>
              <a:rPr lang="en-US" altLang="ko-KR" sz="1400" dirty="0"/>
              <a:t>    - NWC </a:t>
            </a:r>
            <a:r>
              <a:rPr lang="ko-KR" altLang="en-US" sz="1400" dirty="0"/>
              <a:t>링크만 들고 있는 작업파일</a:t>
            </a:r>
            <a:endParaRPr lang="en-US" altLang="ko-KR" sz="1400" dirty="0"/>
          </a:p>
          <a:p>
            <a:r>
              <a:rPr lang="en-US" altLang="ko-KR" sz="1400" dirty="0"/>
              <a:t>    - NWC</a:t>
            </a:r>
            <a:r>
              <a:rPr lang="ko-KR" altLang="en-US" sz="1400" dirty="0"/>
              <a:t>와 연동 되어 있으므로 </a:t>
            </a:r>
            <a:r>
              <a:rPr lang="en-US" altLang="ko-KR" sz="1400" dirty="0"/>
              <a:t>NWC</a:t>
            </a:r>
            <a:r>
              <a:rPr lang="ko-KR" altLang="en-US" sz="1400" dirty="0"/>
              <a:t>의 위치 옮길 경우 경로 재설정 필요</a:t>
            </a:r>
            <a:endParaRPr lang="en-US" altLang="ko-KR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CB7683-4FC1-8A44-0740-A985A152764F}"/>
              </a:ext>
            </a:extLst>
          </p:cNvPr>
          <p:cNvSpPr txBox="1"/>
          <p:nvPr/>
        </p:nvSpPr>
        <p:spPr>
          <a:xfrm>
            <a:off x="843684" y="3426720"/>
            <a:ext cx="39828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NWD</a:t>
            </a:r>
          </a:p>
          <a:p>
            <a:r>
              <a:rPr lang="en-US" altLang="ko-KR" sz="1400" dirty="0"/>
              <a:t>  </a:t>
            </a:r>
          </a:p>
          <a:p>
            <a:r>
              <a:rPr lang="en-US" altLang="ko-KR" sz="1400" dirty="0"/>
              <a:t>   - </a:t>
            </a:r>
            <a:r>
              <a:rPr lang="ko-KR" altLang="en-US" sz="1400" dirty="0"/>
              <a:t>납품 시 </a:t>
            </a:r>
            <a:r>
              <a:rPr lang="en-US" altLang="ko-KR" sz="1400" dirty="0"/>
              <a:t>NWD </a:t>
            </a:r>
            <a:r>
              <a:rPr lang="ko-KR" altLang="en-US" sz="1400" dirty="0"/>
              <a:t>파일로 제출</a:t>
            </a:r>
            <a:r>
              <a:rPr lang="en-US" altLang="ko-KR" sz="1400" dirty="0"/>
              <a:t>, </a:t>
            </a:r>
            <a:r>
              <a:rPr lang="ko-KR" altLang="en-US" sz="1400" dirty="0"/>
              <a:t>읽기 전용 파일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7C36FD-5B5C-EF15-0658-4CE22A36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348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8F42-FAD1-7EF3-7ED3-1ADD959E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41AE515-3692-D97C-6EF4-F4609B5E6DF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124ECC-CB73-9D34-8F58-517C3F5CECF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858F1-E47C-A359-0DD6-E39FF53699A4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3C65BB2-D1D6-195A-40CB-81D7F171CBE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722365-D0ED-BB92-A10F-1A027B68E8F2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4B236-9AE7-1ADC-95F3-577BA94BBC20}"/>
              </a:ext>
            </a:extLst>
          </p:cNvPr>
          <p:cNvSpPr txBox="1"/>
          <p:nvPr/>
        </p:nvSpPr>
        <p:spPr>
          <a:xfrm>
            <a:off x="843684" y="1938358"/>
            <a:ext cx="570489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IFC</a:t>
            </a:r>
            <a:r>
              <a:rPr lang="en-US" altLang="ko-KR" dirty="0"/>
              <a:t> (Industry Foundation Classes)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sz="1400" dirty="0"/>
              <a:t>    - BIM </a:t>
            </a:r>
            <a:r>
              <a:rPr lang="ko-KR" altLang="en-US" sz="1400" dirty="0"/>
              <a:t>표준 교환 포맷</a:t>
            </a:r>
            <a:r>
              <a:rPr lang="en-US" altLang="ko-KR" sz="1400" dirty="0"/>
              <a:t>, </a:t>
            </a:r>
            <a:r>
              <a:rPr lang="ko-KR" altLang="en-US" sz="1400" dirty="0"/>
              <a:t>타 프로그램과 호환성이 높음</a:t>
            </a:r>
            <a:endParaRPr lang="en-US" altLang="ko-KR" sz="1400" dirty="0"/>
          </a:p>
          <a:p>
            <a:r>
              <a:rPr lang="en-US" altLang="ko-KR" sz="1400" dirty="0"/>
              <a:t>    - </a:t>
            </a:r>
            <a:r>
              <a:rPr lang="en-US" altLang="ko-KR" dirty="0" err="1"/>
              <a:t>ifc</a:t>
            </a:r>
            <a:r>
              <a:rPr lang="en-US" altLang="ko-KR" dirty="0"/>
              <a:t> class mapping</a:t>
            </a:r>
            <a:r>
              <a:rPr lang="en-US" altLang="ko-KR" sz="1400" dirty="0"/>
              <a:t> </a:t>
            </a:r>
            <a:r>
              <a:rPr lang="ko-KR" altLang="en-US" sz="1400" dirty="0"/>
              <a:t>필요</a:t>
            </a:r>
            <a:endParaRPr lang="en-US" altLang="ko-KR" sz="1400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DE4ACFD-6C31-CDDE-D4CD-B77D82019E81}"/>
              </a:ext>
            </a:extLst>
          </p:cNvPr>
          <p:cNvGraphicFramePr>
            <a:graphicFrameLocks noGrp="1"/>
          </p:cNvGraphicFramePr>
          <p:nvPr/>
        </p:nvGraphicFramePr>
        <p:xfrm>
          <a:off x="843684" y="5658147"/>
          <a:ext cx="5338620" cy="77108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34655">
                  <a:extLst>
                    <a:ext uri="{9D8B030D-6E8A-4147-A177-3AD203B41FA5}">
                      <a16:colId xmlns:a16="http://schemas.microsoft.com/office/drawing/2014/main" val="2378669056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1974494224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797855479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4167254402"/>
                    </a:ext>
                  </a:extLst>
                </a:gridCol>
              </a:tblGrid>
              <a:tr h="3855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NWC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NWF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NWD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IFC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93601"/>
                  </a:ext>
                </a:extLst>
              </a:tr>
              <a:tr h="3855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작업파일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표준호환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178180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C4DD45-4BFA-ACD8-395D-0F9959D2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247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F1DC4-9F56-2D29-4B91-3A67FA25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27804E-7EA4-CCCC-197B-771D3B32A78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0701DA-6F80-E40E-4E9B-F6D39BD5661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50EEB-0788-F2F7-6C61-14672F0597E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14950E0-3646-5732-3149-567EF6BD071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0A954C-8BE0-738C-AA4F-0E292671149C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73F89-BA33-9326-F1C9-9A5300299280}"/>
              </a:ext>
            </a:extLst>
          </p:cNvPr>
          <p:cNvSpPr txBox="1"/>
          <p:nvPr/>
        </p:nvSpPr>
        <p:spPr>
          <a:xfrm>
            <a:off x="843684" y="1938358"/>
            <a:ext cx="5704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IFC CLASS Mapping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59762D6-583D-6AC4-B989-783FCF6E6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205052"/>
              </p:ext>
            </p:extLst>
          </p:nvPr>
        </p:nvGraphicFramePr>
        <p:xfrm>
          <a:off x="1198542" y="2502594"/>
          <a:ext cx="8889752" cy="3246101"/>
        </p:xfrm>
        <a:graphic>
          <a:graphicData uri="http://schemas.openxmlformats.org/drawingml/2006/table">
            <a:tbl>
              <a:tblPr/>
              <a:tblGrid>
                <a:gridCol w="3487634">
                  <a:extLst>
                    <a:ext uri="{9D8B030D-6E8A-4147-A177-3AD203B41FA5}">
                      <a16:colId xmlns:a16="http://schemas.microsoft.com/office/drawing/2014/main" val="3376921678"/>
                    </a:ext>
                  </a:extLst>
                </a:gridCol>
                <a:gridCol w="2656536">
                  <a:extLst>
                    <a:ext uri="{9D8B030D-6E8A-4147-A177-3AD203B41FA5}">
                      <a16:colId xmlns:a16="http://schemas.microsoft.com/office/drawing/2014/main" val="2618293138"/>
                    </a:ext>
                  </a:extLst>
                </a:gridCol>
                <a:gridCol w="2745582">
                  <a:extLst>
                    <a:ext uri="{9D8B030D-6E8A-4147-A177-3AD203B41FA5}">
                      <a16:colId xmlns:a16="http://schemas.microsoft.com/office/drawing/2014/main" val="245566669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Revit Category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IfcExportAs</a:t>
                      </a: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(IFC2x3)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IfcExportAs</a:t>
                      </a: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(IFC4)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599455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 Tray Fittings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61199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 Trays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22593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Conduit Fittings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376299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Conduits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07670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Equipment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70789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Fixtures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7171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Lighting Devices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83095"/>
                  </a:ext>
                </a:extLst>
              </a:tr>
            </a:tbl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9147D8DF-DC04-C034-D04C-F7CE1D9212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28590"/>
              </p:ext>
            </p:extLst>
          </p:nvPr>
        </p:nvGraphicFramePr>
        <p:xfrm>
          <a:off x="1198542" y="5943599"/>
          <a:ext cx="299085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990973" imgH="200179" progId="Excel.Sheet.12">
                  <p:link updateAutomatic="1"/>
                </p:oleObj>
              </mc:Choice>
              <mc:Fallback>
                <p:oleObj name="Worksheet" r:id="rId2" imgW="2990973" imgH="20017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98542" y="5943599"/>
                        <a:ext cx="2990850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BDE3C7C3-ECEA-9C11-9259-64EB5053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68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EEA4-51EB-156B-2FE5-357098A6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77A02E2-15E6-9DB4-00E7-2880F289582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182F52-ADD8-1AB4-F00C-F3F63F70B77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FB26B-95F6-7B11-22F2-3CC34E74824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B986CA6-A19D-086B-9C1B-30524D72E7E8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54D72B-35CD-46D0-A1D8-3F0793021343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E7D8A-62CB-9723-434B-8B7021E821E4}"/>
              </a:ext>
            </a:extLst>
          </p:cNvPr>
          <p:cNvSpPr txBox="1"/>
          <p:nvPr/>
        </p:nvSpPr>
        <p:spPr>
          <a:xfrm>
            <a:off x="843684" y="1938358"/>
            <a:ext cx="5704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IFC </a:t>
            </a:r>
            <a:r>
              <a:rPr lang="ko-KR" altLang="en-US" b="1" dirty="0"/>
              <a:t>추출 </a:t>
            </a:r>
            <a:r>
              <a:rPr lang="ko-KR" altLang="en-US" b="1" dirty="0" err="1"/>
              <a:t>설정값</a:t>
            </a:r>
            <a:r>
              <a:rPr lang="ko-KR" altLang="en-US" b="1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설정 값은 추후 변경 될 수 있음</a:t>
            </a:r>
            <a:r>
              <a:rPr lang="en-US" altLang="ko-KR" dirty="0"/>
              <a:t>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5F346A2-41A3-48F1-9DD3-DFFBE300A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21" y="4550310"/>
            <a:ext cx="3769155" cy="2081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537378B-8423-FBAC-5DBC-B44679BF9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320" y="2460223"/>
            <a:ext cx="6253987" cy="1937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6D7DA50-292F-C624-789D-E65BA7D50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674" y="2448638"/>
            <a:ext cx="4578482" cy="23519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381C31-0C1E-3E7E-7FD2-069E8204B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218" y="2460223"/>
            <a:ext cx="4410384" cy="1937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17A141B-D791-CDDE-A45A-F0A76F10D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661" y="4550310"/>
            <a:ext cx="2913956" cy="2205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E4D0DC-352E-FF13-8C5F-F96C9A48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874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7DEF-B8A5-A6C2-EF3B-6D67F047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C4394E-B50F-4C1D-0C82-B890C179BAF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724BA3-D549-B2C8-429A-849E1774A44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8C69A-CC35-3986-B79F-EBB09FFAB284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117453-6CCE-003D-5A59-A3DFCD6ACC2D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13BA6E-846B-D993-47E6-6DE939E966D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파일정리</a:t>
            </a:r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F254A-5DAE-DE87-10B1-645E42643587}"/>
              </a:ext>
            </a:extLst>
          </p:cNvPr>
          <p:cNvSpPr txBox="1"/>
          <p:nvPr/>
        </p:nvSpPr>
        <p:spPr>
          <a:xfrm>
            <a:off x="843684" y="1956830"/>
            <a:ext cx="79493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3d view </a:t>
            </a:r>
            <a:r>
              <a:rPr lang="ko-KR" altLang="en-US" sz="1400" dirty="0"/>
              <a:t>제외 </a:t>
            </a:r>
            <a:r>
              <a:rPr lang="ko-KR" altLang="en-US" sz="1400" dirty="0" err="1"/>
              <a:t>작업뷰들</a:t>
            </a:r>
            <a:r>
              <a:rPr lang="ko-KR" altLang="en-US" sz="1400" dirty="0"/>
              <a:t> 전체 삭제</a:t>
            </a:r>
            <a:r>
              <a:rPr lang="en-US" altLang="ko-KR" sz="1400" dirty="0"/>
              <a:t>(</a:t>
            </a:r>
            <a:r>
              <a:rPr lang="ko-KR" altLang="en-US" sz="1400" dirty="0"/>
              <a:t>수행계획서에 따라 변동 될 수 있음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패밀리명 중복 및 기준과 상이한지 확인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미사용 패밀리 삭제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링크 파일 삭제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필터 삭제</a:t>
            </a:r>
            <a:endParaRPr lang="en-US" altLang="ko-KR" sz="1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A36566-33B5-F137-D2F2-EF5C2D9C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5397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FC3CD-C320-AE3D-4267-B803DDB97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C994C81-2790-CBF0-01DD-ED86001D7047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A85972-6CE7-7B09-D800-C11318B9930A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A2412-FA40-7764-24B6-BB8034307DE9}"/>
              </a:ext>
            </a:extLst>
          </p:cNvPr>
          <p:cNvSpPr txBox="1"/>
          <p:nvPr/>
        </p:nvSpPr>
        <p:spPr>
          <a:xfrm>
            <a:off x="3708400" y="2523123"/>
            <a:ext cx="6604000" cy="19253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간섭 세팅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간섭 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8A1FA83-B7BD-26F9-F5D7-91B58A9FD507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047F4-99BE-15BE-2EE1-05D1BE3F1B75}"/>
              </a:ext>
            </a:extLst>
          </p:cNvPr>
          <p:cNvSpPr txBox="1"/>
          <p:nvPr/>
        </p:nvSpPr>
        <p:spPr>
          <a:xfrm>
            <a:off x="641350" y="2523123"/>
            <a:ext cx="25019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간섭검토</a:t>
            </a:r>
            <a:endParaRPr lang="ko-KR" altLang="en-US" sz="1600" b="1" dirty="0">
              <a:solidFill>
                <a:schemeClr val="bg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B338E-F69C-8DC2-FD53-FC32AC6E264C}"/>
              </a:ext>
            </a:extLst>
          </p:cNvPr>
          <p:cNvSpPr txBox="1"/>
          <p:nvPr/>
        </p:nvSpPr>
        <p:spPr>
          <a:xfrm>
            <a:off x="212768" y="24980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E56625-8C20-6F73-0A46-C4BF458F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792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B5CEE-6B83-7D8B-B800-5CF3F3DB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1C7785A-7ED9-C953-8FDF-726AE678814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D8CB48-D759-A30D-8989-40D94EACE36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68229-3E50-7BD2-1D16-6A0E9FAF3F8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A785313-4A9F-2369-23CD-26466804A1E2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C97110-1D6E-5175-57B7-7F2CF0D8867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ED0BE-904E-8D64-D3BB-275725EAD80F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Set</a:t>
            </a:r>
            <a:r>
              <a:rPr lang="ko-KR" altLang="en-US" sz="1400" b="1" dirty="0"/>
              <a:t> 설정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편의에 맞게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Select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와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Search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선택하여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설정</a:t>
            </a:r>
            <a:endParaRPr kumimoji="1" lang="en-US" altLang="ko-KR" sz="1200" dirty="0">
              <a:latin typeface="맑은 고딕" pitchFamily="50" charset="-127"/>
              <a:cs typeface="Tahoma" pitchFamily="34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DDDBC64-274D-F76A-0455-D4DF50C28A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950"/>
          <a:stretch/>
        </p:blipFill>
        <p:spPr>
          <a:xfrm>
            <a:off x="9658154" y="3563993"/>
            <a:ext cx="2044630" cy="3096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68C06DF-1631-0E31-1875-482EACA53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418" y="4300099"/>
            <a:ext cx="2675871" cy="15686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BDC64C3-16C0-400E-A31C-671BA7594002}"/>
              </a:ext>
            </a:extLst>
          </p:cNvPr>
          <p:cNvSpPr txBox="1"/>
          <p:nvPr/>
        </p:nvSpPr>
        <p:spPr bwMode="auto">
          <a:xfrm>
            <a:off x="1327448" y="2268639"/>
            <a:ext cx="3168352" cy="1164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Selection Tree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객체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선택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Sets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오른쪽 마우스 클릭 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Save Selection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선택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89E0382-939A-46D8-6DF0-02EB99CB72B5}"/>
              </a:ext>
            </a:extLst>
          </p:cNvPr>
          <p:cNvSpPr/>
          <p:nvPr/>
        </p:nvSpPr>
        <p:spPr>
          <a:xfrm>
            <a:off x="8415726" y="4907687"/>
            <a:ext cx="252028" cy="276999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895AB3A-FAB3-53D1-6631-6EC10894D4E0}"/>
              </a:ext>
            </a:extLst>
          </p:cNvPr>
          <p:cNvGrpSpPr/>
          <p:nvPr/>
        </p:nvGrpSpPr>
        <p:grpSpPr>
          <a:xfrm>
            <a:off x="2298066" y="3563993"/>
            <a:ext cx="1964859" cy="1015591"/>
            <a:chOff x="1554787" y="2911647"/>
            <a:chExt cx="1964859" cy="101559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66EEADC-971D-861A-7691-AB56B96A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1422" y="2982108"/>
              <a:ext cx="501659" cy="41804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7D75B5B-6A6B-F103-6F48-CDC0B80E3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54065" y="3482061"/>
              <a:ext cx="456372" cy="437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8606E5-7A47-982D-0C86-CD32E01AD068}"/>
                </a:ext>
              </a:extLst>
            </p:cNvPr>
            <p:cNvSpPr txBox="1"/>
            <p:nvPr/>
          </p:nvSpPr>
          <p:spPr bwMode="auto">
            <a:xfrm>
              <a:off x="2151494" y="3053779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Selection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8C2AAB-DC47-21E0-90AF-BAC0513E0C0F}"/>
                </a:ext>
              </a:extLst>
            </p:cNvPr>
            <p:cNvSpPr txBox="1"/>
            <p:nvPr/>
          </p:nvSpPr>
          <p:spPr bwMode="auto">
            <a:xfrm>
              <a:off x="2151494" y="3564220"/>
              <a:ext cx="12013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Search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094F87E-A27C-E7F2-780D-A5400AABA162}"/>
                </a:ext>
              </a:extLst>
            </p:cNvPr>
            <p:cNvSpPr/>
            <p:nvPr/>
          </p:nvSpPr>
          <p:spPr>
            <a:xfrm>
              <a:off x="1554787" y="2911647"/>
              <a:ext cx="1872208" cy="101559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057D038-C83E-8CEA-5112-19326EB59C1D}"/>
                </a:ext>
              </a:extLst>
            </p:cNvPr>
            <p:cNvSpPr/>
            <p:nvPr/>
          </p:nvSpPr>
          <p:spPr>
            <a:xfrm>
              <a:off x="1628985" y="3004877"/>
              <a:ext cx="1723813" cy="3989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4D19812-0B21-E32C-DC73-44FDA4A6A699}"/>
              </a:ext>
            </a:extLst>
          </p:cNvPr>
          <p:cNvGrpSpPr/>
          <p:nvPr/>
        </p:nvGrpSpPr>
        <p:grpSpPr>
          <a:xfrm>
            <a:off x="4369552" y="3515854"/>
            <a:ext cx="4752936" cy="655248"/>
            <a:chOff x="3772870" y="3161460"/>
            <a:chExt cx="4752936" cy="65524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9EF16E-CC64-5ACE-A33A-3CC0A0B43AA4}"/>
                </a:ext>
              </a:extLst>
            </p:cNvPr>
            <p:cNvSpPr txBox="1"/>
            <p:nvPr/>
          </p:nvSpPr>
          <p:spPr bwMode="auto">
            <a:xfrm>
              <a:off x="3772870" y="3161460"/>
              <a:ext cx="187220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Select Set</a:t>
              </a:r>
              <a:endParaRPr lang="ko-KR" altLang="en-US" sz="16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B414B2-6970-21D8-9D86-E1AF511EFF2C}"/>
                </a:ext>
              </a:extLst>
            </p:cNvPr>
            <p:cNvSpPr txBox="1"/>
            <p:nvPr/>
          </p:nvSpPr>
          <p:spPr bwMode="auto">
            <a:xfrm>
              <a:off x="3772870" y="3539709"/>
              <a:ext cx="470363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선택되어 있는 객체를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Set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설정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변경사항이 없을 경우 사용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6790C49-872E-E5B9-9B31-769EBD489037}"/>
                </a:ext>
              </a:extLst>
            </p:cNvPr>
            <p:cNvSpPr/>
            <p:nvPr/>
          </p:nvSpPr>
          <p:spPr>
            <a:xfrm>
              <a:off x="3822175" y="3207856"/>
              <a:ext cx="4703631" cy="58741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B16FF-8831-5D06-E123-E40C7E17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6701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77557-8DCC-8BF4-1DC3-3EC0BFFC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72607A-DAA5-DF8E-7150-707890D9639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AF405A-C57B-099E-31BB-E044A29661F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9A7B4-DD18-54A1-41FD-999658A35051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C566813-43C4-2D3D-E28E-3A89B1C50D0B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292CB5-5EEA-BDFA-3AE0-0BA82E689E2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DB44F03-BC39-94BB-C6B3-45FF6574638E}"/>
              </a:ext>
            </a:extLst>
          </p:cNvPr>
          <p:cNvGrpSpPr/>
          <p:nvPr/>
        </p:nvGrpSpPr>
        <p:grpSpPr>
          <a:xfrm>
            <a:off x="2340400" y="3927583"/>
            <a:ext cx="1927438" cy="1024593"/>
            <a:chOff x="1970900" y="2950010"/>
            <a:chExt cx="1927438" cy="102459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C0B6539-CB29-3A07-06DF-851F61FCB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0114" y="2950010"/>
              <a:ext cx="501659" cy="41804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92F2FA7-EFD2-D40B-71D2-0E3F8CC7B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2757" y="3449963"/>
              <a:ext cx="456372" cy="437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1A453F-D725-F87C-FA4E-AAC6B83524FE}"/>
                </a:ext>
              </a:extLst>
            </p:cNvPr>
            <p:cNvSpPr txBox="1"/>
            <p:nvPr/>
          </p:nvSpPr>
          <p:spPr bwMode="auto">
            <a:xfrm>
              <a:off x="2530186" y="3021681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Selection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3BDD4A-253C-1DED-BFDD-EB9472D35C05}"/>
                </a:ext>
              </a:extLst>
            </p:cNvPr>
            <p:cNvSpPr txBox="1"/>
            <p:nvPr/>
          </p:nvSpPr>
          <p:spPr bwMode="auto">
            <a:xfrm>
              <a:off x="2530186" y="3532122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Search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0D91992-7760-0C07-0EBF-75448EBCBF90}"/>
                </a:ext>
              </a:extLst>
            </p:cNvPr>
            <p:cNvSpPr/>
            <p:nvPr/>
          </p:nvSpPr>
          <p:spPr>
            <a:xfrm>
              <a:off x="1970900" y="2959012"/>
              <a:ext cx="1872208" cy="101559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559ED4F-2105-98C3-E2BC-AAE2ED0E23ED}"/>
                </a:ext>
              </a:extLst>
            </p:cNvPr>
            <p:cNvSpPr/>
            <p:nvPr/>
          </p:nvSpPr>
          <p:spPr>
            <a:xfrm>
              <a:off x="2064682" y="3462919"/>
              <a:ext cx="1677632" cy="3989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25CE52E4-6E99-E490-9E40-E222B17E86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8950"/>
          <a:stretch/>
        </p:blipFill>
        <p:spPr>
          <a:xfrm>
            <a:off x="8426144" y="3914660"/>
            <a:ext cx="1641541" cy="24859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164700A-CFDE-C29C-0EEC-48CEF6985E1D}"/>
              </a:ext>
            </a:extLst>
          </p:cNvPr>
          <p:cNvSpPr txBox="1"/>
          <p:nvPr/>
        </p:nvSpPr>
        <p:spPr bwMode="auto">
          <a:xfrm>
            <a:off x="1411156" y="2297526"/>
            <a:ext cx="7949334" cy="1518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Find Item </a:t>
            </a:r>
            <a:r>
              <a:rPr lang="ko-KR" altLang="en-US" sz="1200" dirty="0">
                <a:latin typeface="+mn-ea"/>
              </a:rPr>
              <a:t>에서 검색 조건 입력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File All </a:t>
            </a:r>
            <a:r>
              <a:rPr lang="ko-KR" altLang="en-US" sz="1200" dirty="0">
                <a:latin typeface="+mn-ea"/>
              </a:rPr>
              <a:t>선택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(Selection Tree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에서 객체 선택이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올바르게 되어 있는지 확인 필요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)</a:t>
            </a:r>
          </a:p>
          <a:p>
            <a:endParaRPr lang="en-US" altLang="ko-KR" sz="11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 startAt="2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Sets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에서 오른쪽 마우스 클릭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Save Search </a:t>
            </a:r>
            <a:r>
              <a:rPr lang="ko-KR" altLang="en-US" sz="1200" dirty="0">
                <a:latin typeface="+mn-ea"/>
              </a:rPr>
              <a:t>선택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7721BF5-4852-3D1B-BF5B-80DCFF40FD9A}"/>
              </a:ext>
            </a:extLst>
          </p:cNvPr>
          <p:cNvSpPr/>
          <p:nvPr/>
        </p:nvSpPr>
        <p:spPr>
          <a:xfrm>
            <a:off x="7363711" y="5066499"/>
            <a:ext cx="202342" cy="22239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FA405B9-B1A9-73B6-32C2-582FF0CC2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37" y="4509695"/>
            <a:ext cx="2344137" cy="146369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D500D1D-B39A-F204-7D1B-B95678A43BE0}"/>
              </a:ext>
            </a:extLst>
          </p:cNvPr>
          <p:cNvSpPr txBox="1"/>
          <p:nvPr/>
        </p:nvSpPr>
        <p:spPr bwMode="auto">
          <a:xfrm>
            <a:off x="2579049" y="6006744"/>
            <a:ext cx="3227339" cy="399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ea"/>
              </a:rPr>
              <a:t>** File </a:t>
            </a:r>
            <a:r>
              <a:rPr lang="ko-KR" altLang="en-US" sz="1200" dirty="0">
                <a:latin typeface="+mn-ea"/>
              </a:rPr>
              <a:t>선택 시 선택 된 </a:t>
            </a:r>
            <a:r>
              <a:rPr lang="en-US" altLang="ko-KR" sz="1200" dirty="0">
                <a:latin typeface="+mn-ea"/>
              </a:rPr>
              <a:t>File </a:t>
            </a:r>
            <a:r>
              <a:rPr lang="ko-KR" altLang="en-US" sz="1200" dirty="0">
                <a:latin typeface="+mn-ea"/>
              </a:rPr>
              <a:t>내에서만 조건 검색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 (File </a:t>
            </a:r>
            <a:r>
              <a:rPr lang="ko-KR" altLang="en-US" sz="1100" dirty="0">
                <a:latin typeface="+mn-ea"/>
              </a:rPr>
              <a:t>미 선택 시 전체 파일에서 조건 검색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CB6F8A0-6940-A1EB-A1B6-3760C4CD53A3}"/>
              </a:ext>
            </a:extLst>
          </p:cNvPr>
          <p:cNvCxnSpPr>
            <a:cxnSpLocks/>
          </p:cNvCxnSpPr>
          <p:nvPr/>
        </p:nvCxnSpPr>
        <p:spPr bwMode="auto">
          <a:xfrm flipH="1">
            <a:off x="4059482" y="5041455"/>
            <a:ext cx="1250095" cy="902145"/>
          </a:xfrm>
          <a:prstGeom prst="straightConnector1">
            <a:avLst/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417677-1131-DEB2-364E-9E4E96809524}"/>
              </a:ext>
            </a:extLst>
          </p:cNvPr>
          <p:cNvGrpSpPr/>
          <p:nvPr/>
        </p:nvGrpSpPr>
        <p:grpSpPr>
          <a:xfrm>
            <a:off x="4262465" y="3879227"/>
            <a:ext cx="4248583" cy="529485"/>
            <a:chOff x="3860683" y="2896312"/>
            <a:chExt cx="4248583" cy="52948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8694D3-F23F-046F-C27E-2A179A1E3DE3}"/>
                </a:ext>
              </a:extLst>
            </p:cNvPr>
            <p:cNvSpPr txBox="1"/>
            <p:nvPr/>
          </p:nvSpPr>
          <p:spPr bwMode="auto">
            <a:xfrm>
              <a:off x="3860683" y="2896312"/>
              <a:ext cx="393833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Search Set</a:t>
              </a:r>
              <a:endParaRPr lang="ko-KR" altLang="en-US" sz="16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A680BE-8A35-51B8-9846-E0FEFF2A76EF}"/>
                </a:ext>
              </a:extLst>
            </p:cNvPr>
            <p:cNvSpPr txBox="1"/>
            <p:nvPr/>
          </p:nvSpPr>
          <p:spPr bwMode="auto">
            <a:xfrm>
              <a:off x="4170927" y="3148798"/>
              <a:ext cx="39383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검색 조건으로 선택되는 객체를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Set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설정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7F3A032-8F79-D15C-D235-13A42C9A643A}"/>
                </a:ext>
              </a:extLst>
            </p:cNvPr>
            <p:cNvSpPr/>
            <p:nvPr/>
          </p:nvSpPr>
          <p:spPr>
            <a:xfrm>
              <a:off x="4190987" y="2950867"/>
              <a:ext cx="3508444" cy="47313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DBAE5B1-AEAF-31F8-76C2-A7D0518920B5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Set</a:t>
            </a:r>
            <a:r>
              <a:rPr lang="ko-KR" altLang="en-US" sz="1400" b="1" dirty="0"/>
              <a:t> 설정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편의에 맞게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Select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와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Search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선택하여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설정</a:t>
            </a:r>
            <a:endParaRPr kumimoji="1" lang="en-US" altLang="ko-KR" sz="1200" dirty="0">
              <a:latin typeface="맑은 고딕" pitchFamily="50" charset="-127"/>
              <a:cs typeface="Tahoma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9D993A-C53B-EF70-1DF5-3891277B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3884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120F9-7932-CAA9-B85D-57D076E1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F9681C1-4EBA-319D-B322-39E86453373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5E406C-C791-5A05-DF72-F4E1F993EDDB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A5E13-B348-8270-35F7-D0B7CCA58E10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8459331-2F5F-AACF-2E48-26A4302587FB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8EE017-1AD8-DF8B-1542-C66B6F0FA36B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03012-711B-63C6-B165-2C1EE53E38F4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  <a:buFont typeface="+mj-lt"/>
              <a:buAutoNum type="arabicPeriod" startAt="2"/>
            </a:pPr>
            <a:r>
              <a:rPr kumimoji="1" lang="en-US" altLang="ko-KR" sz="1400" b="1">
                <a:latin typeface="맑은 고딕" pitchFamily="50" charset="-127"/>
                <a:cs typeface="Tahoma" pitchFamily="34" charset="0"/>
              </a:rPr>
              <a:t>Rule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설정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(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조건부 간섭을 위한 설정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B022FD4-8A66-F396-CE23-53642BFC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82" y="2606218"/>
            <a:ext cx="4134336" cy="2880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4BC4FF-55E2-3643-77A9-70689DA63884}"/>
              </a:ext>
            </a:extLst>
          </p:cNvPr>
          <p:cNvSpPr/>
          <p:nvPr/>
        </p:nvSpPr>
        <p:spPr>
          <a:xfrm>
            <a:off x="1509082" y="2601593"/>
            <a:ext cx="402908" cy="261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0C47D-9897-7246-19D4-E719C1C7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6843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9EBC2023-F8DA-1824-8978-0CB8C56B1814}"/>
              </a:ext>
            </a:extLst>
          </p:cNvPr>
          <p:cNvGrpSpPr/>
          <p:nvPr/>
        </p:nvGrpSpPr>
        <p:grpSpPr>
          <a:xfrm>
            <a:off x="1832269" y="2179955"/>
            <a:ext cx="5854405" cy="4304327"/>
            <a:chOff x="953090" y="1828800"/>
            <a:chExt cx="6721231" cy="494421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9EDD4CC-10A1-FFBC-C3E4-C7589C2E2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1464" y="1828800"/>
              <a:ext cx="3767299" cy="49442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0FAB976-784C-746E-FB77-8D6469177F7D}"/>
                </a:ext>
              </a:extLst>
            </p:cNvPr>
            <p:cNvSpPr/>
            <p:nvPr/>
          </p:nvSpPr>
          <p:spPr>
            <a:xfrm>
              <a:off x="1271464" y="3429000"/>
              <a:ext cx="3767299" cy="229085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E22357-AF35-F539-3F37-9F0072A3125F}"/>
                </a:ext>
              </a:extLst>
            </p:cNvPr>
            <p:cNvSpPr txBox="1"/>
            <p:nvPr/>
          </p:nvSpPr>
          <p:spPr bwMode="auto">
            <a:xfrm>
              <a:off x="953090" y="3174684"/>
              <a:ext cx="22441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①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9D2741C-E01F-DFE2-DD1F-42A566C40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2410" y="4007148"/>
              <a:ext cx="1841911" cy="70426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DC981254-1775-45CB-1347-EB529E237A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11720" y="3890414"/>
              <a:ext cx="920690" cy="126807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D2FCA39-B8A7-CB59-7AA7-F9BD7F917FCB}"/>
                </a:ext>
              </a:extLst>
            </p:cNvPr>
            <p:cNvSpPr/>
            <p:nvPr/>
          </p:nvSpPr>
          <p:spPr>
            <a:xfrm>
              <a:off x="1669297" y="3428218"/>
              <a:ext cx="360000" cy="180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4E6664-EA28-FCD0-6559-3BF0AE3AC07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B94E4E-D892-D303-F837-8DD04D049F89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9BB1C-0AB2-9B0D-8AF8-D6165EA1F0D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602D026-550D-C49D-DC3A-F557F972C57C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36525-3232-60E8-A998-243505D713BD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FC791-FA49-1457-4A30-1D031A3BE257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1.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간섭 항목 조건 변경</a:t>
            </a:r>
            <a:endParaRPr kumimoji="1" lang="en-US" altLang="ko-KR" sz="1400" b="1" dirty="0">
              <a:latin typeface="맑은 고딕" pitchFamily="50" charset="-127"/>
              <a:cs typeface="Tahoma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84CEC8-C302-D211-AF5C-7A75C21089A1}"/>
              </a:ext>
            </a:extLst>
          </p:cNvPr>
          <p:cNvGrpSpPr/>
          <p:nvPr/>
        </p:nvGrpSpPr>
        <p:grpSpPr>
          <a:xfrm>
            <a:off x="7914996" y="2058851"/>
            <a:ext cx="3938205" cy="4725464"/>
            <a:chOff x="495250" y="1357647"/>
            <a:chExt cx="4432915" cy="531906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DD2731E-85F7-FA54-E48D-118AB55C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239" y="1357647"/>
              <a:ext cx="4052926" cy="53190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0887B90-5AB7-AA3B-3CB2-14B0EAE0E41C}"/>
                </a:ext>
              </a:extLst>
            </p:cNvPr>
            <p:cNvSpPr/>
            <p:nvPr/>
          </p:nvSpPr>
          <p:spPr>
            <a:xfrm flipV="1">
              <a:off x="931068" y="5877272"/>
              <a:ext cx="2221732" cy="7200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0BDD120-055F-B50C-6FFF-1DD12B638413}"/>
                </a:ext>
              </a:extLst>
            </p:cNvPr>
            <p:cNvSpPr txBox="1"/>
            <p:nvPr/>
          </p:nvSpPr>
          <p:spPr bwMode="auto">
            <a:xfrm>
              <a:off x="495250" y="5738772"/>
              <a:ext cx="29642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②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CE5AE24-54F1-EA9E-9641-9230FBA6E664}"/>
                </a:ext>
              </a:extLst>
            </p:cNvPr>
            <p:cNvSpPr/>
            <p:nvPr/>
          </p:nvSpPr>
          <p:spPr>
            <a:xfrm>
              <a:off x="1280592" y="3084684"/>
              <a:ext cx="360000" cy="180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097225-E7B8-FF5E-A802-639401CFC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100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31EED-6DCA-03B7-5A21-99EED959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CDD7651-DDF5-4B5E-1ADB-533A2218B54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A401C4-8F23-700F-ED93-8036EC332D6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B23FC-5B5C-1C93-AA7C-339AE882E43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7A924FA-2E50-3066-6B3F-23222A25496D}"/>
              </a:ext>
            </a:extLst>
          </p:cNvPr>
          <p:cNvGrpSpPr/>
          <p:nvPr/>
        </p:nvGrpSpPr>
        <p:grpSpPr>
          <a:xfrm>
            <a:off x="1375131" y="2298441"/>
            <a:ext cx="7948475" cy="4392054"/>
            <a:chOff x="1144222" y="1800408"/>
            <a:chExt cx="9670929" cy="5343823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32712D0-8696-D301-971C-DF491A586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4222" y="1800408"/>
              <a:ext cx="6563554" cy="50575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E18D762-5599-DB0A-8506-9AFF07F576C7}"/>
                </a:ext>
              </a:extLst>
            </p:cNvPr>
            <p:cNvSpPr/>
            <p:nvPr/>
          </p:nvSpPr>
          <p:spPr>
            <a:xfrm>
              <a:off x="2569247" y="1817186"/>
              <a:ext cx="468000" cy="252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C25090D-1644-A450-6A21-DA33E60B3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9695" y="6443634"/>
              <a:ext cx="2448823" cy="46518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147EC64-E200-9B95-629B-64F766527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23991" y="6423464"/>
              <a:ext cx="2376815" cy="72076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36B2F4-25EB-8A64-873D-C1E8BCC044FD}"/>
                </a:ext>
              </a:extLst>
            </p:cNvPr>
            <p:cNvSpPr txBox="1"/>
            <p:nvPr/>
          </p:nvSpPr>
          <p:spPr bwMode="auto">
            <a:xfrm>
              <a:off x="7840966" y="2065733"/>
              <a:ext cx="2974185" cy="494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defTabSz="895350" eaLnBrk="0" latinLnBrk="0" hangingPunct="0">
                <a:spcBef>
                  <a:spcPts val="600"/>
                </a:spcBef>
                <a:buClr>
                  <a:srgbClr val="000066"/>
                </a:buClr>
                <a:buSzPct val="100000"/>
              </a:pPr>
              <a:r>
                <a:rPr kumimoji="1" lang="en-US" altLang="ko-KR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Report</a:t>
              </a: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에 포함 시킬</a:t>
              </a:r>
              <a:endParaRPr kumimoji="1" lang="en-US" altLang="ko-KR" sz="1200" dirty="0">
                <a:latin typeface="맑은 고딕" pitchFamily="50" charset="-127"/>
                <a:ea typeface="맑은 고딕" pitchFamily="50" charset="-127"/>
                <a:cs typeface="Tahoma" pitchFamily="34" charset="0"/>
              </a:endParaRPr>
            </a:p>
            <a:p>
              <a:pPr defTabSz="895350" eaLnBrk="0" latinLnBrk="0" hangingPunct="0">
                <a:spcBef>
                  <a:spcPts val="600"/>
                </a:spcBef>
                <a:buClr>
                  <a:srgbClr val="000066"/>
                </a:buClr>
                <a:buSzPct val="100000"/>
              </a:pP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간섭 내용</a:t>
              </a:r>
              <a:r>
                <a:rPr kumimoji="1" lang="en-US" altLang="ko-KR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(Contents)</a:t>
              </a: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및 상태 선택 </a:t>
              </a:r>
              <a:endParaRPr kumimoji="1" lang="en-US" altLang="ko-KR" sz="1200" dirty="0">
                <a:latin typeface="맑은 고딕" pitchFamily="50" charset="-127"/>
                <a:ea typeface="맑은 고딕" pitchFamily="50" charset="-127"/>
                <a:cs typeface="Tahoma" pitchFamily="34" charset="0"/>
              </a:endParaRPr>
            </a:p>
          </p:txBody>
        </p:sp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BFFB5165-73D9-0949-B336-8AEB081959F8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483A75-563E-67DB-1C25-787E0FF706F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D2986-2361-701E-CACC-D9D86649CA40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2. Test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항목 간섭 결과 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Report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84CEF4-3A5E-C369-0109-83FE331A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748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8A8C8-2519-0022-F028-5B593C3AE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1D200BC-80C1-2892-DF86-2838D93C8D6E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감사합니다</a:t>
            </a:r>
            <a:r>
              <a:rPr lang="en-US" altLang="ko-KR" sz="2000" b="1" dirty="0">
                <a:solidFill>
                  <a:srgbClr val="CC4700"/>
                </a:solidFill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32BA4F-78E6-2606-A499-469C4460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84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A92AFA-5D7B-4604-8E0D-EC96BC3D44D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e7f9e71-fe52-48c3-b5ca-6103145319f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5474</TotalTime>
  <Words>1723</Words>
  <Application>Microsoft Office PowerPoint</Application>
  <PresentationFormat>와이드스크린</PresentationFormat>
  <Paragraphs>523</Paragraphs>
  <Slides>47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연결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5" baseType="lpstr">
      <vt:lpstr>Google Sans Text</vt:lpstr>
      <vt:lpstr>ui-monospace</vt:lpstr>
      <vt:lpstr>Malgun Gothic</vt:lpstr>
      <vt:lpstr>Malgun Gothic</vt:lpstr>
      <vt:lpstr>Arial</vt:lpstr>
      <vt:lpstr>Wingdings</vt:lpstr>
      <vt:lpstr>Office 테마</vt:lpstr>
      <vt:lpstr>file:///\\hwjy\04.%20설계3팀%20작업방\@이혜정\@레빗%20교육\IFC%20표준%20맵핑\Revit-IFC_Default_Mappings-2025.xlsx!Default%20Mappings%20!R1C1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hj8588@gmail.com</dc:creator>
  <cp:lastModifiedBy>hyejeong lee</cp:lastModifiedBy>
  <cp:revision>87</cp:revision>
  <dcterms:created xsi:type="dcterms:W3CDTF">2026-04-13T04:40:56Z</dcterms:created>
  <dcterms:modified xsi:type="dcterms:W3CDTF">2026-05-06T07:40:33Z</dcterms:modified>
</cp:coreProperties>
</file>