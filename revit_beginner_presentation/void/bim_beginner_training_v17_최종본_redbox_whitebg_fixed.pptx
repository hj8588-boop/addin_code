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6"/>
  </p:notesMasterIdLst>
  <p:sldIdLst>
    <p:sldId id="256" r:id="rId2"/>
    <p:sldId id="288" r:id="rId3"/>
    <p:sldId id="307" r:id="rId4"/>
    <p:sldId id="289" r:id="rId5"/>
    <p:sldId id="260" r:id="rId6"/>
    <p:sldId id="313" r:id="rId7"/>
    <p:sldId id="261" r:id="rId8"/>
    <p:sldId id="262" r:id="rId9"/>
    <p:sldId id="263" r:id="rId10"/>
    <p:sldId id="276" r:id="rId11"/>
    <p:sldId id="277" r:id="rId12"/>
    <p:sldId id="290" r:id="rId13"/>
    <p:sldId id="1083" r:id="rId14"/>
    <p:sldId id="1090" r:id="rId15"/>
    <p:sldId id="1086" r:id="rId16"/>
    <p:sldId id="293" r:id="rId17"/>
    <p:sldId id="297" r:id="rId18"/>
    <p:sldId id="279" r:id="rId19"/>
    <p:sldId id="280" r:id="rId20"/>
    <p:sldId id="298" r:id="rId21"/>
    <p:sldId id="1088" r:id="rId22"/>
    <p:sldId id="1091" r:id="rId23"/>
    <p:sldId id="1092" r:id="rId24"/>
    <p:sldId id="1093" r:id="rId25"/>
    <p:sldId id="1089" r:id="rId26"/>
    <p:sldId id="311" r:id="rId27"/>
    <p:sldId id="1098" r:id="rId28"/>
    <p:sldId id="281" r:id="rId29"/>
    <p:sldId id="282" r:id="rId30"/>
    <p:sldId id="283" r:id="rId31"/>
    <p:sldId id="284" r:id="rId32"/>
    <p:sldId id="285" r:id="rId33"/>
    <p:sldId id="286" r:id="rId34"/>
    <p:sldId id="1094" r:id="rId35"/>
    <p:sldId id="1096" r:id="rId36"/>
    <p:sldId id="1095" r:id="rId37"/>
    <p:sldId id="305" r:id="rId38"/>
    <p:sldId id="309" r:id="rId39"/>
    <p:sldId id="1097" r:id="rId40"/>
    <p:sldId id="312" r:id="rId41"/>
    <p:sldId id="299" r:id="rId42"/>
    <p:sldId id="310" r:id="rId43"/>
    <p:sldId id="301" r:id="rId44"/>
    <p:sldId id="304" r:id="rId45"/>
    <p:sldId id="1101" r:id="rId46"/>
    <p:sldId id="1099" r:id="rId47"/>
    <p:sldId id="314" r:id="rId48"/>
    <p:sldId id="315" r:id="rId49"/>
    <p:sldId id="303" r:id="rId50"/>
    <p:sldId id="302" r:id="rId51"/>
    <p:sldId id="1084" r:id="rId52"/>
    <p:sldId id="1085" r:id="rId53"/>
    <p:sldId id="306" r:id="rId54"/>
    <p:sldId id="308" r:id="rId55"/>
    <p:sldId id="1078" r:id="rId56"/>
    <p:sldId id="1102" r:id="rId57"/>
    <p:sldId id="1103" r:id="rId58"/>
    <p:sldId id="1080" r:id="rId59"/>
    <p:sldId id="1082" r:id="rId60"/>
    <p:sldId id="316" r:id="rId61"/>
    <p:sldId id="1081" r:id="rId62"/>
    <p:sldId id="1104" r:id="rId63"/>
    <p:sldId id="1105" r:id="rId64"/>
    <p:sldId id="1087" r:id="rId65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4700"/>
    <a:srgbClr val="FFFAF4"/>
    <a:srgbClr val="6B47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보통 스타일 1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08" autoAdjust="0"/>
    <p:restoredTop sz="89091" autoAdjust="0"/>
  </p:normalViewPr>
  <p:slideViewPr>
    <p:cSldViewPr snapToGrid="0">
      <p:cViewPr varScale="1">
        <p:scale>
          <a:sx n="98" d="100"/>
          <a:sy n="98" d="100"/>
        </p:scale>
        <p:origin x="105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C002CC-47EE-4350-9D71-9659B7C03458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B510D-5399-49EF-A48E-8417D48994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0622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오늘 강의는 Revit을 처음 접하는 분들이 BIM 업무의 전체 흐름을 이해하는 것을 목표로 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단순히 버튼 위치를 외우는 수업이 아니라, 모델을 만들고 관리하고 납품하는 기본 흐름을 잡는 시간이라고 안내해 주세요.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건축·역사·전기공종 모델링 업무에서 Revit이 어떤 역할을 하는지 큰 그림부터 시작합니다.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목차의 앞부분은 </a:t>
            </a:r>
            <a:r>
              <a:rPr lang="ko-KR" altLang="en-US" sz="1200" dirty="0" err="1">
                <a:latin typeface="Malgun Gothic"/>
                <a:ea typeface="Malgun Gothic"/>
              </a:rPr>
              <a:t>Revit을</a:t>
            </a:r>
            <a:r>
              <a:rPr lang="ko-KR" altLang="en-US" sz="1200" dirty="0">
                <a:latin typeface="Malgun Gothic"/>
                <a:ea typeface="Malgun Gothic"/>
              </a:rPr>
              <a:t> 사용하기 위한 기본 개념과 화면 조작, 공동작업, 패밀리 작성까지의 흐름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초보자는 기능을 개별적으로 외우기 쉬우므로, 각 항목이 실제 프로젝트 업무 순서와 연결됨 </a:t>
            </a:r>
            <a:endParaRPr lang="en-US" altLang="ko-KR" sz="1200" dirty="0">
              <a:latin typeface="Malgun Gothic"/>
              <a:ea typeface="Malgun Gothic"/>
            </a:endParaRPr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오늘은 전체 과정을 훑고, 각 단계별로 실무에서 자주 실수하는 포인트를 같이 봄</a:t>
            </a:r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후반부는 모델을 만든 뒤 데이터를 입력하고, 물량을 산출하고, 납품 파일을 정리하고, 간섭검토까지 이어지는 과정입니다.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이 부분은 단순 모델링 이후 실제 BIM 성과품으로 연결되는 단계라고 설명해 주세요.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앞부분이 Revit 사용 준비라면, 뒷부분은 프로젝트 제출과 검토에 필요한 실무 절차입니다.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첫 번째 파트는 BIM 개념과 Revit의 역할입니다.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Revit을 3D 모델링 프로그램으로만 보면 기능 이해가 좁아지므로, 정보가 담긴 모델을 만들고 활용하는 도구라는 점을 강조해 주세요.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이 섹션에서는 왜 Revit을 쓰는지, 어떤 결과물로 이어지는지를 먼저 잡아줍니다.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 dirty="0" err="1">
                <a:latin typeface="Malgun Gothic"/>
                <a:ea typeface="Malgun Gothic"/>
              </a:rPr>
              <a:t>BIM의</a:t>
            </a:r>
            <a:r>
              <a:rPr lang="ko-KR" altLang="en-US" sz="1200" dirty="0">
                <a:latin typeface="Malgun Gothic"/>
                <a:ea typeface="Malgun Gothic"/>
              </a:rPr>
              <a:t> 핵심 가치는 3D 시각화, 간섭 검토, 정보 활용, 협업 가능성으로 정리할 수 있습니다.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3D 모델을 만들면 도면화, 수량산출, 속성정보 입력까지 이어진다는 점을 예시로 설명해 주세요.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최종 성과물이 RVT, NWC, NWD, IFC 등으로 확장된다는 점을 말하며 후반부 납품 파트와 연결합니다.</a:t>
            </a:r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 dirty="0" err="1">
                <a:latin typeface="Malgun Gothic"/>
                <a:ea typeface="Malgun Gothic"/>
              </a:rPr>
              <a:t>Revit을</a:t>
            </a:r>
            <a:r>
              <a:rPr lang="ko-KR" altLang="en-US" sz="1200" dirty="0">
                <a:latin typeface="Malgun Gothic"/>
                <a:ea typeface="Malgun Gothic"/>
              </a:rPr>
              <a:t> 영어 버전으로 바꾸는 이유는 실무 자료, 플러그인, 오류 메시지, 검색 결과가 영어 기준인 경우가 많기 때문입니다.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바로가기 속성에서 언어 코드를 수정하는 방식이므로, 파일 자체를 바꾸는 것이 아니라 실행 옵션을 바꾸는 절차라고 설명해 주세요.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초보자는 경로와 띄어쓰기를 잘못 수정하기 쉬우니 변경 전 원본 값을 확인하는 습관을 강조합니다.</a:t>
            </a:r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두 번째 파트는 Revit 인터페이스입니다.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처음에는 화면이 복잡해 보이지만, 리본 메뉴, 속성창, 프로젝트 브라우저, 작업 뷰로 나누어 보면 이해가 쉬워집니다.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이 섹션에서는 기능을 외우기보다 어디에서 찾아야 하는지 감을 잡는 데 초점을 둡니다.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화면을 큰 덩어리로 나누어 설명해 주세요. 위쪽은 명령을 실행하는 리본 메뉴, 좌측은 속성, 우측 또는 좌측 패널은 프로젝트 브라우저입니다.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프로젝트 브라우저에서는 도면, 뷰, 시트, 패밀리를 관리한다는 점을 강조합니다.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도면 작업 시 기본 뷰를 직접 수정하지 말고 복사해서 사용하는 습관을 초반부터 안내해 주세요.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리본 메뉴와 화면 하단의 뷰 제어 기능을 함께 설명하는 슬라이드입니다.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Detail Level, Visual Style, 뷰 자르기, 임시 숨기기 등은 화면 표시와 검토 효율에 직접 영향을 줍니다.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초보자는 객체가 사라졌다고 생각하기 쉬우므로, 숨김/분리, 링크 선택, 핀 객체 선택 같은 옵션을 꼭 확인하도록 안내합니다.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세 번째 파트는 공동작업입니다. Revit 프로젝트에서 여러 사람이 동시에 작업하려면 central file과 local file 개념이 반드시 필요합니다.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이 섹션에서는 중앙 파일을 만드는 것뿐 아니라, VBS로 로컬 파일을 생성하고 동기화하는 운영 습관까지 다룹니다.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중앙 파일을 직접 열어 작업하지 않는다는 원칙을 먼저 강조해 주세요.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10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Central file은 팀이 공유하는 기준 모델이고, local file은 각 작업자가 실제로 작업하는 개인 작업 파일입니다.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Workset은 작업 영역을 나누는 기준이고, Synchronize는 각자의 변경사항을 중앙 파일에 반영하는 과정입니다.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주의사항에서 가장 중요한 것은 중앙 파일 직접 작업 금지, 동일한 드라이브 경로 사용, 작업 전 로컬 파일 확인입니다.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11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Central File 생성 절차의 첫 부분입니다. 먼저 드라이브 경로를 정확히 설정하고 파일을 열어야 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공유 경로는 팀원 모두가 동일하게 접근 가능한 위치여야 한다는 점을 설명해 주세요.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저장 전후로 파일이 중앙 파일로 설정되는 흐름을 확인하도록 안내합니다.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12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Central File 생성 후에는 Sync 아이콘이 활성화되는지 확인합니다.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이 아이콘은 현재 파일이 공동작업 구조로 정상 설정되었는지 확인하는 중요한 기준입니다.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중앙 파일을 만든 다음에는 반드시 로컬 파일에서 작업해야 하며, 중앙 파일을 직접 열면 파일 잠김이나 동기화 충돌이 생길 수 있다고 강조합니다.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13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8A004-0FAD-A830-32B7-9D299957B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EEE4D2-15C4-EBE4-92EE-EBB49FD7C4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>
            <a:extLst>
              <a:ext uri="{FF2B5EF4-FFF2-40B4-BE49-F238E27FC236}">
                <a16:creationId xmlns:a16="http://schemas.microsoft.com/office/drawing/2014/main" id="{81CADFD9-B815-FB20-0832-7DBAE87231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추가 설명</a:t>
            </a:r>
            <a:endParaRPr lang="en-US" altLang="ko-KR" sz="1200" dirty="0">
              <a:latin typeface="Malgun Gothic"/>
              <a:ea typeface="Malgun Gothic"/>
            </a:endParaRPr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VBS 파일은 로컬 파일을 안정적으로 생성하기 위한 보조 실행 파일이라고 설명합니다.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센트럴 파일명과 VBS 파일명을 동일하게 맞추면 작업자가 헷갈리지 않고 사용할 수 있습니다.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로컬 드라이브 경로 설정이 잘못되면 개인 작업 파일이 엉뚱한 위치에 생길 수 있으므로 주의해야 합니다.</a:t>
            </a:r>
            <a:endParaRPr lang="ko-KR" altLang="en-US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D03588-734A-7B26-C82E-54287FEDD0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42788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VBS 파일은 로컬 파일을 안정적으로 생성하기 위한 보조 실행 파일이라고 설명합니다.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센트럴 파일명과 VBS 파일명을 동일하게 맞추면 작업자가 헷갈리지 않고 사용할 수 있습니다.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로컬 드라이브 경로 설정이 잘못되면 개인 작업 파일이 엉뚱한 위치에 생길 수 있으므로 주의해야 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15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Workset은 공종별 또는 작업자별로 작업 영역을 구분하기 위한 기준입니다.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예시처럼 공종명과 작업자 이름을 조합하면 누가 어떤 영역을 작업하는지 파악하기 쉽습니다.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Editable은 NO, Opened는 YES로 두는 운영 방식을 설명하고, 권한을 독점하지 않는 것이 협업에 유리하다고 안내합니다.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16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추가 설명</a:t>
            </a:r>
            <a:endParaRPr lang="en-US" altLang="ko-KR" sz="1200" dirty="0">
              <a:latin typeface="Malgun Gothic"/>
              <a:ea typeface="Malgun Gothic"/>
            </a:endParaRPr>
          </a:p>
          <a:p>
            <a:pPr marL="0" indent="0">
              <a:defRPr sz="1200"/>
            </a:pPr>
            <a:r>
              <a:rPr lang="ko-KR" altLang="en-US" sz="1200" dirty="0" err="1">
                <a:latin typeface="Malgun Gothic"/>
                <a:ea typeface="Malgun Gothic"/>
              </a:rPr>
              <a:t>Synchronize는</a:t>
            </a:r>
            <a:r>
              <a:rPr lang="ko-KR" altLang="en-US" sz="1200" dirty="0">
                <a:latin typeface="Malgun Gothic"/>
                <a:ea typeface="Malgun Gothic"/>
              </a:rPr>
              <a:t> 공동작업에서 저장 이상의 의미를 갖습니다. 내 변경사항을 중앙 파일에 반영하고 다른 사람의 변경사항도 가져오는 과정입니다.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30분에서 2시간 정도의 주기로 동기화하는 습관을 권장한다고 설명해 주세요.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동기화 전에는 권한 포기 </a:t>
            </a:r>
            <a:r>
              <a:rPr lang="ko-KR" altLang="en-US" sz="1200" dirty="0" err="1">
                <a:latin typeface="Malgun Gothic"/>
                <a:ea typeface="Malgun Gothic"/>
              </a:rPr>
              <a:t>relinquish를</a:t>
            </a:r>
            <a:r>
              <a:rPr lang="ko-KR" altLang="en-US" sz="1200" dirty="0">
                <a:latin typeface="Malgun Gothic"/>
                <a:ea typeface="Malgun Gothic"/>
              </a:rPr>
              <a:t> 확인해야 다른 작업자가 같은 요소를 편집할 수 있습니다.</a:t>
            </a:r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17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네 번째 파트는 패밀리 작성입니다.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Revit에서 패밀리는 반복적으로 사용하는 객체의 기본 단위라고 설명해 주세요.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이번 섹션에서는 패밀리 작성 순서와 파라미터를 어떻게 구분하는지에 초점을 둡니다.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18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패밀리 작성은 템플릿 선택, 기준면 설정, 형상 작성, 파라미터 입력 순서로 진행하면 이해하기 쉽습니다.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초보자는 형상부터 만들려고 하지만, 기준면과 기준선을 먼저 잡아야 나중에 치수와 파라미터가 안정적으로 작동합니다.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Instance parameter와 Type parameter의 차이는 프로젝트에 로드한 뒤 테스트하면서 다시 확인시키면 좋습니다.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19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이 슬라이드는 실제 작성할 패밀리 예시를 보여주는 실습 안내입니다.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전등, </a:t>
            </a:r>
            <a:r>
              <a:rPr lang="ko-KR" altLang="en-US" sz="1200" dirty="0" err="1">
                <a:latin typeface="Malgun Gothic"/>
                <a:ea typeface="Malgun Gothic"/>
              </a:rPr>
              <a:t>저압반</a:t>
            </a:r>
            <a:r>
              <a:rPr lang="ko-KR" altLang="en-US" sz="1200" dirty="0">
                <a:latin typeface="Malgun Gothic"/>
                <a:ea typeface="Malgun Gothic"/>
              </a:rPr>
              <a:t>, </a:t>
            </a:r>
            <a:r>
              <a:rPr lang="ko-KR" altLang="en-US" sz="1200" dirty="0" err="1">
                <a:latin typeface="Malgun Gothic"/>
                <a:ea typeface="Malgun Gothic"/>
              </a:rPr>
              <a:t>특고압반처럼</a:t>
            </a:r>
            <a:r>
              <a:rPr lang="ko-KR" altLang="en-US" sz="1200" dirty="0">
                <a:latin typeface="Malgun Gothic"/>
                <a:ea typeface="Malgun Gothic"/>
              </a:rPr>
              <a:t> 객체마다 기준선과 기준점이 다를 수 있음을 설명해 주세요.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패밀리명과 타입명은 나중에 물량산출과 속성정보 관리에 영향을 주므로, 처음부터 규칙을 맞추는 것이 중요합니다.</a:t>
            </a:r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20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1DB16-440A-1720-8A14-AE1B663D8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C47E2F-D5A3-7E06-3B69-D5A7B50BC5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>
            <a:extLst>
              <a:ext uri="{FF2B5EF4-FFF2-40B4-BE49-F238E27FC236}">
                <a16:creationId xmlns:a16="http://schemas.microsoft.com/office/drawing/2014/main" id="{3B5DC7F8-5E00-412B-BE01-2776988F6F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이 슬라이드는 실제 작성할 패밀리 예시를 보여주는 실습 안내입니다.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전등, 저압반, 특고압반처럼 객체마다 기준선과 기준점이 다를 수 있음을 설명해 주세요.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패밀리명과 타입명은 나중에 물량산출과 속성정보 관리에 영향을 주므로, 처음부터 규칙을 맞추는 것이 중요합니다.</a:t>
            </a:r>
            <a:endParaRPr lang="ko-KR" altLang="en-US" sz="12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D7835B-76D7-88B5-AB51-2754D7FB27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86880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416F0-77A8-ADDB-027B-F3B34DEDB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F750CC-D0E3-E915-9969-4CBF679F2A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>
            <a:extLst>
              <a:ext uri="{FF2B5EF4-FFF2-40B4-BE49-F238E27FC236}">
                <a16:creationId xmlns:a16="http://schemas.microsoft.com/office/drawing/2014/main" id="{1BAC99F5-A708-93E8-1132-D4DFD40901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이 슬라이드는 실제 작성할 패밀리 예시를 보여주는 실습 안내입니다.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전등, </a:t>
            </a:r>
            <a:r>
              <a:rPr lang="ko-KR" altLang="en-US" sz="1200" dirty="0" err="1">
                <a:latin typeface="Malgun Gothic"/>
                <a:ea typeface="Malgun Gothic"/>
              </a:rPr>
              <a:t>저압반</a:t>
            </a:r>
            <a:r>
              <a:rPr lang="ko-KR" altLang="en-US" sz="1200" dirty="0">
                <a:latin typeface="Malgun Gothic"/>
                <a:ea typeface="Malgun Gothic"/>
              </a:rPr>
              <a:t>, </a:t>
            </a:r>
            <a:r>
              <a:rPr lang="ko-KR" altLang="en-US" sz="1200" dirty="0" err="1">
                <a:latin typeface="Malgun Gothic"/>
                <a:ea typeface="Malgun Gothic"/>
              </a:rPr>
              <a:t>특고압반처럼</a:t>
            </a:r>
            <a:r>
              <a:rPr lang="ko-KR" altLang="en-US" sz="1200" dirty="0">
                <a:latin typeface="Malgun Gothic"/>
                <a:ea typeface="Malgun Gothic"/>
              </a:rPr>
              <a:t> 객체마다 기준선과 기준점이 다를 수 있음을 설명해 주세요.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패밀리명과 타입명은 나중에 물량산출과 속성정보 관리에 영향을 주므로, 처음부터 규칙을 맞추는 것이 중요합니다.</a:t>
            </a:r>
            <a:endParaRPr lang="ko-KR" altLang="en-US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4854A6-A881-BDB8-2ABC-C2DDD13458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10945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253E1-1AC6-26BE-33A6-092D23699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482D839-6CB8-3FEE-521A-E0065249F8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>
            <a:extLst>
              <a:ext uri="{FF2B5EF4-FFF2-40B4-BE49-F238E27FC236}">
                <a16:creationId xmlns:a16="http://schemas.microsoft.com/office/drawing/2014/main" id="{C3BE22C4-DCD7-9B5B-36E7-CD9C954EB5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이 슬라이드는 실제 작성할 패밀리 예시를 보여주는 실습 안내입니다.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전등, </a:t>
            </a:r>
            <a:r>
              <a:rPr lang="ko-KR" altLang="en-US" sz="1200" dirty="0" err="1">
                <a:latin typeface="Malgun Gothic"/>
                <a:ea typeface="Malgun Gothic"/>
              </a:rPr>
              <a:t>저압반</a:t>
            </a:r>
            <a:r>
              <a:rPr lang="ko-KR" altLang="en-US" sz="1200" dirty="0">
                <a:latin typeface="Malgun Gothic"/>
                <a:ea typeface="Malgun Gothic"/>
              </a:rPr>
              <a:t>, </a:t>
            </a:r>
            <a:r>
              <a:rPr lang="ko-KR" altLang="en-US" sz="1200" dirty="0" err="1">
                <a:latin typeface="Malgun Gothic"/>
                <a:ea typeface="Malgun Gothic"/>
              </a:rPr>
              <a:t>특고압반처럼</a:t>
            </a:r>
            <a:r>
              <a:rPr lang="ko-KR" altLang="en-US" sz="1200" dirty="0">
                <a:latin typeface="Malgun Gothic"/>
                <a:ea typeface="Malgun Gothic"/>
              </a:rPr>
              <a:t> 객체마다 기준선과 기준점이 다를 수 있음을 설명해 주세요.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패밀리명과 타입명은 나중에 물량산출과 속성정보 관리에 영향을 주므로, 처음부터 규칙을 맞추는 것이 중요합니다.</a:t>
            </a:r>
            <a:endParaRPr lang="ko-KR" altLang="en-US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5605AB-79E5-3A7B-2011-E3D02E60C4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7062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B8616-8E15-4A2B-C8BE-A1ADDF837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A17CB04-61AB-59F2-3E60-76C36C3367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>
            <a:extLst>
              <a:ext uri="{FF2B5EF4-FFF2-40B4-BE49-F238E27FC236}">
                <a16:creationId xmlns:a16="http://schemas.microsoft.com/office/drawing/2014/main" id="{B93EB1D4-E871-7BF9-316D-07BF913BFC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이 슬라이드는 실제 작성할 패밀리 예시를 보여주는 실습 안내입니다.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전등, </a:t>
            </a:r>
            <a:r>
              <a:rPr lang="ko-KR" altLang="en-US" sz="1200" dirty="0" err="1">
                <a:latin typeface="Malgun Gothic"/>
                <a:ea typeface="Malgun Gothic"/>
              </a:rPr>
              <a:t>저압반</a:t>
            </a:r>
            <a:r>
              <a:rPr lang="ko-KR" altLang="en-US" sz="1200" dirty="0">
                <a:latin typeface="Malgun Gothic"/>
                <a:ea typeface="Malgun Gothic"/>
              </a:rPr>
              <a:t>, </a:t>
            </a:r>
            <a:r>
              <a:rPr lang="ko-KR" altLang="en-US" sz="1200" dirty="0" err="1">
                <a:latin typeface="Malgun Gothic"/>
                <a:ea typeface="Malgun Gothic"/>
              </a:rPr>
              <a:t>특고압반처럼</a:t>
            </a:r>
            <a:r>
              <a:rPr lang="ko-KR" altLang="en-US" sz="1200" dirty="0">
                <a:latin typeface="Malgun Gothic"/>
                <a:ea typeface="Malgun Gothic"/>
              </a:rPr>
              <a:t> 객체마다 기준선과 기준점이 다를 수 있음을 설명해 주세요.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패밀리명과 타입명은 나중에 물량산출과 속성정보 관리에 영향을 주므로, 처음부터 규칙을 맞추는 것이 중요합니다.</a:t>
            </a:r>
            <a:endParaRPr lang="ko-KR" altLang="en-US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36A5BA-8EB8-DF08-1BEE-8B50CC0B5A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58143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AD4E3-FC21-DF35-457A-BCA05FDC1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A90116-A040-03F5-0561-E62A3EE1F0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>
            <a:extLst>
              <a:ext uri="{FF2B5EF4-FFF2-40B4-BE49-F238E27FC236}">
                <a16:creationId xmlns:a16="http://schemas.microsoft.com/office/drawing/2014/main" id="{F2E72822-DD5A-C24B-67E7-86DA4B81CE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en-US" altLang="ko-KR" sz="1200" dirty="0">
                <a:latin typeface="Malgun Gothic"/>
                <a:ea typeface="Malgun Gothic"/>
              </a:rPr>
              <a:t>Extrusion,</a:t>
            </a:r>
            <a:r>
              <a:rPr lang="ko-KR" altLang="en-US" sz="1200" dirty="0">
                <a:latin typeface="Malgun Gothic"/>
                <a:ea typeface="Malgun Gothic"/>
              </a:rPr>
              <a:t> </a:t>
            </a:r>
            <a:r>
              <a:rPr lang="en-US" altLang="ko-KR" sz="1200" dirty="0">
                <a:latin typeface="Malgun Gothic"/>
                <a:ea typeface="Malgun Gothic"/>
              </a:rPr>
              <a:t>sweep</a:t>
            </a:r>
            <a:r>
              <a:rPr lang="ko-KR" altLang="en-US" sz="1200" dirty="0">
                <a:latin typeface="Malgun Gothic"/>
                <a:ea typeface="Malgun Gothic"/>
              </a:rPr>
              <a:t>등 여러가지 기능 실습해보기</a:t>
            </a:r>
            <a:endParaRPr lang="en-US" altLang="ko-KR" sz="1200" dirty="0">
              <a:latin typeface="Malgun Gothic"/>
              <a:ea typeface="Malgun Gothic"/>
            </a:endParaRPr>
          </a:p>
          <a:p>
            <a:pPr marL="0" indent="0">
              <a:defRPr sz="1200"/>
            </a:pPr>
            <a:endParaRPr lang="ko-KR" altLang="en-US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FE8835-B1A5-E2DF-FD9B-9AB6EACE1F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72659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여기서는 재질 입력과 테스트까지 포함한 패밀리 작성 흐름을 다시 정리합니다.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형상이 완성된 뒤에는 재질, 파라미터, 타입별 치수가 제대로 적용되는지 확인해야 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프로젝트에 로드한 후 실제 뷰에서 보이는 방식까지 검토해야 실무에서 사용할 수 있습니다.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26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65D98-9B1D-368C-578C-7A7BB1BCC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D71EA0-9118-CA75-9F8C-23E0E11FBD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>
            <a:extLst>
              <a:ext uri="{FF2B5EF4-FFF2-40B4-BE49-F238E27FC236}">
                <a16:creationId xmlns:a16="http://schemas.microsoft.com/office/drawing/2014/main" id="{1B7166C4-123E-02D4-5EF9-DF7746FC6A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 dirty="0"/>
              <a:t>추가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8843B4-604A-1386-E741-D8ED3397F8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37225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다섯 번째 파트는 Revit과 CAD 링크 파일 불러오기입니다.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링크는 외부 파일을 참조하는 방식이므로, 삽입과 다르게 원본 관리가 중요하다고 설명해 주세요.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좌표 기준을 잘못 선택하면 모델 위치가 틀어질 수 있으므로 이 섹션에서는 좌표 개념을 함께 강조합니다.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28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 dirty="0" err="1">
                <a:latin typeface="Malgun Gothic"/>
                <a:ea typeface="Malgun Gothic"/>
              </a:rPr>
              <a:t>Revit</a:t>
            </a:r>
            <a:r>
              <a:rPr lang="ko-KR" altLang="en-US" sz="1200" dirty="0">
                <a:latin typeface="Malgun Gothic"/>
                <a:ea typeface="Malgun Gothic"/>
              </a:rPr>
              <a:t> 링크와 CAD 링크는 목적이 다릅니다. </a:t>
            </a:r>
            <a:r>
              <a:rPr lang="ko-KR" altLang="en-US" sz="1200" dirty="0" err="1">
                <a:latin typeface="Malgun Gothic"/>
                <a:ea typeface="Malgun Gothic"/>
              </a:rPr>
              <a:t>Revit</a:t>
            </a:r>
            <a:r>
              <a:rPr lang="ko-KR" altLang="en-US" sz="1200" dirty="0">
                <a:latin typeface="Malgun Gothic"/>
                <a:ea typeface="Malgun Gothic"/>
              </a:rPr>
              <a:t> 링크는 모델 참조, CAD 링크는 2D 도면 기준으로 활용하는 경우가 많습니다.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Auto - </a:t>
            </a:r>
            <a:r>
              <a:rPr lang="ko-KR" altLang="en-US" sz="1200" dirty="0" err="1">
                <a:latin typeface="Malgun Gothic"/>
                <a:ea typeface="Malgun Gothic"/>
              </a:rPr>
              <a:t>Center</a:t>
            </a:r>
            <a:r>
              <a:rPr lang="ko-KR" altLang="en-US" sz="1200" dirty="0">
                <a:latin typeface="Malgun Gothic"/>
                <a:ea typeface="Malgun Gothic"/>
              </a:rPr>
              <a:t> </a:t>
            </a:r>
            <a:r>
              <a:rPr lang="ko-KR" altLang="en-US" sz="1200" dirty="0" err="1">
                <a:latin typeface="Malgun Gothic"/>
                <a:ea typeface="Malgun Gothic"/>
              </a:rPr>
              <a:t>to</a:t>
            </a:r>
            <a:r>
              <a:rPr lang="ko-KR" altLang="en-US" sz="1200" dirty="0">
                <a:latin typeface="Malgun Gothic"/>
                <a:ea typeface="Malgun Gothic"/>
              </a:rPr>
              <a:t> </a:t>
            </a:r>
            <a:r>
              <a:rPr lang="ko-KR" altLang="en-US" sz="1200" dirty="0" err="1">
                <a:latin typeface="Malgun Gothic"/>
                <a:ea typeface="Malgun Gothic"/>
              </a:rPr>
              <a:t>Center는</a:t>
            </a:r>
            <a:r>
              <a:rPr lang="ko-KR" altLang="en-US" sz="1200" dirty="0">
                <a:latin typeface="Malgun Gothic"/>
                <a:ea typeface="Malgun Gothic"/>
              </a:rPr>
              <a:t> 편하지만 실무 좌표 관리에는 한계가 있으므로, 내부 원점과 공유 좌표 기준도 함께 설명합니다.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CAD 파일은 </a:t>
            </a:r>
            <a:r>
              <a:rPr lang="ko-KR" altLang="en-US" sz="1200" dirty="0" err="1">
                <a:latin typeface="Malgun Gothic"/>
                <a:ea typeface="Malgun Gothic"/>
              </a:rPr>
              <a:t>wblock으로</a:t>
            </a:r>
            <a:r>
              <a:rPr lang="ko-KR" altLang="en-US" sz="1200" dirty="0">
                <a:latin typeface="Malgun Gothic"/>
                <a:ea typeface="Malgun Gothic"/>
              </a:rPr>
              <a:t> 정리하고, 파일명은 위치와 용도를 알 수 있게 지정하는 것이 좋습니다.</a:t>
            </a:r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29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여섯 번째 파트는 트레이 작성입니다.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전기·통신 모델링에서 트레이는 경로와 연결 상태가 중요하므로, 단순히 그리는 것보다 시스템 연결을 확인하는 과정이 필요합니다.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다음 슬라이드에서는 작성 순서와 명칭 기준을 중심으로 설명합니다.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30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슬라이드 수정</a:t>
            </a:r>
            <a:endParaRPr lang="en-US" altLang="ko-KR" sz="1200" dirty="0">
              <a:latin typeface="Malgun Gothic"/>
              <a:ea typeface="Malgun Gothic"/>
            </a:endParaRPr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패밀리 프로젝트 로드 알려주기</a:t>
            </a:r>
            <a:endParaRPr lang="en-US" altLang="ko-KR" sz="1200" dirty="0">
              <a:latin typeface="Malgun Gothic"/>
              <a:ea typeface="Malgun Gothic"/>
            </a:endParaRPr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케이블 트레이 모델링 높이 </a:t>
            </a:r>
            <a:r>
              <a:rPr lang="en-US" altLang="ko-KR" sz="1200" dirty="0">
                <a:latin typeface="Malgun Gothic"/>
                <a:ea typeface="Malgun Gothic"/>
              </a:rPr>
              <a:t>3500 </a:t>
            </a:r>
            <a:r>
              <a:rPr lang="ko-KR" altLang="en-US" sz="1200" dirty="0">
                <a:latin typeface="Malgun Gothic"/>
                <a:ea typeface="Malgun Gothic"/>
              </a:rPr>
              <a:t>사이즈 </a:t>
            </a:r>
            <a:r>
              <a:rPr lang="en-US" altLang="ko-KR" sz="1200" dirty="0">
                <a:latin typeface="Malgun Gothic"/>
                <a:ea typeface="Malgun Gothic"/>
              </a:rPr>
              <a:t>500x100</a:t>
            </a:r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조명까지 모델링</a:t>
            </a:r>
            <a:endParaRPr lang="en-US" altLang="ko-KR" sz="1200" dirty="0">
              <a:latin typeface="Malgun Gothic"/>
              <a:ea typeface="Malgun Gothic"/>
            </a:endParaRPr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트레이는 시스템 탭에서 작성하고, 폭과 높이 규격을 먼저 확인한 뒤 경로를 따라 작성합니다.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없는 규격은 추가해야 하며, 건축전기 케이블 작성 시 무리하게 </a:t>
            </a:r>
            <a:r>
              <a:rPr lang="ko-KR" altLang="en-US" sz="1200" dirty="0" err="1">
                <a:latin typeface="Malgun Gothic"/>
                <a:ea typeface="Malgun Gothic"/>
              </a:rPr>
              <a:t>드래그하면</a:t>
            </a:r>
            <a:r>
              <a:rPr lang="ko-KR" altLang="en-US" sz="1200" dirty="0">
                <a:latin typeface="Malgun Gothic"/>
                <a:ea typeface="Malgun Gothic"/>
              </a:rPr>
              <a:t> 경사가 생길 수 있다는 점을 주의시켜 주세요.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작성 후에는 연결 부속과 </a:t>
            </a:r>
            <a:r>
              <a:rPr lang="ko-KR" altLang="en-US" sz="1200" dirty="0" err="1">
                <a:latin typeface="Malgun Gothic"/>
                <a:ea typeface="Malgun Gothic"/>
              </a:rPr>
              <a:t>Analyze</a:t>
            </a:r>
            <a:r>
              <a:rPr lang="ko-KR" altLang="en-US" sz="1200" dirty="0">
                <a:latin typeface="Malgun Gothic"/>
                <a:ea typeface="Malgun Gothic"/>
              </a:rPr>
              <a:t> 상태를 확인하여 모델이 끊기지 않았는지 점검합니다.</a:t>
            </a:r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31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일곱 번째 파트는 가시성 설정입니다.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 err="1">
                <a:latin typeface="Malgun Gothic"/>
                <a:ea typeface="Malgun Gothic"/>
              </a:rPr>
              <a:t>Filter와</a:t>
            </a:r>
            <a:r>
              <a:rPr lang="ko-KR" altLang="en-US" sz="1200" dirty="0">
                <a:latin typeface="Malgun Gothic"/>
                <a:ea typeface="Malgun Gothic"/>
              </a:rPr>
              <a:t> </a:t>
            </a:r>
            <a:r>
              <a:rPr lang="ko-KR" altLang="en-US" sz="1200" dirty="0" err="1">
                <a:latin typeface="Malgun Gothic"/>
                <a:ea typeface="Malgun Gothic"/>
              </a:rPr>
              <a:t>View</a:t>
            </a:r>
            <a:r>
              <a:rPr lang="ko-KR" altLang="en-US" sz="1200" dirty="0">
                <a:latin typeface="Malgun Gothic"/>
                <a:ea typeface="Malgun Gothic"/>
              </a:rPr>
              <a:t> </a:t>
            </a:r>
            <a:r>
              <a:rPr lang="ko-KR" altLang="en-US" sz="1200" dirty="0" err="1">
                <a:latin typeface="Malgun Gothic"/>
                <a:ea typeface="Malgun Gothic"/>
              </a:rPr>
              <a:t>Template은</a:t>
            </a:r>
            <a:r>
              <a:rPr lang="ko-KR" altLang="en-US" sz="1200" dirty="0">
                <a:latin typeface="Malgun Gothic"/>
                <a:ea typeface="Malgun Gothic"/>
              </a:rPr>
              <a:t> 모델을 보기 좋게 만드는 기능이 아니라, 검토와 작업 효율을 높이는 기본 설정입니다.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객체가 많아질수록 보기 설정이 </a:t>
            </a:r>
            <a:r>
              <a:rPr lang="ko-KR" altLang="en-US" sz="1200" dirty="0" err="1">
                <a:latin typeface="Malgun Gothic"/>
                <a:ea typeface="Malgun Gothic"/>
              </a:rPr>
              <a:t>중요해지므로</a:t>
            </a:r>
            <a:r>
              <a:rPr lang="ko-KR" altLang="en-US" sz="1200" dirty="0">
                <a:latin typeface="Malgun Gothic"/>
                <a:ea typeface="Malgun Gothic"/>
              </a:rPr>
              <a:t> 초보자에게 반드시 습관화해야 합니다.</a:t>
            </a:r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32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Filter는 원하는 객체를 색상이나 선 스타일로 구별하는 데 사용합니다.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View Template은 뷰 설정을 반복 적용할 수 있어 여러 도면의 표현을 통일하는 데 유용합니다.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View Range는 평면도에서 어떤 높이 범위의 객체가 보이는지를 결정하므로, 객체가 안 보일 때 먼저 확인해야 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33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8B4AF-00D6-4CB8-D39C-8C09A283D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B1A05C3-757C-3C04-0AA7-3C923290A9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>
            <a:extLst>
              <a:ext uri="{FF2B5EF4-FFF2-40B4-BE49-F238E27FC236}">
                <a16:creationId xmlns:a16="http://schemas.microsoft.com/office/drawing/2014/main" id="{1EE4D201-5BCF-0D21-592C-183ADF6F52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이 슬라이드는 실제 작성할 패밀리 예시를 보여주는 실습 안내입니다.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전등, </a:t>
            </a:r>
            <a:r>
              <a:rPr lang="ko-KR" altLang="en-US" sz="1200" dirty="0" err="1">
                <a:latin typeface="Malgun Gothic"/>
                <a:ea typeface="Malgun Gothic"/>
              </a:rPr>
              <a:t>저압반</a:t>
            </a:r>
            <a:r>
              <a:rPr lang="ko-KR" altLang="en-US" sz="1200" dirty="0">
                <a:latin typeface="Malgun Gothic"/>
                <a:ea typeface="Malgun Gothic"/>
              </a:rPr>
              <a:t>, </a:t>
            </a:r>
            <a:r>
              <a:rPr lang="ko-KR" altLang="en-US" sz="1200" dirty="0" err="1">
                <a:latin typeface="Malgun Gothic"/>
                <a:ea typeface="Malgun Gothic"/>
              </a:rPr>
              <a:t>특고압반처럼</a:t>
            </a:r>
            <a:r>
              <a:rPr lang="ko-KR" altLang="en-US" sz="1200" dirty="0">
                <a:latin typeface="Malgun Gothic"/>
                <a:ea typeface="Malgun Gothic"/>
              </a:rPr>
              <a:t> 객체마다 기준선과 기준점이 다를 수 있음을 설명해 주세요.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패밀리명과 타입명은 나중에 물량산출과 속성정보 관리에 영향을 주므로, 처음부터 규칙을 맞추는 것이 중요합니다.</a:t>
            </a:r>
            <a:endParaRPr lang="ko-KR" altLang="en-US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128282-212A-4F7A-00F4-D14A7BFC1A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690650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03CCE-AAA3-39A5-4BE0-D63CD98DC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2E4419-FB0F-16BA-769F-024B8A3575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>
            <a:extLst>
              <a:ext uri="{FF2B5EF4-FFF2-40B4-BE49-F238E27FC236}">
                <a16:creationId xmlns:a16="http://schemas.microsoft.com/office/drawing/2014/main" id="{B7A5868E-E7F1-8746-95A0-7968EC6F85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이 슬라이드는 실제 작성할 패밀리 예시를 보여주는 실습 안내입니다.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전등, </a:t>
            </a:r>
            <a:r>
              <a:rPr lang="ko-KR" altLang="en-US" sz="1200" dirty="0" err="1">
                <a:latin typeface="Malgun Gothic"/>
                <a:ea typeface="Malgun Gothic"/>
              </a:rPr>
              <a:t>저압반</a:t>
            </a:r>
            <a:r>
              <a:rPr lang="ko-KR" altLang="en-US" sz="1200" dirty="0">
                <a:latin typeface="Malgun Gothic"/>
                <a:ea typeface="Malgun Gothic"/>
              </a:rPr>
              <a:t>, </a:t>
            </a:r>
            <a:r>
              <a:rPr lang="ko-KR" altLang="en-US" sz="1200" dirty="0" err="1">
                <a:latin typeface="Malgun Gothic"/>
                <a:ea typeface="Malgun Gothic"/>
              </a:rPr>
              <a:t>특고압반처럼</a:t>
            </a:r>
            <a:r>
              <a:rPr lang="ko-KR" altLang="en-US" sz="1200" dirty="0">
                <a:latin typeface="Malgun Gothic"/>
                <a:ea typeface="Malgun Gothic"/>
              </a:rPr>
              <a:t> 객체마다 기준선과 기준점이 다를 수 있음을 설명해 주세요.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패밀리명과 타입명은 나중에 물량산출과 속성정보 관리에 영향을 주므로, 처음부터 규칙을 맞추는 것이 중요합니다.</a:t>
            </a:r>
            <a:endParaRPr lang="ko-KR" altLang="en-US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5060B2-DE63-8B95-18E1-02DA356283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060779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987BE-96B6-3FCC-5A96-770664BEE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30C90F-E22D-CD52-FE43-BB7602AEC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>
            <a:extLst>
              <a:ext uri="{FF2B5EF4-FFF2-40B4-BE49-F238E27FC236}">
                <a16:creationId xmlns:a16="http://schemas.microsoft.com/office/drawing/2014/main" id="{A3A9E24A-271B-54C2-F853-A1F0283DDF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이 슬라이드는 실제 작성할 패밀리 예시를 보여주는 실습 안내입니다.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전등, </a:t>
            </a:r>
            <a:r>
              <a:rPr lang="ko-KR" altLang="en-US" sz="1200" dirty="0" err="1">
                <a:latin typeface="Malgun Gothic"/>
                <a:ea typeface="Malgun Gothic"/>
              </a:rPr>
              <a:t>저압반</a:t>
            </a:r>
            <a:r>
              <a:rPr lang="ko-KR" altLang="en-US" sz="1200" dirty="0">
                <a:latin typeface="Malgun Gothic"/>
                <a:ea typeface="Malgun Gothic"/>
              </a:rPr>
              <a:t>, </a:t>
            </a:r>
            <a:r>
              <a:rPr lang="ko-KR" altLang="en-US" sz="1200" dirty="0" err="1">
                <a:latin typeface="Malgun Gothic"/>
                <a:ea typeface="Malgun Gothic"/>
              </a:rPr>
              <a:t>특고압반처럼</a:t>
            </a:r>
            <a:r>
              <a:rPr lang="ko-KR" altLang="en-US" sz="1200" dirty="0">
                <a:latin typeface="Malgun Gothic"/>
                <a:ea typeface="Malgun Gothic"/>
              </a:rPr>
              <a:t> 객체마다 기준선과 기준점이 다를 수 있음을 설명해 주세요.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패밀리명과 타입명은 나중에 물량산출과 속성정보 관리에 영향을 주므로, 처음부터 규칙을 맞추는 것이 중요합니다.</a:t>
            </a:r>
            <a:endParaRPr lang="ko-KR" altLang="en-US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BA1A2B-02DD-F81E-9373-A70BCF7F29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355789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여덟 번째 파트는 속성정보 입력입니다.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BIM 모델은 형상만 있는 3D 모델이 아니라, 객체별 정보가 들어간 데이터 모델이라는 점을 강조해 주세요.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속성정보는 후속 물량산출, 납품, IFC 변환과 연결됩니다.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37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 dirty="0" err="1">
                <a:latin typeface="Malgun Gothic"/>
                <a:ea typeface="Malgun Gothic"/>
              </a:rPr>
              <a:t>Parameter는</a:t>
            </a:r>
            <a:r>
              <a:rPr lang="ko-KR" altLang="en-US" sz="1200" dirty="0">
                <a:latin typeface="Malgun Gothic"/>
                <a:ea typeface="Malgun Gothic"/>
              </a:rPr>
              <a:t> 객체 정보를 관리하는 핵심입니다.</a:t>
            </a:r>
            <a:endParaRPr lang="ko-KR" altLang="en-US" sz="1200" dirty="0"/>
          </a:p>
          <a:p>
            <a:pPr marL="0" indent="0">
              <a:defRPr sz="1200"/>
            </a:pPr>
            <a:endParaRPr lang="en-US" altLang="ko-KR" sz="1200" dirty="0">
              <a:latin typeface="Malgun Gothic"/>
              <a:ea typeface="Malgun Gothic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pPr>
            <a:r>
              <a:rPr lang="ko-KR" altLang="en-US" sz="1200" dirty="0"/>
              <a:t>프로젝트 파라미터</a:t>
            </a:r>
            <a:endParaRPr lang="en-US" altLang="ko-KR" sz="1200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pPr>
            <a:r>
              <a:rPr lang="en-US" altLang="ko-KR" sz="1200" dirty="0"/>
              <a:t>- </a:t>
            </a:r>
            <a:r>
              <a:rPr lang="ko-KR" altLang="en-US" sz="1200" dirty="0"/>
              <a:t>프로젝트 정보 관리로 쓰임 </a:t>
            </a:r>
            <a:r>
              <a:rPr lang="en-US" altLang="ko-KR" sz="1200" dirty="0"/>
              <a:t>ex. </a:t>
            </a:r>
            <a:r>
              <a:rPr lang="ko-KR" altLang="en-US" sz="1200" dirty="0"/>
              <a:t>객체 버전</a:t>
            </a:r>
            <a:r>
              <a:rPr lang="en-US" altLang="ko-KR" sz="1200" dirty="0"/>
              <a:t>, </a:t>
            </a:r>
            <a:r>
              <a:rPr lang="ko-KR" altLang="en-US" sz="1200" dirty="0"/>
              <a:t>기준점</a:t>
            </a:r>
            <a:r>
              <a:rPr lang="en-US" altLang="ko-KR" sz="1200" dirty="0"/>
              <a:t>, </a:t>
            </a:r>
            <a:r>
              <a:rPr lang="ko-KR" altLang="en-US" sz="1200" dirty="0"/>
              <a:t>구조물 위치</a:t>
            </a:r>
            <a:r>
              <a:rPr lang="en-US" altLang="ko-KR" sz="1200" dirty="0"/>
              <a:t>, </a:t>
            </a:r>
            <a:r>
              <a:rPr lang="ko-KR" altLang="en-US" sz="1200" dirty="0"/>
              <a:t>공정 시작일</a:t>
            </a:r>
            <a:r>
              <a:rPr lang="en-US" altLang="ko-KR" sz="1200" dirty="0"/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pPr>
            <a:r>
              <a:rPr lang="en-US" altLang="ko-KR" sz="1200" dirty="0"/>
              <a:t>- </a:t>
            </a:r>
            <a:r>
              <a:rPr lang="ko-KR" altLang="en-US" sz="1200" dirty="0"/>
              <a:t>현재 프로젝트에서만 쓰이는 </a:t>
            </a:r>
            <a:r>
              <a:rPr lang="ko-KR" altLang="en-US" sz="1200" dirty="0" err="1"/>
              <a:t>파라미터명임</a:t>
            </a:r>
            <a:endParaRPr lang="en-US" altLang="ko-KR" sz="1200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pPr>
            <a:r>
              <a:rPr lang="en-US" altLang="ko-KR" sz="1200" dirty="0"/>
              <a:t>- </a:t>
            </a:r>
            <a:r>
              <a:rPr lang="ko-KR" altLang="en-US" sz="1200" dirty="0"/>
              <a:t>패밀리의 프로젝트 파라미터에 값을 입력 했다고 해도 패밀리 내부의 파라미터와 동기화 되지 않음</a:t>
            </a:r>
            <a:endParaRPr lang="en-US" altLang="ko-KR" sz="1200" dirty="0"/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 sz="1200"/>
            </a:pPr>
            <a:endParaRPr lang="en-US" altLang="ko-KR" sz="1200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pPr>
            <a:r>
              <a:rPr lang="ko-KR" altLang="en-US" sz="1200" dirty="0"/>
              <a:t>패밀리 파라미터</a:t>
            </a:r>
            <a:endParaRPr lang="en-US" altLang="ko-KR" sz="1200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pPr>
            <a:r>
              <a:rPr lang="en-US" altLang="ko-KR" sz="1200" dirty="0"/>
              <a:t>- </a:t>
            </a:r>
            <a:r>
              <a:rPr lang="ko-KR" altLang="en-US" sz="1200" dirty="0"/>
              <a:t>형상 제어를 위함</a:t>
            </a:r>
            <a:endParaRPr lang="en-US" altLang="ko-KR" sz="1200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pPr>
            <a:r>
              <a:rPr lang="en-US" altLang="ko-KR" sz="1200" dirty="0"/>
              <a:t>- </a:t>
            </a:r>
            <a:r>
              <a:rPr lang="ko-KR" altLang="en-US" sz="1200" dirty="0"/>
              <a:t>패밀리 내부에서만 사용 가능</a:t>
            </a:r>
            <a:r>
              <a:rPr lang="en-US" altLang="ko-KR" sz="1200" dirty="0"/>
              <a:t> ex)</a:t>
            </a:r>
            <a:r>
              <a:rPr lang="ko-KR" altLang="en-US" sz="1200" dirty="0"/>
              <a:t> </a:t>
            </a:r>
            <a:r>
              <a:rPr lang="en-US" altLang="ko-KR" sz="1200" dirty="0"/>
              <a:t>DEPTH, WIDTH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pPr>
            <a:endParaRPr lang="en-US" altLang="ko-KR" sz="1200" b="1" dirty="0"/>
          </a:p>
          <a:p>
            <a:pPr marL="0" indent="0">
              <a:defRPr sz="1200"/>
            </a:pPr>
            <a:r>
              <a:rPr lang="ko-KR" altLang="en-US" sz="1200" dirty="0" err="1">
                <a:latin typeface="Malgun Gothic"/>
                <a:ea typeface="Malgun Gothic"/>
              </a:rPr>
              <a:t>쉐어드</a:t>
            </a:r>
            <a:r>
              <a:rPr lang="ko-KR" altLang="en-US" sz="1200" dirty="0">
                <a:latin typeface="Malgun Gothic"/>
                <a:ea typeface="Malgun Gothic"/>
              </a:rPr>
              <a:t> 파라미터</a:t>
            </a:r>
            <a:endParaRPr lang="en-US" altLang="ko-KR" sz="1200" dirty="0">
              <a:latin typeface="Malgun Gothic"/>
              <a:ea typeface="Malgun Gothic"/>
            </a:endParaRPr>
          </a:p>
          <a:p>
            <a:pPr marL="0" indent="0">
              <a:defRPr sz="1200"/>
            </a:pPr>
            <a:r>
              <a:rPr lang="en-US" altLang="ko-KR" sz="1200" dirty="0">
                <a:latin typeface="Malgun Gothic"/>
                <a:ea typeface="Malgun Gothic"/>
              </a:rPr>
              <a:t>- </a:t>
            </a:r>
            <a:r>
              <a:rPr lang="ko-KR" altLang="en-US" sz="1200" dirty="0">
                <a:latin typeface="Malgun Gothic"/>
                <a:ea typeface="Malgun Gothic"/>
              </a:rPr>
              <a:t>표준 정보 관리로 쓰임</a:t>
            </a:r>
            <a:endParaRPr lang="en-US" altLang="ko-KR" sz="1200" dirty="0">
              <a:latin typeface="Malgun Gothic"/>
              <a:ea typeface="Malgun Gothic"/>
            </a:endParaRPr>
          </a:p>
          <a:p>
            <a:pPr marL="0" indent="0">
              <a:defRPr sz="1200"/>
            </a:pPr>
            <a:r>
              <a:rPr lang="en-US" altLang="ko-KR" sz="1200" dirty="0"/>
              <a:t>- </a:t>
            </a:r>
            <a:r>
              <a:rPr lang="ko-KR" altLang="en-US" sz="1200" dirty="0" err="1"/>
              <a:t>쉐어드를</a:t>
            </a:r>
            <a:r>
              <a:rPr lang="ko-KR" altLang="en-US" sz="1200" dirty="0"/>
              <a:t> 설정해야 태그 및 스케줄</a:t>
            </a:r>
            <a:r>
              <a:rPr lang="en-US" altLang="ko-KR" sz="1200" dirty="0"/>
              <a:t>(</a:t>
            </a:r>
            <a:r>
              <a:rPr lang="ko-KR" altLang="en-US" sz="1200" dirty="0"/>
              <a:t>물량산출</a:t>
            </a:r>
            <a:r>
              <a:rPr lang="en-US" altLang="ko-KR" sz="1200" dirty="0"/>
              <a:t>)</a:t>
            </a:r>
            <a:r>
              <a:rPr lang="ko-KR" altLang="en-US" sz="1200" dirty="0"/>
              <a:t>표 가능</a:t>
            </a:r>
            <a:endParaRPr lang="en-US" altLang="ko-KR" sz="1200" dirty="0"/>
          </a:p>
          <a:p>
            <a:pPr marL="0" indent="0">
              <a:buFontTx/>
              <a:buNone/>
              <a:defRPr sz="1200"/>
            </a:pPr>
            <a:r>
              <a:rPr lang="en-US" altLang="ko-KR" sz="1200" dirty="0"/>
              <a:t>- NWC </a:t>
            </a:r>
            <a:r>
              <a:rPr lang="ko-KR" altLang="en-US" sz="1200" dirty="0" err="1"/>
              <a:t>추출시</a:t>
            </a:r>
            <a:r>
              <a:rPr lang="ko-KR" altLang="en-US" sz="1200" dirty="0"/>
              <a:t> 파라미터 나오게 할 수 있음</a:t>
            </a:r>
            <a:endParaRPr lang="en-US" altLang="ko-KR" sz="1200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pPr>
            <a:r>
              <a:rPr lang="en-US" altLang="ko-KR" sz="1200" dirty="0"/>
              <a:t>- </a:t>
            </a:r>
            <a:r>
              <a:rPr lang="ko-KR" altLang="en-US" sz="1200" dirty="0"/>
              <a:t>각각의 패밀리에 </a:t>
            </a:r>
            <a:r>
              <a:rPr lang="ko-KR" altLang="en-US" sz="1200" dirty="0" err="1"/>
              <a:t>쉐어드</a:t>
            </a:r>
            <a:r>
              <a:rPr lang="ko-KR" altLang="en-US" sz="1200" dirty="0"/>
              <a:t> 파라미터 적용 했을 경우 전부 같은 데이터로 인식 </a:t>
            </a:r>
            <a:r>
              <a:rPr lang="ko-KR" altLang="en-US" sz="1200" dirty="0" err="1"/>
              <a:t>쉐어드는</a:t>
            </a:r>
            <a:r>
              <a:rPr lang="ko-KR" altLang="en-US" sz="1200" dirty="0"/>
              <a:t> 고유의 </a:t>
            </a:r>
            <a:r>
              <a:rPr lang="en-US" altLang="ko-KR" sz="1200" dirty="0"/>
              <a:t>GUID</a:t>
            </a:r>
            <a:r>
              <a:rPr lang="ko-KR" altLang="en-US" sz="1200" dirty="0"/>
              <a:t>가 있음</a:t>
            </a:r>
            <a:endParaRPr lang="en-US" altLang="ko-KR" sz="1200" dirty="0"/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 sz="1200"/>
            </a:pPr>
            <a:r>
              <a:rPr lang="ko-KR" altLang="en-US" sz="1200" dirty="0" err="1"/>
              <a:t>쉐어드는</a:t>
            </a:r>
            <a:r>
              <a:rPr lang="ko-KR" altLang="en-US" sz="1200" dirty="0"/>
              <a:t> 파라미터 이름과 </a:t>
            </a:r>
            <a:r>
              <a:rPr lang="en-US" altLang="ko-KR" sz="1200" dirty="0"/>
              <a:t>GUID, DATA TYPE</a:t>
            </a:r>
            <a:r>
              <a:rPr lang="ko-KR" altLang="en-US" sz="1200" dirty="0"/>
              <a:t>이 동일시 하기 위함</a:t>
            </a:r>
            <a:r>
              <a:rPr lang="en-US" altLang="ko-KR" sz="1200" dirty="0"/>
              <a:t>-&gt;</a:t>
            </a:r>
            <a:r>
              <a:rPr lang="ko-KR" altLang="en-US" sz="1200" dirty="0"/>
              <a:t>표준 데이터 관리</a:t>
            </a:r>
            <a:r>
              <a:rPr lang="en-US" altLang="ko-KR" sz="1200" dirty="0"/>
              <a:t>(ex.</a:t>
            </a:r>
            <a:r>
              <a:rPr lang="ko-KR" altLang="en-US" sz="1200" dirty="0"/>
              <a:t>제조사</a:t>
            </a:r>
            <a:r>
              <a:rPr lang="en-US" altLang="ko-KR" sz="1200" dirty="0"/>
              <a:t>, </a:t>
            </a:r>
            <a:r>
              <a:rPr lang="ko-KR" altLang="en-US" sz="1200" dirty="0"/>
              <a:t>모델명</a:t>
            </a:r>
            <a:r>
              <a:rPr lang="en-US" altLang="ko-KR" sz="1200" dirty="0"/>
              <a:t>, </a:t>
            </a:r>
            <a:r>
              <a:rPr lang="ko-KR" altLang="en-US" sz="1200" dirty="0"/>
              <a:t>장비코드</a:t>
            </a:r>
            <a:r>
              <a:rPr lang="en-US" altLang="ko-KR" sz="1200" dirty="0"/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pPr>
            <a:r>
              <a:rPr lang="en-US" altLang="ko-KR" sz="1200" dirty="0">
                <a:latin typeface="Malgun Gothic"/>
                <a:ea typeface="Malgun Gothic"/>
              </a:rPr>
              <a:t>- </a:t>
            </a:r>
            <a:r>
              <a:rPr lang="ko-KR" altLang="en-US" sz="1200" dirty="0" err="1">
                <a:latin typeface="Malgun Gothic"/>
                <a:ea typeface="Malgun Gothic"/>
              </a:rPr>
              <a:t>쉐어드는</a:t>
            </a:r>
            <a:r>
              <a:rPr lang="ko-KR" altLang="en-US" sz="1200" dirty="0">
                <a:latin typeface="Malgun Gothic"/>
                <a:ea typeface="Malgun Gothic"/>
              </a:rPr>
              <a:t> 공유 파라미터 문서를 경로를 잡는다</a:t>
            </a:r>
            <a:endParaRPr lang="en-US" altLang="ko-KR" sz="1200" dirty="0">
              <a:latin typeface="Malgun Gothic"/>
              <a:ea typeface="Malgun Gothic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초보자에게는 어떤 값이 개별 객체마다 달라지는지, 어떤 값이 타입 전체에 공통으로 적용되는지를 예시로 설명하면 이해가 쉽습니다.</a:t>
            </a:r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38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6BE08-EE5A-B1B5-4895-526DD2DE9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0FE279-82D5-7410-69C1-3605519416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>
            <a:extLst>
              <a:ext uri="{FF2B5EF4-FFF2-40B4-BE49-F238E27FC236}">
                <a16:creationId xmlns:a16="http://schemas.microsoft.com/office/drawing/2014/main" id="{88AFAD1E-2618-3F4A-DA65-9884185CB4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일람표 추출여부는 파라미터의 종류에 따라 달라짐</a:t>
            </a:r>
            <a:endParaRPr lang="en-US" altLang="ko-KR" sz="1200" dirty="0">
              <a:latin typeface="Malgun Gothic"/>
              <a:ea typeface="Malgun Gothic"/>
            </a:endParaRPr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물량산출로 이어지기 때문에 추출이 필요한 부분은 </a:t>
            </a:r>
            <a:r>
              <a:rPr lang="en-US" altLang="ko-KR" sz="1200" dirty="0">
                <a:latin typeface="Malgun Gothic"/>
                <a:ea typeface="Malgun Gothic"/>
              </a:rPr>
              <a:t>shared parameter</a:t>
            </a:r>
            <a:r>
              <a:rPr lang="ko-KR" altLang="en-US" sz="1200" dirty="0">
                <a:latin typeface="Malgun Gothic"/>
                <a:ea typeface="Malgun Gothic"/>
              </a:rPr>
              <a:t>로 설정을 </a:t>
            </a:r>
            <a:r>
              <a:rPr lang="ko-KR" altLang="en-US" sz="1200" dirty="0" err="1">
                <a:latin typeface="Malgun Gothic"/>
                <a:ea typeface="Malgun Gothic"/>
              </a:rPr>
              <a:t>해놔야함</a:t>
            </a:r>
            <a:endParaRPr lang="ko-KR" altLang="en-US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9849E8-C73F-BC80-CB5A-4B0B113C03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460963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pPr>
            <a:r>
              <a:rPr lang="en-US" altLang="ko-KR" sz="1200" dirty="0">
                <a:latin typeface="Malgun Gothic"/>
                <a:ea typeface="Malgun Gothic"/>
              </a:rPr>
              <a:t>(Detached </a:t>
            </a:r>
            <a:r>
              <a:rPr lang="ko-KR" altLang="en-US" sz="1200" dirty="0">
                <a:latin typeface="Malgun Gothic"/>
                <a:ea typeface="Malgun Gothic"/>
              </a:rPr>
              <a:t>파일로 열어보기</a:t>
            </a:r>
            <a:r>
              <a:rPr lang="en-US" altLang="ko-KR" sz="1200" dirty="0">
                <a:latin typeface="Malgun Gothic"/>
                <a:ea typeface="Malgun Gothic"/>
              </a:rPr>
              <a:t>)</a:t>
            </a:r>
          </a:p>
          <a:p>
            <a:pPr marL="0" indent="0">
              <a:defRPr sz="1200"/>
            </a:pPr>
            <a:endParaRPr lang="en-US" altLang="ko-KR" sz="1200" dirty="0">
              <a:latin typeface="Malgun Gothic"/>
              <a:ea typeface="Malgun Gothic"/>
            </a:endParaRPr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프로젝트 파라미터는 객체의 전체 정보 관리를 위해 필요</a:t>
            </a:r>
            <a:endParaRPr lang="en-US" altLang="ko-KR" sz="1200" dirty="0">
              <a:latin typeface="Malgun Gothic"/>
              <a:ea typeface="Malgun Gothic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40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물량 산출은 크게 Schedule 작성과 케이블 길이 추출로 나누어 설명합니다.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Schedule은 Revit 내부 데이터를 표 형태로 확인하는 기능이고, 케이블 길이 추출은 모델 요소의 길이 정보를 활용하는 과정입니다.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두 작업 모두 모델링 품질과 속성정보 입력 상태에 영향을 받습니다.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41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일람표의 물량 산출은 모델이 정확히 작성되어 있고, 필요한 파라미터가 입력되어 있어야 가능합니다.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Schedule 작성 시에는 먼저 산출 대상 카테고리를 정확히 선택해야 합니다.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트레이의 </a:t>
            </a:r>
            <a:r>
              <a:rPr lang="ko-KR" altLang="en-US" sz="1200" dirty="0" err="1">
                <a:latin typeface="Malgun Gothic"/>
                <a:ea typeface="Malgun Gothic"/>
              </a:rPr>
              <a:t>length</a:t>
            </a:r>
            <a:r>
              <a:rPr lang="ko-KR" altLang="en-US" sz="1200" dirty="0">
                <a:latin typeface="Malgun Gothic"/>
                <a:ea typeface="Malgun Gothic"/>
              </a:rPr>
              <a:t>, </a:t>
            </a:r>
            <a:r>
              <a:rPr lang="ko-KR" altLang="en-US" sz="1200" dirty="0" err="1">
                <a:latin typeface="Malgun Gothic"/>
                <a:ea typeface="Malgun Gothic"/>
              </a:rPr>
              <a:t>width</a:t>
            </a:r>
            <a:r>
              <a:rPr lang="ko-KR" altLang="en-US" sz="1200" dirty="0">
                <a:latin typeface="Malgun Gothic"/>
                <a:ea typeface="Malgun Gothic"/>
              </a:rPr>
              <a:t>, </a:t>
            </a:r>
            <a:r>
              <a:rPr lang="ko-KR" altLang="en-US" sz="1200" dirty="0" err="1">
                <a:latin typeface="Malgun Gothic"/>
                <a:ea typeface="Malgun Gothic"/>
              </a:rPr>
              <a:t>height처럼</a:t>
            </a:r>
            <a:r>
              <a:rPr lang="ko-KR" altLang="en-US" sz="1200" dirty="0">
                <a:latin typeface="Malgun Gothic"/>
                <a:ea typeface="Malgun Gothic"/>
              </a:rPr>
              <a:t> 필요한 필드를 추가하고 값이 제대로 들어오는지 확인합니다.</a:t>
            </a:r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42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열 번째 파트는 납품 파일 추출입니다.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RVT 모델에서 끝나는 것이 아니라 NWC, NWF, NWD, IFC 등 목적별 파일로 변환해 제출하는 단계입니다.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각 파일 형식의 역할을 구분해서 설명하면 후속 슬라이드를 이해하기 쉽습니다.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43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NWC 추출을 위해서는 </a:t>
            </a:r>
            <a:r>
              <a:rPr lang="ko-KR" altLang="en-US" sz="1200" dirty="0" err="1">
                <a:latin typeface="Malgun Gothic"/>
                <a:ea typeface="Malgun Gothic"/>
              </a:rPr>
              <a:t>Navisworks</a:t>
            </a:r>
            <a:r>
              <a:rPr lang="ko-KR" altLang="en-US" sz="1200" dirty="0">
                <a:latin typeface="Malgun Gothic"/>
                <a:ea typeface="Malgun Gothic"/>
              </a:rPr>
              <a:t> </a:t>
            </a:r>
            <a:r>
              <a:rPr lang="ko-KR" altLang="en-US" sz="1200" dirty="0" err="1">
                <a:latin typeface="Malgun Gothic"/>
                <a:ea typeface="Malgun Gothic"/>
              </a:rPr>
              <a:t>Exporters</a:t>
            </a:r>
            <a:r>
              <a:rPr lang="ko-KR" altLang="en-US" sz="1200" dirty="0">
                <a:latin typeface="Malgun Gothic"/>
                <a:ea typeface="Malgun Gothic"/>
              </a:rPr>
              <a:t> 설치 상태를 먼저 확인해야 합니다.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 err="1">
                <a:latin typeface="Malgun Gothic"/>
                <a:ea typeface="Malgun Gothic"/>
              </a:rPr>
              <a:t>Revit</a:t>
            </a:r>
            <a:r>
              <a:rPr lang="ko-KR" altLang="en-US" sz="1200" dirty="0">
                <a:latin typeface="Malgun Gothic"/>
                <a:ea typeface="Malgun Gothic"/>
              </a:rPr>
              <a:t> 버전과 </a:t>
            </a:r>
            <a:r>
              <a:rPr lang="ko-KR" altLang="en-US" sz="1200" dirty="0" err="1">
                <a:latin typeface="Malgun Gothic"/>
                <a:ea typeface="Malgun Gothic"/>
              </a:rPr>
              <a:t>Exporter</a:t>
            </a:r>
            <a:r>
              <a:rPr lang="ko-KR" altLang="en-US" sz="1200" dirty="0">
                <a:latin typeface="Malgun Gothic"/>
                <a:ea typeface="Malgun Gothic"/>
              </a:rPr>
              <a:t> 버전이 맞지 않으면 메뉴가 보이지 않거나 추출 오류가 생길 수 있습니다.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설치 후에는 </a:t>
            </a:r>
            <a:r>
              <a:rPr lang="ko-KR" altLang="en-US" sz="1200" dirty="0" err="1">
                <a:latin typeface="Malgun Gothic"/>
                <a:ea typeface="Malgun Gothic"/>
              </a:rPr>
              <a:t>Revit에서</a:t>
            </a:r>
            <a:r>
              <a:rPr lang="ko-KR" altLang="en-US" sz="1200" dirty="0">
                <a:latin typeface="Malgun Gothic"/>
                <a:ea typeface="Malgun Gothic"/>
              </a:rPr>
              <a:t> </a:t>
            </a:r>
            <a:r>
              <a:rPr lang="ko-KR" altLang="en-US" sz="1200" dirty="0" err="1">
                <a:latin typeface="Malgun Gothic"/>
                <a:ea typeface="Malgun Gothic"/>
              </a:rPr>
              <a:t>Export</a:t>
            </a:r>
            <a:r>
              <a:rPr lang="ko-KR" altLang="en-US" sz="1200" dirty="0">
                <a:latin typeface="Malgun Gothic"/>
                <a:ea typeface="Malgun Gothic"/>
              </a:rPr>
              <a:t> 메뉴가 정상적으로 나타나는지 확인해 주세요.</a:t>
            </a:r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44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E0A2A-6FF7-8DE1-7A63-A8A1E9E95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7B802D1-9D7E-5444-9E96-975831594B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>
            <a:extLst>
              <a:ext uri="{FF2B5EF4-FFF2-40B4-BE49-F238E27FC236}">
                <a16:creationId xmlns:a16="http://schemas.microsoft.com/office/drawing/2014/main" id="{E9D0CD74-DEFE-7D32-299B-7E938094A9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 dirty="0" err="1">
                <a:latin typeface="Malgun Gothic"/>
                <a:ea typeface="Malgun Gothic"/>
              </a:rPr>
              <a:t>NWC는</a:t>
            </a:r>
            <a:r>
              <a:rPr lang="ko-KR" altLang="en-US" sz="1200" dirty="0">
                <a:latin typeface="Malgun Gothic"/>
                <a:ea typeface="Malgun Gothic"/>
              </a:rPr>
              <a:t> </a:t>
            </a:r>
            <a:r>
              <a:rPr lang="ko-KR" altLang="en-US" sz="1200" dirty="0" err="1">
                <a:latin typeface="Malgun Gothic"/>
                <a:ea typeface="Malgun Gothic"/>
              </a:rPr>
              <a:t>Navisworks에서</a:t>
            </a:r>
            <a:r>
              <a:rPr lang="ko-KR" altLang="en-US" sz="1200" dirty="0">
                <a:latin typeface="Malgun Gothic"/>
                <a:ea typeface="Malgun Gothic"/>
              </a:rPr>
              <a:t> 열 수 있는 캐시 파일이며, 파일 안에서 객체를 직접 수정할 수는 없습니다. 파일 용량이 가볍기 때문에 간섭검토나 모델링 검토용으로 쓰임</a:t>
            </a:r>
            <a:endParaRPr lang="ko-KR" altLang="en-US" sz="1200" dirty="0"/>
          </a:p>
          <a:p>
            <a:pPr marL="0" indent="0">
              <a:defRPr sz="1200"/>
            </a:pPr>
            <a:r>
              <a:rPr lang="en-US" altLang="ko-KR" sz="1200" dirty="0">
                <a:latin typeface="Malgun Gothic"/>
                <a:ea typeface="Malgun Gothic"/>
              </a:rPr>
              <a:t>NWF</a:t>
            </a:r>
            <a:r>
              <a:rPr lang="ko-KR" altLang="en-US" sz="1200" dirty="0">
                <a:latin typeface="Malgun Gothic"/>
                <a:ea typeface="Malgun Gothic"/>
              </a:rPr>
              <a:t>는 실제 모델 데이터는 가지지 않고</a:t>
            </a:r>
            <a:r>
              <a:rPr lang="en-US" altLang="ko-KR" sz="1200" dirty="0">
                <a:latin typeface="Malgun Gothic"/>
                <a:ea typeface="Malgun Gothic"/>
              </a:rPr>
              <a:t>, </a:t>
            </a:r>
            <a:r>
              <a:rPr lang="ko-KR" altLang="ko-KR" dirty="0"/>
              <a:t>NWC 파일들의 </a:t>
            </a:r>
            <a:r>
              <a:rPr lang="ko-KR" altLang="ko-KR" b="1" dirty="0"/>
              <a:t>‘링크(경로)’와 사용자가 작업한 정보만 저장</a:t>
            </a:r>
            <a:r>
              <a:rPr lang="ko-KR" altLang="ko-KR" dirty="0"/>
              <a:t>하는 파일입니다.</a:t>
            </a:r>
            <a:r>
              <a:rPr lang="en-US" altLang="ko-KR" dirty="0"/>
              <a:t> </a:t>
            </a:r>
            <a:r>
              <a:rPr lang="ko-KR" altLang="en-US" dirty="0"/>
              <a:t>파일들을 합쳐 여기서 진행함</a:t>
            </a:r>
            <a:endParaRPr lang="en-US" altLang="ko-KR" dirty="0"/>
          </a:p>
          <a:p>
            <a:pPr marL="0" indent="0">
              <a:defRPr sz="1200"/>
            </a:pPr>
            <a:r>
              <a:rPr lang="en-US" altLang="ko-KR" sz="1200" dirty="0">
                <a:latin typeface="Malgun Gothic"/>
                <a:ea typeface="Malgun Gothic"/>
              </a:rPr>
              <a:t>NWD NWF</a:t>
            </a:r>
            <a:r>
              <a:rPr lang="ko-KR" altLang="en-US" sz="1200" dirty="0">
                <a:latin typeface="Malgun Gothic"/>
                <a:ea typeface="Malgun Gothic"/>
              </a:rPr>
              <a:t>와 연결이 끊기고 최종 납품 파일로 쓰임</a:t>
            </a:r>
            <a:endParaRPr lang="en-US" altLang="ko-KR" sz="1200">
              <a:latin typeface="Malgun Gothic"/>
              <a:ea typeface="Malgun Gothic"/>
            </a:endParaRPr>
          </a:p>
          <a:p>
            <a:pPr marL="0" indent="0">
              <a:defRPr sz="1200"/>
            </a:pPr>
            <a:endParaRPr lang="en-US" altLang="ko-KR" sz="1200" dirty="0">
              <a:latin typeface="Malgun Gothic"/>
              <a:ea typeface="Malgun Gothic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680BD2-ACF5-9FAC-13E7-6CF81A3ABF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222898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106DB-5605-53A6-FF42-4A294E6E1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55B350-210B-1BF1-A914-5A4F81321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>
            <a:extLst>
              <a:ext uri="{FF2B5EF4-FFF2-40B4-BE49-F238E27FC236}">
                <a16:creationId xmlns:a16="http://schemas.microsoft.com/office/drawing/2014/main" id="{09C354DF-F612-2C39-5655-153386F012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 dirty="0" err="1">
                <a:latin typeface="Malgun Gothic"/>
                <a:ea typeface="Malgun Gothic"/>
              </a:rPr>
              <a:t>NWC는</a:t>
            </a:r>
            <a:r>
              <a:rPr lang="ko-KR" altLang="en-US" sz="1200" dirty="0">
                <a:latin typeface="Malgun Gothic"/>
                <a:ea typeface="Malgun Gothic"/>
              </a:rPr>
              <a:t> </a:t>
            </a:r>
            <a:r>
              <a:rPr lang="ko-KR" altLang="en-US" sz="1200" dirty="0" err="1">
                <a:latin typeface="Malgun Gothic"/>
                <a:ea typeface="Malgun Gothic"/>
              </a:rPr>
              <a:t>Navisworks에서</a:t>
            </a:r>
            <a:r>
              <a:rPr lang="ko-KR" altLang="en-US" sz="1200" dirty="0">
                <a:latin typeface="Malgun Gothic"/>
                <a:ea typeface="Malgun Gothic"/>
              </a:rPr>
              <a:t> 열 수 있는 캐시 파일이며, 파일 안에서 객체를 직접 수정할 수는 없습니다. 파일 용량이 가볍기 때문에 간섭검토나 모델링 검토용으로 쓰임</a:t>
            </a:r>
            <a:endParaRPr lang="ko-KR" altLang="en-US" sz="1200" dirty="0"/>
          </a:p>
          <a:p>
            <a:pPr marL="0" indent="0">
              <a:defRPr sz="1200"/>
            </a:pPr>
            <a:r>
              <a:rPr lang="en-US" altLang="ko-KR" sz="1200" dirty="0">
                <a:latin typeface="Malgun Gothic"/>
                <a:ea typeface="Malgun Gothic"/>
              </a:rPr>
              <a:t>NWF</a:t>
            </a:r>
            <a:r>
              <a:rPr lang="ko-KR" altLang="en-US" sz="1200" dirty="0">
                <a:latin typeface="Malgun Gothic"/>
                <a:ea typeface="Malgun Gothic"/>
              </a:rPr>
              <a:t>는 실제 모델 데이터는 가지지 않고</a:t>
            </a:r>
            <a:r>
              <a:rPr lang="en-US" altLang="ko-KR" sz="1200" dirty="0">
                <a:latin typeface="Malgun Gothic"/>
                <a:ea typeface="Malgun Gothic"/>
              </a:rPr>
              <a:t>, </a:t>
            </a:r>
            <a:r>
              <a:rPr lang="ko-KR" altLang="ko-KR" dirty="0"/>
              <a:t>NWC 파일들의 </a:t>
            </a:r>
            <a:r>
              <a:rPr lang="ko-KR" altLang="ko-KR" b="1" dirty="0"/>
              <a:t>‘링크(경로)’와 사용자가 작업한 정보만 저장</a:t>
            </a:r>
            <a:r>
              <a:rPr lang="ko-KR" altLang="ko-KR" dirty="0"/>
              <a:t>하는 파일입니다.</a:t>
            </a:r>
            <a:r>
              <a:rPr lang="en-US" altLang="ko-KR" dirty="0"/>
              <a:t> </a:t>
            </a:r>
            <a:r>
              <a:rPr lang="ko-KR" altLang="en-US" dirty="0"/>
              <a:t>파일들을 합쳐 여기서 진행함</a:t>
            </a:r>
            <a:endParaRPr lang="en-US" altLang="ko-KR" dirty="0"/>
          </a:p>
          <a:p>
            <a:pPr marL="0" indent="0">
              <a:defRPr sz="1200"/>
            </a:pPr>
            <a:r>
              <a:rPr lang="en-US" altLang="ko-KR" sz="1200" dirty="0">
                <a:latin typeface="Malgun Gothic"/>
                <a:ea typeface="Malgun Gothic"/>
              </a:rPr>
              <a:t>NWD NWF</a:t>
            </a:r>
            <a:r>
              <a:rPr lang="ko-KR" altLang="en-US" sz="1200" dirty="0">
                <a:latin typeface="Malgun Gothic"/>
                <a:ea typeface="Malgun Gothic"/>
              </a:rPr>
              <a:t>와 연결이 끊기고 최종 납품 파일로 쓰임</a:t>
            </a:r>
            <a:endParaRPr lang="en-US" altLang="ko-KR" sz="1200">
              <a:latin typeface="Malgun Gothic"/>
              <a:ea typeface="Malgun Gothic"/>
            </a:endParaRPr>
          </a:p>
          <a:p>
            <a:pPr marL="0" indent="0">
              <a:defRPr sz="1200"/>
            </a:pPr>
            <a:endParaRPr lang="en-US" altLang="ko-KR" sz="1200" dirty="0">
              <a:latin typeface="Malgun Gothic"/>
              <a:ea typeface="Malgun Gothic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0FEF58-F62C-C9FA-2570-C5291818C6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486474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 dirty="0" err="1">
                <a:latin typeface="Malgun Gothic"/>
                <a:ea typeface="Malgun Gothic"/>
              </a:rPr>
              <a:t>NWC는</a:t>
            </a:r>
            <a:r>
              <a:rPr lang="ko-KR" altLang="en-US" sz="1200" dirty="0">
                <a:latin typeface="Malgun Gothic"/>
                <a:ea typeface="Malgun Gothic"/>
              </a:rPr>
              <a:t> </a:t>
            </a:r>
            <a:r>
              <a:rPr lang="ko-KR" altLang="en-US" sz="1200" dirty="0" err="1">
                <a:latin typeface="Malgun Gothic"/>
                <a:ea typeface="Malgun Gothic"/>
              </a:rPr>
              <a:t>Navisworks에서</a:t>
            </a:r>
            <a:r>
              <a:rPr lang="ko-KR" altLang="en-US" sz="1200" dirty="0">
                <a:latin typeface="Malgun Gothic"/>
                <a:ea typeface="Malgun Gothic"/>
              </a:rPr>
              <a:t> 열 수 있는 캐시 파일이며, 파일 안에서 객체를 직접 수정할 수는 없습니다. 파일 용량이 가볍기 때문에 간섭검토나 모델링 검토용으로 쓰임</a:t>
            </a:r>
            <a:endParaRPr lang="ko-KR" altLang="en-US" sz="1200" dirty="0"/>
          </a:p>
          <a:p>
            <a:pPr marL="0" indent="0">
              <a:defRPr sz="1200"/>
            </a:pPr>
            <a:r>
              <a:rPr lang="en-US" altLang="ko-KR" sz="1200" dirty="0">
                <a:latin typeface="Malgun Gothic"/>
                <a:ea typeface="Malgun Gothic"/>
              </a:rPr>
              <a:t>NWF</a:t>
            </a:r>
            <a:r>
              <a:rPr lang="ko-KR" altLang="en-US" sz="1200" dirty="0">
                <a:latin typeface="Malgun Gothic"/>
                <a:ea typeface="Malgun Gothic"/>
              </a:rPr>
              <a:t>는 실제 모델 데이터는 가지지 않고</a:t>
            </a:r>
            <a:r>
              <a:rPr lang="en-US" altLang="ko-KR" sz="1200" dirty="0">
                <a:latin typeface="Malgun Gothic"/>
                <a:ea typeface="Malgun Gothic"/>
              </a:rPr>
              <a:t>, </a:t>
            </a:r>
            <a:r>
              <a:rPr lang="ko-KR" altLang="ko-KR" dirty="0"/>
              <a:t>NWC 파일들의 </a:t>
            </a:r>
            <a:r>
              <a:rPr lang="ko-KR" altLang="ko-KR" b="1" dirty="0"/>
              <a:t>‘링크(경로)’와 사용자가 작업한 정보만 저장</a:t>
            </a:r>
            <a:r>
              <a:rPr lang="ko-KR" altLang="ko-KR" dirty="0"/>
              <a:t>하는 마스터 파일입니다.</a:t>
            </a:r>
            <a:endParaRPr lang="en-US" altLang="ko-KR" sz="1200" dirty="0">
              <a:latin typeface="Malgun Gothic"/>
              <a:ea typeface="Malgun Gothic"/>
            </a:endParaRPr>
          </a:p>
          <a:p>
            <a:pPr marL="0" indent="0">
              <a:defRPr sz="1200"/>
            </a:pPr>
            <a:r>
              <a:rPr lang="ko-KR" altLang="en-US" sz="1200" dirty="0" err="1">
                <a:latin typeface="Malgun Gothic"/>
                <a:ea typeface="Malgun Gothic"/>
              </a:rPr>
              <a:t>Export</a:t>
            </a:r>
            <a:r>
              <a:rPr lang="ko-KR" altLang="en-US" sz="1200" dirty="0">
                <a:latin typeface="Malgun Gothic"/>
                <a:ea typeface="Malgun Gothic"/>
              </a:rPr>
              <a:t> 시 </a:t>
            </a:r>
            <a:r>
              <a:rPr lang="ko-KR" altLang="en-US" sz="1200" dirty="0" err="1">
                <a:latin typeface="Malgun Gothic"/>
                <a:ea typeface="Malgun Gothic"/>
              </a:rPr>
              <a:t>Detail</a:t>
            </a:r>
            <a:r>
              <a:rPr lang="ko-KR" altLang="en-US" sz="1200" dirty="0">
                <a:latin typeface="Malgun Gothic"/>
                <a:ea typeface="Malgun Gothic"/>
              </a:rPr>
              <a:t> </a:t>
            </a:r>
            <a:r>
              <a:rPr lang="ko-KR" altLang="en-US" sz="1200" dirty="0" err="1">
                <a:latin typeface="Malgun Gothic"/>
                <a:ea typeface="Malgun Gothic"/>
              </a:rPr>
              <a:t>Level과</a:t>
            </a:r>
            <a:r>
              <a:rPr lang="ko-KR" altLang="en-US" sz="1200" dirty="0">
                <a:latin typeface="Malgun Gothic"/>
                <a:ea typeface="Malgun Gothic"/>
              </a:rPr>
              <a:t> 좌표 기준이 결과에 영향을 주므로 </a:t>
            </a:r>
            <a:r>
              <a:rPr lang="ko-KR" altLang="en-US" sz="1200" dirty="0" err="1">
                <a:latin typeface="Malgun Gothic"/>
                <a:ea typeface="Malgun Gothic"/>
              </a:rPr>
              <a:t>설정값을</a:t>
            </a:r>
            <a:r>
              <a:rPr lang="ko-KR" altLang="en-US" sz="1200" dirty="0">
                <a:latin typeface="Malgun Gothic"/>
                <a:ea typeface="Malgun Gothic"/>
              </a:rPr>
              <a:t> 확인해야 합니다.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검토용 파일이므로 모델 수정은 </a:t>
            </a:r>
            <a:r>
              <a:rPr lang="ko-KR" altLang="en-US" sz="1200" dirty="0" err="1">
                <a:latin typeface="Malgun Gothic"/>
                <a:ea typeface="Malgun Gothic"/>
              </a:rPr>
              <a:t>Revit</a:t>
            </a:r>
            <a:r>
              <a:rPr lang="ko-KR" altLang="en-US" sz="1200" dirty="0">
                <a:latin typeface="Malgun Gothic"/>
                <a:ea typeface="Malgun Gothic"/>
              </a:rPr>
              <a:t> 원본에서 하고 다시 추출하는 흐름을 설명합니다.</a:t>
            </a:r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47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NWC 추출 설정에서는 Navisworks Tool의 Settings 값을 확인합니다.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Convert element properties, coordinates, links 등 프로젝트 기준에 따라 설정이 달라질 수 있습니다.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수업에서는 현재 프로젝트 기준 설정을 보여주되, 설정값은 발주처나 프로젝트 기준에 따라 변경될 수 있다고 안내해 주세요.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48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NWF는 NWC 파일들을 링크로 관리하는 작업 파일입니다.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NWD는 검토 결과를 포함해 전달하기 좋은 통합 파일로 이해하면 쉽습니다.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NWC, NWF, NWD의 관계를 원본 데이터, 작업 파일, 공유용 결과 파일의 흐름으로 설명해 주세요.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49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IFC는 BIM 표준 교환 포맷입니다.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다른 소프트웨어와 모델 정보를 주고받기 위해 사용하며, 형상뿐 아니라 일부 속성정보도 함께 전달할 수 있습니다.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다만 Revit의 모든 정보가 그대로 넘어가는 것은 아니므로 매핑과 검수가 필요하다고 설명합니다.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50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IFC </a:t>
            </a:r>
            <a:r>
              <a:rPr lang="ko-KR" altLang="en-US" sz="1200" dirty="0" err="1">
                <a:latin typeface="Malgun Gothic"/>
                <a:ea typeface="Malgun Gothic"/>
              </a:rPr>
              <a:t>Class</a:t>
            </a:r>
            <a:r>
              <a:rPr lang="ko-KR" altLang="en-US" sz="1200" dirty="0">
                <a:latin typeface="Malgun Gothic"/>
                <a:ea typeface="Malgun Gothic"/>
              </a:rPr>
              <a:t> </a:t>
            </a:r>
            <a:r>
              <a:rPr lang="ko-KR" altLang="en-US" sz="1200" dirty="0" err="1">
                <a:latin typeface="Malgun Gothic"/>
                <a:ea typeface="Malgun Gothic"/>
              </a:rPr>
              <a:t>Mapping은</a:t>
            </a:r>
            <a:r>
              <a:rPr lang="ko-KR" altLang="en-US" sz="1200" dirty="0">
                <a:latin typeface="Malgun Gothic"/>
                <a:ea typeface="Malgun Gothic"/>
              </a:rPr>
              <a:t> </a:t>
            </a:r>
            <a:r>
              <a:rPr lang="ko-KR" altLang="en-US" sz="1200" dirty="0" err="1">
                <a:latin typeface="Malgun Gothic"/>
                <a:ea typeface="Malgun Gothic"/>
              </a:rPr>
              <a:t>Revit</a:t>
            </a:r>
            <a:r>
              <a:rPr lang="ko-KR" altLang="en-US" sz="1200" dirty="0">
                <a:latin typeface="Malgun Gothic"/>
                <a:ea typeface="Malgun Gothic"/>
              </a:rPr>
              <a:t> </a:t>
            </a:r>
            <a:r>
              <a:rPr lang="ko-KR" altLang="en-US" sz="1200" dirty="0" err="1">
                <a:latin typeface="Malgun Gothic"/>
                <a:ea typeface="Malgun Gothic"/>
              </a:rPr>
              <a:t>Category를</a:t>
            </a:r>
            <a:r>
              <a:rPr lang="ko-KR" altLang="en-US" sz="1200" dirty="0">
                <a:latin typeface="Malgun Gothic"/>
                <a:ea typeface="Malgun Gothic"/>
              </a:rPr>
              <a:t> IFC 분류 체계에 맞춰 연결하는 과정입니다.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 err="1">
                <a:latin typeface="Malgun Gothic"/>
                <a:ea typeface="Malgun Gothic"/>
              </a:rPr>
              <a:t>IfcExportAs</a:t>
            </a:r>
            <a:r>
              <a:rPr lang="ko-KR" altLang="en-US" sz="1200" dirty="0">
                <a:latin typeface="Malgun Gothic"/>
                <a:ea typeface="Malgun Gothic"/>
              </a:rPr>
              <a:t> 값이 잘못되면 객체가 엉뚱한 IFC 분류로 나갈 수 있습니다.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납품 기준에 맞는 IFC 클래스가 무엇인지 확인하고 매핑 파일 또는 파라미터를 관리해야 합니다.</a:t>
            </a:r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51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IFC 추출 </a:t>
            </a:r>
            <a:r>
              <a:rPr lang="ko-KR" altLang="en-US" sz="1200" dirty="0" err="1">
                <a:latin typeface="Malgun Gothic"/>
                <a:ea typeface="Malgun Gothic"/>
              </a:rPr>
              <a:t>설정값은</a:t>
            </a:r>
            <a:r>
              <a:rPr lang="ko-KR" altLang="en-US" sz="1200" dirty="0">
                <a:latin typeface="Malgun Gothic"/>
                <a:ea typeface="Malgun Gothic"/>
              </a:rPr>
              <a:t> 프로젝트 기준에 따라 달라질 수 있습니다.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좌표, 속성정보, 링크 포함 여부, IFC 버전 등을 확인해야 합니다.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추출 후에는 반드시 IFC 뷰어에서 열어 누락, 위치 오류, 분류 오류가 없는지 검토합니다.</a:t>
            </a:r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52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납품 전 파일정리는 실무에서 매우 중요합니다.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불필요한 3D view, 작업뷰, 임시 뷰가 남아 있으면 파일이 복잡해지고 검토자가 혼동할 수 있습니다.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최종 제출 전에는 필요한 뷰와 시트, 링크, 파일명, 폴더 구조를 기준에 맞게 정리합니다.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53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마지막 주요 파트는 간섭검토입니다.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간섭검토는 모델을 만든 뒤 문제가 없는지 확인하는 품질 검토 단계입니다.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설정에 따라 결과가 크게 달라지므로, 조건을 정확히 잡는 것이 중요하다고 설명해 주세요.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54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 dirty="0"/>
              <a:t>우선 카테고리 먼저 잡아서 간섭 검토 돌리기</a:t>
            </a:r>
            <a:endParaRPr lang="en-US" altLang="ko-KR" sz="1200" dirty="0"/>
          </a:p>
          <a:p>
            <a:pPr marL="0" indent="0">
              <a:defRPr sz="1200"/>
            </a:pPr>
            <a:endParaRPr lang="en-US" altLang="ko-KR" sz="1200" dirty="0"/>
          </a:p>
          <a:p>
            <a:pPr marL="0" indent="0">
              <a:defRPr sz="1200"/>
            </a:pPr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55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6B848-E0C5-3E35-E011-6C657A47D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BD5436-653B-E4A8-3825-B9EBFA43E0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>
            <a:extLst>
              <a:ext uri="{FF2B5EF4-FFF2-40B4-BE49-F238E27FC236}">
                <a16:creationId xmlns:a16="http://schemas.microsoft.com/office/drawing/2014/main" id="{C278A040-B6E1-C105-66DE-43B0B0054A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 dirty="0"/>
              <a:t>우선 카테고리 먼저 잡아서 간섭 검토 돌리기</a:t>
            </a:r>
            <a:endParaRPr lang="en-US" altLang="ko-KR" sz="1200" dirty="0"/>
          </a:p>
          <a:p>
            <a:pPr marL="0" indent="0">
              <a:defRPr sz="1200"/>
            </a:pPr>
            <a:r>
              <a:rPr lang="en-US" altLang="ko-KR" sz="1200" dirty="0"/>
              <a:t>Set</a:t>
            </a:r>
            <a:r>
              <a:rPr lang="ko-KR" altLang="en-US" sz="1200" dirty="0"/>
              <a:t>는 </a:t>
            </a:r>
            <a:r>
              <a:rPr lang="en-US" altLang="ko-KR" sz="1200" dirty="0"/>
              <a:t>set </a:t>
            </a:r>
            <a:r>
              <a:rPr lang="ko-KR" altLang="en-US" sz="1200" dirty="0" err="1"/>
              <a:t>잡는거</a:t>
            </a:r>
            <a:r>
              <a:rPr lang="ko-KR" altLang="en-US" sz="1200" dirty="0"/>
              <a:t> 후에 다시 돌려보기</a:t>
            </a:r>
            <a:endParaRPr lang="en-US" altLang="ko-KR" sz="1200" dirty="0"/>
          </a:p>
          <a:p>
            <a:pPr marL="0" indent="0">
              <a:defRPr sz="1200"/>
            </a:pPr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D62C07-B293-7EC6-0366-8E77A1933C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067922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63402-32D7-C04A-4DD0-F48613AA5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17E6B13-3920-0084-3083-7E395F236F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>
            <a:extLst>
              <a:ext uri="{FF2B5EF4-FFF2-40B4-BE49-F238E27FC236}">
                <a16:creationId xmlns:a16="http://schemas.microsoft.com/office/drawing/2014/main" id="{AAD0B879-AA60-C941-80D6-C25A6D5151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 dirty="0" err="1">
                <a:latin typeface="Malgun Gothic"/>
                <a:ea typeface="Malgun Gothic"/>
              </a:rPr>
              <a:t>관측점</a:t>
            </a:r>
            <a:r>
              <a:rPr lang="ko-KR" altLang="en-US" sz="1200" dirty="0">
                <a:latin typeface="Malgun Gothic"/>
                <a:ea typeface="Malgun Gothic"/>
              </a:rPr>
              <a:t> 내보내기</a:t>
            </a:r>
            <a:r>
              <a:rPr lang="en-US" altLang="ko-KR" sz="1200" dirty="0">
                <a:latin typeface="Malgun Gothic"/>
                <a:ea typeface="Malgun Gothic"/>
              </a:rPr>
              <a:t>, </a:t>
            </a:r>
            <a:r>
              <a:rPr lang="ko-KR" altLang="en-US" sz="1200" dirty="0">
                <a:latin typeface="Malgun Gothic"/>
                <a:ea typeface="Malgun Gothic"/>
              </a:rPr>
              <a:t>들여오기도 있음</a:t>
            </a:r>
            <a:endParaRPr lang="en-US" altLang="ko-KR" sz="1200" dirty="0">
              <a:latin typeface="Malgun Gothic"/>
              <a:ea typeface="Malgun Gothic"/>
            </a:endParaRPr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간섭 항목 조건을 변경하면서 실제 검토 결과가 어떻게 달라지는지 보여주는 슬라이드입니다.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초보자에게는 조건별 결과 수량이 달라짐</a:t>
            </a:r>
            <a:endParaRPr lang="en-US" altLang="ko-KR" sz="1200" dirty="0">
              <a:latin typeface="Malgun Gothic"/>
              <a:ea typeface="Malgun Gothic"/>
            </a:endParaRPr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단순히 간섭 개수만 보는 것이 아니라 실제 간섭해결이 필요한 항목인지 </a:t>
            </a:r>
            <a:r>
              <a:rPr lang="ko-KR" altLang="en-US" sz="1200" u="sng" dirty="0">
                <a:latin typeface="Malgun Gothic"/>
                <a:ea typeface="Malgun Gothic"/>
              </a:rPr>
              <a:t>판단해야 해야함</a:t>
            </a:r>
            <a:endParaRPr lang="en-US" altLang="ko-KR" sz="1200" u="sng" dirty="0">
              <a:latin typeface="Malgun Gothic"/>
              <a:ea typeface="Malgun Gothic"/>
            </a:endParaRPr>
          </a:p>
          <a:p>
            <a:pPr marL="0" indent="0">
              <a:defRPr sz="1200"/>
            </a:pPr>
            <a:r>
              <a:rPr lang="ko-KR" altLang="en-US" sz="1200" u="sng" dirty="0">
                <a:latin typeface="Malgun Gothic"/>
                <a:ea typeface="Malgun Gothic"/>
              </a:rPr>
              <a:t>필요한 간섭 항목만 보기위해 </a:t>
            </a:r>
            <a:r>
              <a:rPr lang="en-US" altLang="ko-KR" sz="1200" u="sng" dirty="0">
                <a:latin typeface="Malgun Gothic"/>
                <a:ea typeface="Malgun Gothic"/>
              </a:rPr>
              <a:t>set</a:t>
            </a:r>
            <a:r>
              <a:rPr lang="ko-KR" altLang="en-US" sz="1200" u="sng" dirty="0">
                <a:latin typeface="Malgun Gothic"/>
                <a:ea typeface="Malgun Gothic"/>
              </a:rPr>
              <a:t>를 설정 해두면 좋음 뒤에 슬라이드에서 나중에 설명</a:t>
            </a:r>
            <a:endParaRPr lang="ko-KR" altLang="en-US" sz="1200" u="sng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923FA3-76C0-6E8B-637B-77E5F088B3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88191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Report에 포함할 내용과 상태를 선택하는 단계입니다.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검토 보고서는 단순 캡처가 아니라, 어떤 간섭을 확인했고 어떤 상태인지 기록하는 산출물입니다.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Contents와 Status를 적절히 선택해 검토자와 작업자가 같은 기준으로 결과를 볼 수 있게 해야 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58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Save Selection과 Save Search는 반복 검토를 효율적으로 하기 위한 기능입니다.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Find Item에서 조건을 입력해 필요한 객체만 검색하고, 그 조건을 저장해두면 다음 검토 때 다시 사용할 수 있습니다.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검토 기준을 저장해두는 습관이 있어야 결과의 일관성을 유지할 수 있습니다.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59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Set 설정에서는 어떤 객체 그룹끼리 간섭을 볼 것인지 정합니다.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Select와 Search를 편의에 맞게 사용하되, 검토 범위가 너무 넓으면 불필요한 간섭이 많이 나올 수 있습니다.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처음에는 공종별, 영역별로 나누어 설정하는 것이 관리하기 쉽습니다.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60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Rule 설정은 조건부 간섭을 걸러내기 위한 단계입니다.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예를 들어 같은 파일 내부 객체나 특정 허용 조건을 제외하면 실제 문제에 더 집중할 수 있습니다.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Rule을 너무 많이 적용하면 중요한 간섭을 놓칠 수 있으므로 기준을 명확히 하고 사용해야 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61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37A57-338D-47F4-950F-01B074355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1FF0B9-32BF-5C74-2F1D-513F38A611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>
            <a:extLst>
              <a:ext uri="{FF2B5EF4-FFF2-40B4-BE49-F238E27FC236}">
                <a16:creationId xmlns:a16="http://schemas.microsoft.com/office/drawing/2014/main" id="{22AC2D00-56D3-D735-450E-CCAD4A6D73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Rule 설정은 조건부 간섭을 걸러내기 위한 단계입니다.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예를 들어 같은 파일 내부 객체나 특정 허용 조건을 제외하면 실제 문제에 더 집중할 수 있습니다.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Rule을 너무 많이 적용하면 중요한 간섭을 놓칠 수 있으므로 기준을 명확히 하고 사용해야 합니다.</a:t>
            </a:r>
            <a:endParaRPr lang="ko-KR" altLang="en-US" sz="12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A6AF9C-4427-022F-D065-0244C7DEF0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825374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BEC3B-B361-3322-6D66-B70B8BDAA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BA2593-8A66-4443-C602-1F1ECC3CDC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>
            <a:extLst>
              <a:ext uri="{FF2B5EF4-FFF2-40B4-BE49-F238E27FC236}">
                <a16:creationId xmlns:a16="http://schemas.microsoft.com/office/drawing/2014/main" id="{0A7A9E64-8B00-6B27-4B8B-5FFE54B3C5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Rule 설정은 조건부 간섭을 걸러내기 위한 단계입니다.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예를 들어 같은 파일 내부 객체나 특정 허용 조건을 제외하면 실제 문제에 더 집중할 수 있습니다.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Rule을 너무 많이 적용하면 중요한 간섭을 놓칠 수 있으므로 기준을 명확히 하고 사용해야 합니다.</a:t>
            </a:r>
            <a:endParaRPr lang="ko-KR" altLang="en-US" sz="12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9933FD-FBBE-B8CE-D17F-81F1C7FDBF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130387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오늘 강의는 Revit 초급자가 BIM 모델링 업무의 전체 흐름을 이해하는 데 초점을 맞췄습니다.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BIM 개념, Revit 화면, 공동작업, 패밀리, 링크, 트레이, 속성정보, 물량산출, 납품, 간섭검토가 서로 연결된다는 점을 다시 정리해 주세요.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마지막에는 실제 프로젝트에서는 한 번에 완벽히 하려고 하기보다, 기준을 정하고 반복 검토하는 습관이 중요하다고 마무리합니다.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64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135F12-B425-E890-AF47-BA4E4F6BE2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27950F7-B28A-8204-E473-36C061D6F2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6828C2-8539-60AD-2E00-BDF55FF72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5001D-6C17-492C-8F55-F7C4ED83238F}" type="datetime1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CA7028-49A0-A440-8F3B-165CF7BE5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6A9728-063E-DFAD-F5F0-41315E7C8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5177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9F360-1AF2-1BD5-5129-FFBF23D02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230B85-130F-CBF8-389F-BC6C1FCBE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C6297A-4834-BDB5-0598-093CD149B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A40D-FB2A-439B-99A2-DF3E3548E496}" type="datetime1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B777CC-8870-EF3A-35C2-5DDEB965C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07C041-66C3-88F4-959B-19C3DBE57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1035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3FD03C-ACB0-FDE2-DDF6-7CBEDCDE3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B7DF61-8440-5434-E24F-454E67337D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8584B0-FBC7-391E-3BB0-280821F86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68EB1-4EB8-403C-A1A9-B1EDEB66B134}" type="datetime1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268142-3160-14A0-C612-9B51F5F3F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970923-2938-F10C-9A3C-7CE1C609B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0928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202BFC-016A-9C66-9403-2FA7BF70E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320565-58F6-ED35-71F0-7160D66C0C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998B38-0367-2583-06E6-76983F7BB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764C0C-B9DE-D103-32D7-A5D508128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6577C-5456-45D0-826F-E8E0C09E0E73}" type="datetime1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FAF6EB-AB23-8893-4419-6549BF500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0EF1D9-1204-6501-4B9C-83433262C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77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CFF0AB-F232-17EF-DFD6-6DDB8B78D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19041F-2A5B-B127-2823-B8E01AAC0F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E3EAE3E-A7B1-19A4-DE8C-D2C22D2A51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35613DF-DC4F-828E-8C35-29F2958003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0904B3-38EA-4C2A-11A3-113843C00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37CBF7C-6D2D-469F-EC94-581EDDA15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FF4A-74A3-4CCB-AD65-94F78115410F}" type="datetime1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4885C46-4333-C9F8-D2B3-01EC4C3A9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234945E-1A30-750D-BC8A-9675A9AE5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615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B7392F-17D9-BFDF-CDB5-776215A29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500137C-E385-AD27-2C88-254B01CFE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FC334-7BDE-4491-9FBF-2D5868B0BDC1}" type="datetime1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0E8D0C6-92D3-00A9-9F7C-3E76A9857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B574B0E-C895-E836-73D7-0B426B15F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6351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7E4FE1B-C164-D186-CFD3-70334BFDE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78D43-3260-4438-BD7A-A190B1F81245}" type="datetime1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D870DC-E353-7E72-9178-56092370F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4A7EA1-0001-62E0-605B-FAA5657C2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3550" y="6388100"/>
            <a:ext cx="2743200" cy="365125"/>
          </a:xfrm>
        </p:spPr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9928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7D62C-11A1-C60B-9ADB-490ABF8B9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8542EF-BC0A-F092-FD8B-93E25D632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FC250E2-61CA-3601-6756-F9CB9087CB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F1E608-F6C7-6DC8-8FC1-E40778997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66D79-6366-4CC9-B9BC-0781C3A2401A}" type="datetime1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0F25D0-B84F-064C-2237-15EE3A170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DEA756-F832-CBBB-A90B-6FA156291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39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53FF39-E348-66E1-5424-CF595C66D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C8A965D-1A82-993A-C32B-D84CFDBBE8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CE20FDE-D0E1-344D-8FE8-C3B4F129E2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5D2006-BFD3-6414-E794-7F0711DFC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C20EB-4A4E-4766-ADB6-5BDBFB7BE08D}" type="datetime1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B79EC1-8EA2-7615-DDBC-EF2815F4B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C6D710-263C-EB10-DBFA-1E052E996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4780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922C04-9430-AC79-FBEE-4DB554F63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B97579B-ADB4-971B-939F-C4431C0862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4575AA-DC52-49DA-5D44-92E389657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2072F-22B1-4AF1-AB0C-2F33A07266BF}" type="datetime1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BB0C02-7FDE-7BC4-7EB2-4191FBF4B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D87D3B-DB1E-BDD7-CD6D-16C17DBC9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7723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9946B03-632F-8F21-D436-4F0D08AFBA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961D6DA-94C0-E7FD-4B44-A8FE2DC4EE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3CAAD4-7AAA-1E4A-602B-998ADBD1C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2A3D-F41A-43AB-B79C-AF41FFDC7578}" type="datetime1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8605C5-BCB5-F220-0D97-14197E94D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415847-C3CA-A075-4CB9-09B038B0E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803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CEE7B74-134F-3D86-A72A-C2263363D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E6004D-6225-B08F-0768-D42E75881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AC1340-2313-A945-0FDC-D21C5309C0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8A0810-9A5B-4D4B-832B-ABB6ED65463A}" type="datetime1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48B8F8-008B-EDC7-B8C8-0DC560A20E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1E392D-4D28-09F1-BB71-103F59465B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6830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autodesk.co.kr/products/navisworks/3d-viewers" TargetMode="Externa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567230-DD43-8DD0-095E-D62BBD676688}"/>
              </a:ext>
            </a:extLst>
          </p:cNvPr>
          <p:cNvSpPr txBox="1"/>
          <p:nvPr/>
        </p:nvSpPr>
        <p:spPr>
          <a:xfrm>
            <a:off x="711200" y="1841500"/>
            <a:ext cx="4572000" cy="663575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altLang="ko-KR" sz="3400" b="1" dirty="0">
                <a:latin typeface="Malgun Gothic" panose="020B0503020000020004" pitchFamily="50" charset="-127"/>
              </a:rPr>
              <a:t>BIM </a:t>
            </a:r>
            <a:r>
              <a:rPr lang="ko-KR" altLang="en-US" sz="3400" b="1" dirty="0">
                <a:latin typeface="Malgun Gothic" panose="020B0503020000020004" pitchFamily="50" charset="-127"/>
              </a:rPr>
              <a:t>기초 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1651AD-AD65-FE00-4A15-68B99BBD98B0}"/>
              </a:ext>
            </a:extLst>
          </p:cNvPr>
          <p:cNvSpPr txBox="1"/>
          <p:nvPr/>
        </p:nvSpPr>
        <p:spPr>
          <a:xfrm>
            <a:off x="736600" y="2971800"/>
            <a:ext cx="4826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>
                <a:latin typeface="Malgun Gothic" panose="020B0503020000020004" pitchFamily="50" charset="-127"/>
              </a:rPr>
              <a:t>Revit </a:t>
            </a:r>
            <a:r>
              <a:rPr lang="ko-KR" altLang="en-US" sz="1600" b="1" dirty="0">
                <a:latin typeface="Malgun Gothic" panose="020B0503020000020004" pitchFamily="50" charset="-127"/>
              </a:rPr>
              <a:t>실습 교육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2FDBFD-A7D4-DC9C-B682-86724A6FFECE}"/>
              </a:ext>
            </a:extLst>
          </p:cNvPr>
          <p:cNvSpPr txBox="1"/>
          <p:nvPr/>
        </p:nvSpPr>
        <p:spPr>
          <a:xfrm>
            <a:off x="736600" y="3784600"/>
            <a:ext cx="4826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 dirty="0">
                <a:latin typeface="Malgun Gothic" panose="020B0503020000020004" pitchFamily="50" charset="-127"/>
              </a:rPr>
              <a:t>학습목표</a:t>
            </a:r>
            <a:r>
              <a:rPr lang="en-US" altLang="ko-KR" sz="1600" b="1" dirty="0">
                <a:latin typeface="Malgun Gothic" panose="020B0503020000020004" pitchFamily="50" charset="-127"/>
              </a:rPr>
              <a:t>: </a:t>
            </a:r>
            <a:r>
              <a:rPr lang="ko-KR" altLang="en-US" sz="1600" b="1" dirty="0">
                <a:latin typeface="Malgun Gothic" panose="020B0503020000020004" pitchFamily="50" charset="-127"/>
              </a:rPr>
              <a:t>건축 역사 전기공종 모델링 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4DF3D9-FEBC-7080-B9F4-F05A2868025E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FF5C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F4C175-6665-0A39-8901-625039F3B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3285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D7D60F0-FC7D-6C32-A509-BBE75F345BB1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FF5C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4D70EF-FFFF-B2DA-DB5B-AC811F265A25}"/>
              </a:ext>
            </a:extLst>
          </p:cNvPr>
          <p:cNvSpPr txBox="1"/>
          <p:nvPr/>
        </p:nvSpPr>
        <p:spPr>
          <a:xfrm>
            <a:off x="304800" y="279400"/>
            <a:ext cx="2540000" cy="4547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ko-KR" altLang="en-US" sz="28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목차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E1FDCC-C4B9-CF3A-933E-9B96A3217744}"/>
              </a:ext>
            </a:extLst>
          </p:cNvPr>
          <p:cNvSpPr txBox="1"/>
          <p:nvPr/>
        </p:nvSpPr>
        <p:spPr>
          <a:xfrm>
            <a:off x="304800" y="1041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01.</a:t>
            </a:r>
            <a:endParaRPr lang="ko-KR" altLang="en-US" sz="1600" b="1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8CA585-8C2F-6CBC-3148-CC14F959AE51}"/>
              </a:ext>
            </a:extLst>
          </p:cNvPr>
          <p:cNvSpPr txBox="1"/>
          <p:nvPr/>
        </p:nvSpPr>
        <p:spPr>
          <a:xfrm>
            <a:off x="1117600" y="1041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/>
              <a:t>BIM </a:t>
            </a:r>
            <a:r>
              <a:rPr lang="ko-KR" altLang="en-US" sz="1600" b="1" dirty="0"/>
              <a:t>개념과 </a:t>
            </a:r>
            <a:r>
              <a:rPr lang="en-US" altLang="ko-KR" sz="1600" b="1" dirty="0"/>
              <a:t>Revit</a:t>
            </a:r>
            <a:r>
              <a:rPr lang="ko-KR" altLang="en-US" sz="1600" b="1" dirty="0"/>
              <a:t>의 역할</a:t>
            </a:r>
            <a:endParaRPr lang="ko-KR" altLang="en-US" sz="1600" b="1" dirty="0">
              <a:latin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8D5DE1-BABC-9E86-B8D4-F0F4DBECB530}"/>
              </a:ext>
            </a:extLst>
          </p:cNvPr>
          <p:cNvSpPr txBox="1"/>
          <p:nvPr/>
        </p:nvSpPr>
        <p:spPr>
          <a:xfrm>
            <a:off x="1117600" y="13462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3D 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시각화</a:t>
            </a:r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간섭 검토</a:t>
            </a:r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수량산출</a:t>
            </a:r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속성정보 입력</a:t>
            </a:r>
            <a:endParaRPr lang="ko-KR" altLang="en-US" sz="1200" dirty="0">
              <a:latin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EB07CC-D9E1-A4BA-C230-019E656D295C}"/>
              </a:ext>
            </a:extLst>
          </p:cNvPr>
          <p:cNvSpPr txBox="1"/>
          <p:nvPr/>
        </p:nvSpPr>
        <p:spPr>
          <a:xfrm>
            <a:off x="304800" y="1930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02.</a:t>
            </a:r>
            <a:endParaRPr lang="ko-KR" altLang="en-US" sz="1600" b="1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41529E-B7CC-3273-A857-A8D16DCF592C}"/>
              </a:ext>
            </a:extLst>
          </p:cNvPr>
          <p:cNvSpPr txBox="1"/>
          <p:nvPr/>
        </p:nvSpPr>
        <p:spPr>
          <a:xfrm>
            <a:off x="1117600" y="1930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Revit interface</a:t>
            </a:r>
            <a:endParaRPr lang="ko-KR" altLang="en-US" sz="1600" b="1" dirty="0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AEF844-7E4A-BFD1-E08F-7982E66EF993}"/>
              </a:ext>
            </a:extLst>
          </p:cNvPr>
          <p:cNvSpPr txBox="1"/>
          <p:nvPr/>
        </p:nvSpPr>
        <p:spPr>
          <a:xfrm>
            <a:off x="1117600" y="22352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•  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리본 메뉴</a:t>
            </a:r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프로젝트 브라우저</a:t>
            </a:r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속성 패널 등 필수 </a:t>
            </a:r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UI</a:t>
            </a:r>
            <a:endParaRPr lang="ko-KR" altLang="en-US" sz="1200">
              <a:solidFill>
                <a:srgbClr val="2A2A2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2639B3-6D74-C6A7-7C74-AECB1245912A}"/>
              </a:ext>
            </a:extLst>
          </p:cNvPr>
          <p:cNvSpPr txBox="1"/>
          <p:nvPr/>
        </p:nvSpPr>
        <p:spPr>
          <a:xfrm>
            <a:off x="304800" y="2819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03.</a:t>
            </a:r>
            <a:endParaRPr lang="ko-KR" altLang="en-US" sz="1600" b="1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C8FB7A-5221-3E4C-FFA1-5A12397BDCE1}"/>
              </a:ext>
            </a:extLst>
          </p:cNvPr>
          <p:cNvSpPr txBox="1"/>
          <p:nvPr/>
        </p:nvSpPr>
        <p:spPr>
          <a:xfrm>
            <a:off x="1117600" y="2819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공동 작업 </a:t>
            </a:r>
            <a:r>
              <a:rPr lang="en-US" altLang="ko-KR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(Worksharing)</a:t>
            </a:r>
            <a:endParaRPr lang="ko-KR" altLang="en-US" sz="1600" b="1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3988D1-4321-92CE-931C-06A6790FEE15}"/>
              </a:ext>
            </a:extLst>
          </p:cNvPr>
          <p:cNvSpPr txBox="1"/>
          <p:nvPr/>
        </p:nvSpPr>
        <p:spPr>
          <a:xfrm>
            <a:off x="1117600" y="31242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•  Central file 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작성</a:t>
            </a:r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, Workset 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생성</a:t>
            </a:r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, synchronize, 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로컬파일 생성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A02CF5-01A8-E8FA-9513-3FB923F55C03}"/>
              </a:ext>
            </a:extLst>
          </p:cNvPr>
          <p:cNvSpPr txBox="1"/>
          <p:nvPr/>
        </p:nvSpPr>
        <p:spPr>
          <a:xfrm>
            <a:off x="304800" y="3708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04.</a:t>
            </a:r>
            <a:endParaRPr lang="ko-KR" altLang="en-US" sz="1600" b="1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A2AF45-96B5-445C-4BD1-A406F97B786C}"/>
              </a:ext>
            </a:extLst>
          </p:cNvPr>
          <p:cNvSpPr txBox="1"/>
          <p:nvPr/>
        </p:nvSpPr>
        <p:spPr>
          <a:xfrm>
            <a:off x="1117600" y="3708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패밀리 작성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834BF8-1025-FD21-0E3E-B3FDE0851230}"/>
              </a:ext>
            </a:extLst>
          </p:cNvPr>
          <p:cNvSpPr txBox="1"/>
          <p:nvPr/>
        </p:nvSpPr>
        <p:spPr>
          <a:xfrm>
            <a:off x="1117600" y="40132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•  Instance parameter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와 </a:t>
            </a:r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Type parameter 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구분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351B85-674C-E022-12E9-11BF8A3A9C5A}"/>
              </a:ext>
            </a:extLst>
          </p:cNvPr>
          <p:cNvSpPr txBox="1"/>
          <p:nvPr/>
        </p:nvSpPr>
        <p:spPr>
          <a:xfrm>
            <a:off x="304800" y="4597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05.</a:t>
            </a:r>
            <a:endParaRPr lang="ko-KR" altLang="en-US" sz="1600" b="1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097CAC-1D8B-A4DF-A27E-FC3D79CF27F3}"/>
              </a:ext>
            </a:extLst>
          </p:cNvPr>
          <p:cNvSpPr txBox="1"/>
          <p:nvPr/>
        </p:nvSpPr>
        <p:spPr>
          <a:xfrm>
            <a:off x="1117600" y="4597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링크파일 불러오기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D164F5-AA07-546F-7834-8A0A6D2EBBF3}"/>
              </a:ext>
            </a:extLst>
          </p:cNvPr>
          <p:cNvSpPr txBox="1"/>
          <p:nvPr/>
        </p:nvSpPr>
        <p:spPr>
          <a:xfrm>
            <a:off x="1117600" y="49022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•  Revit 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링크와 </a:t>
            </a:r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CAD 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링크 불러오기 기준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CD0189-A8F5-FAD4-317A-07E01F96F441}"/>
              </a:ext>
            </a:extLst>
          </p:cNvPr>
          <p:cNvSpPr txBox="1"/>
          <p:nvPr/>
        </p:nvSpPr>
        <p:spPr>
          <a:xfrm>
            <a:off x="304800" y="5486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06.</a:t>
            </a:r>
            <a:endParaRPr lang="ko-KR" altLang="en-US" sz="1600" b="1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B58F68-9396-6FD4-BF88-73840BCADFE9}"/>
              </a:ext>
            </a:extLst>
          </p:cNvPr>
          <p:cNvSpPr txBox="1"/>
          <p:nvPr/>
        </p:nvSpPr>
        <p:spPr>
          <a:xfrm>
            <a:off x="1117600" y="5486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트레이 작성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68F7A4-C728-4EC0-E970-2D5ABED0190E}"/>
              </a:ext>
            </a:extLst>
          </p:cNvPr>
          <p:cNvSpPr txBox="1"/>
          <p:nvPr/>
        </p:nvSpPr>
        <p:spPr>
          <a:xfrm>
            <a:off x="304800" y="62369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07.</a:t>
            </a:r>
            <a:endParaRPr lang="ko-KR" altLang="en-US" sz="1600" b="1" dirty="0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14F5B6-B74E-705D-9FB5-AB57F1181E94}"/>
              </a:ext>
            </a:extLst>
          </p:cNvPr>
          <p:cNvSpPr txBox="1"/>
          <p:nvPr/>
        </p:nvSpPr>
        <p:spPr>
          <a:xfrm>
            <a:off x="1117600" y="62369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가시성 설정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D7B379-C9A8-DAB0-71BC-2CD8CC9BF22D}"/>
              </a:ext>
            </a:extLst>
          </p:cNvPr>
          <p:cNvSpPr txBox="1"/>
          <p:nvPr/>
        </p:nvSpPr>
        <p:spPr>
          <a:xfrm>
            <a:off x="1117600" y="65417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• Filter 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설정 </a:t>
            </a:r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, View Template 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생성</a:t>
            </a:r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8379D995-9C04-C817-EE23-EC2B6BFEE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906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21BE05-6BA8-12C4-0DE3-35515C903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1743F5-A3CC-7B5C-2DDA-5A59733BAB7D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FF5C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9D6BFA-040C-D544-14A7-F3451562E76E}"/>
              </a:ext>
            </a:extLst>
          </p:cNvPr>
          <p:cNvSpPr txBox="1"/>
          <p:nvPr/>
        </p:nvSpPr>
        <p:spPr>
          <a:xfrm>
            <a:off x="304800" y="279400"/>
            <a:ext cx="2540000" cy="4547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ko-KR" altLang="en-US" sz="28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목차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4A9ECE-9DF0-3777-2CAD-3A5C59988768}"/>
              </a:ext>
            </a:extLst>
          </p:cNvPr>
          <p:cNvSpPr txBox="1"/>
          <p:nvPr/>
        </p:nvSpPr>
        <p:spPr>
          <a:xfrm>
            <a:off x="304800" y="1041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08.</a:t>
            </a:r>
            <a:endParaRPr lang="ko-KR" altLang="en-US" sz="1600" b="1" dirty="0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95F88A-48AC-2040-A15D-5900BFCABB7A}"/>
              </a:ext>
            </a:extLst>
          </p:cNvPr>
          <p:cNvSpPr txBox="1"/>
          <p:nvPr/>
        </p:nvSpPr>
        <p:spPr>
          <a:xfrm>
            <a:off x="1117600" y="1041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 dirty="0">
                <a:latin typeface="Malgun Gothic" panose="020B0503020000020004" pitchFamily="50" charset="-127"/>
              </a:rPr>
              <a:t>속성정보 입력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934EAF-BB8E-B070-8EFD-757BD4B389C0}"/>
              </a:ext>
            </a:extLst>
          </p:cNvPr>
          <p:cNvSpPr txBox="1"/>
          <p:nvPr/>
        </p:nvSpPr>
        <p:spPr>
          <a:xfrm>
            <a:off x="1117600" y="13462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•  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프로젝트 및 라이브러리 데이터 입력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44F4F3-8C16-08FA-5538-AACFFA682594}"/>
              </a:ext>
            </a:extLst>
          </p:cNvPr>
          <p:cNvSpPr txBox="1"/>
          <p:nvPr/>
        </p:nvSpPr>
        <p:spPr>
          <a:xfrm>
            <a:off x="304800" y="1930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09.</a:t>
            </a:r>
            <a:endParaRPr lang="ko-KR" altLang="en-US" sz="1600" b="1" dirty="0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8C32AC-A035-5E82-1877-3CB3B5F52D14}"/>
              </a:ext>
            </a:extLst>
          </p:cNvPr>
          <p:cNvSpPr txBox="1"/>
          <p:nvPr/>
        </p:nvSpPr>
        <p:spPr>
          <a:xfrm>
            <a:off x="1117600" y="1930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물량 산출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524C18-2AA5-FFC0-E13B-59F40B42A1D0}"/>
              </a:ext>
            </a:extLst>
          </p:cNvPr>
          <p:cNvSpPr txBox="1"/>
          <p:nvPr/>
        </p:nvSpPr>
        <p:spPr>
          <a:xfrm>
            <a:off x="1117600" y="22352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200" dirty="0">
                <a:latin typeface="+mj-lt"/>
              </a:rPr>
              <a:t>•  Schedule</a:t>
            </a:r>
            <a:r>
              <a:rPr lang="ko-KR" altLang="en-US" sz="1200" dirty="0">
                <a:latin typeface="+mj-lt"/>
              </a:rPr>
              <a:t>작성</a:t>
            </a:r>
            <a:r>
              <a:rPr lang="en-US" altLang="ko-KR" sz="1200" dirty="0">
                <a:latin typeface="+mj-lt"/>
              </a:rPr>
              <a:t>, </a:t>
            </a:r>
            <a:r>
              <a:rPr lang="ko-KR" altLang="en-US" sz="1200" dirty="0">
                <a:latin typeface="+mj-lt"/>
              </a:rPr>
              <a:t>케이블 길이 추출</a:t>
            </a:r>
            <a:endParaRPr lang="en-US" altLang="ko-KR" sz="1200" dirty="0">
              <a:latin typeface="+mj-lt"/>
            </a:endParaRPr>
          </a:p>
          <a:p>
            <a:endParaRPr lang="ko-KR" altLang="en-US" sz="1200" dirty="0"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316865-81DB-FF8E-5C6F-61E645D7897F}"/>
              </a:ext>
            </a:extLst>
          </p:cNvPr>
          <p:cNvSpPr txBox="1"/>
          <p:nvPr/>
        </p:nvSpPr>
        <p:spPr>
          <a:xfrm>
            <a:off x="304800" y="2819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10.</a:t>
            </a:r>
            <a:endParaRPr lang="ko-KR" altLang="en-US" sz="1600" b="1" dirty="0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872C42-8FAC-370B-D7FD-0C2E69179028}"/>
              </a:ext>
            </a:extLst>
          </p:cNvPr>
          <p:cNvSpPr txBox="1"/>
          <p:nvPr/>
        </p:nvSpPr>
        <p:spPr>
          <a:xfrm>
            <a:off x="1117600" y="2819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납품 파일 추출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8E9FE7-600B-AE25-41AF-08B8D7769832}"/>
              </a:ext>
            </a:extLst>
          </p:cNvPr>
          <p:cNvSpPr txBox="1"/>
          <p:nvPr/>
        </p:nvSpPr>
        <p:spPr>
          <a:xfrm>
            <a:off x="1117600" y="31242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•  NWC,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NWF,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NWD,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IFC</a:t>
            </a:r>
            <a:endParaRPr lang="ko-KR" altLang="en-US" sz="1200" dirty="0">
              <a:solidFill>
                <a:srgbClr val="2A2A2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B3D06A-95D6-42EC-21A0-A13484A55881}"/>
              </a:ext>
            </a:extLst>
          </p:cNvPr>
          <p:cNvSpPr txBox="1"/>
          <p:nvPr/>
        </p:nvSpPr>
        <p:spPr>
          <a:xfrm>
            <a:off x="304800" y="3708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11.</a:t>
            </a:r>
            <a:endParaRPr lang="ko-KR" altLang="en-US" sz="1600" b="1" dirty="0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BBE340-AD61-D68D-6BFA-BE1A6117E95F}"/>
              </a:ext>
            </a:extLst>
          </p:cNvPr>
          <p:cNvSpPr txBox="1"/>
          <p:nvPr/>
        </p:nvSpPr>
        <p:spPr>
          <a:xfrm>
            <a:off x="1117600" y="3708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간섭검토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EFA85F-ADF0-B155-CA1B-700FEE11EE8D}"/>
              </a:ext>
            </a:extLst>
          </p:cNvPr>
          <p:cNvSpPr txBox="1"/>
          <p:nvPr/>
        </p:nvSpPr>
        <p:spPr>
          <a:xfrm>
            <a:off x="1117600" y="40132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•  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간섭검토를 위한 세팅</a:t>
            </a: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EE8F9887-33B8-CCAA-9937-6A652A0EF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0026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B7DB5DC1-995A-C930-279C-735B24B46D14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6FB4661-03C3-5727-B6BD-2FDABE658510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E1ED6625-62F0-84D3-E969-87BB15E6BE4F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22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789536-E73E-BD3F-2F76-90BBED27BCFF}"/>
              </a:ext>
            </a:extLst>
          </p:cNvPr>
          <p:cNvSpPr txBox="1"/>
          <p:nvPr/>
        </p:nvSpPr>
        <p:spPr>
          <a:xfrm>
            <a:off x="641350" y="2523123"/>
            <a:ext cx="2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>
                    <a:lumMod val="95000"/>
                  </a:schemeClr>
                </a:solidFill>
              </a:rPr>
              <a:t>BIM </a:t>
            </a:r>
            <a:r>
              <a:rPr lang="ko-KR" altLang="en-US" sz="1400" b="1" dirty="0">
                <a:solidFill>
                  <a:schemeClr val="bg1">
                    <a:lumMod val="95000"/>
                  </a:schemeClr>
                </a:solidFill>
              </a:rPr>
              <a:t>개념과 </a:t>
            </a:r>
            <a:r>
              <a:rPr lang="en-US" altLang="ko-KR" sz="1400" b="1" dirty="0">
                <a:solidFill>
                  <a:schemeClr val="bg1">
                    <a:lumMod val="95000"/>
                  </a:schemeClr>
                </a:solidFill>
              </a:rPr>
              <a:t>Revit</a:t>
            </a:r>
            <a:r>
              <a:rPr lang="ko-KR" altLang="en-US" sz="1400" b="1" dirty="0">
                <a:solidFill>
                  <a:schemeClr val="bg1">
                    <a:lumMod val="95000"/>
                  </a:schemeClr>
                </a:solidFill>
              </a:rPr>
              <a:t>의 역할</a:t>
            </a:r>
            <a:endParaRPr lang="ko-KR" altLang="en-US" sz="1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4FF511-3C9D-31FE-5B18-C52F4F4A6213}"/>
              </a:ext>
            </a:extLst>
          </p:cNvPr>
          <p:cNvSpPr txBox="1"/>
          <p:nvPr/>
        </p:nvSpPr>
        <p:spPr>
          <a:xfrm>
            <a:off x="3708400" y="2523123"/>
            <a:ext cx="768985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BIM</a:t>
            </a:r>
            <a:r>
              <a:rPr lang="ko-KR" altLang="en-US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의 필요성과 </a:t>
            </a:r>
            <a:r>
              <a:rPr lang="en-US" altLang="ko-KR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Revit</a:t>
            </a:r>
            <a:r>
              <a:rPr lang="ko-KR" altLang="en-US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의 실무적 이점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1E4B1B4-2D3F-7E30-9BCD-1D154DBC9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8264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B794F76-92A7-64A5-7505-F74ADEDC4246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15D574A-70F9-58D7-BE57-01B5C393EAFD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DCDA68-CE7E-F126-F84C-AAD8D415FA6A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400" b="1">
                <a:solidFill>
                  <a:srgbClr val="FFFFFF"/>
                </a:solidFill>
                <a:latin typeface="Malgun Gothic" panose="020B0503020000020004" pitchFamily="50" charset="-127"/>
              </a:rPr>
              <a:t>BIM </a:t>
            </a:r>
            <a:r>
              <a:rPr lang="ko-KR" altLang="en-US" sz="2400" b="1">
                <a:solidFill>
                  <a:srgbClr val="FFFFFF"/>
                </a:solidFill>
                <a:latin typeface="Malgun Gothic" panose="020B0503020000020004" pitchFamily="50" charset="-127"/>
              </a:rPr>
              <a:t>개념 핵심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0DC332-1F23-7B29-712C-D3FAA19D21B6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BIM</a:t>
            </a:r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의 실무 가치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D018174-8C5D-3645-9AC4-E2D872E9D628}"/>
              </a:ext>
            </a:extLst>
          </p:cNvPr>
          <p:cNvSpPr/>
          <p:nvPr/>
        </p:nvSpPr>
        <p:spPr>
          <a:xfrm>
            <a:off x="457200" y="1422400"/>
            <a:ext cx="3398982" cy="1773382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C844F4-6815-79FB-26CE-FB3DE998901E}"/>
              </a:ext>
            </a:extLst>
          </p:cNvPr>
          <p:cNvSpPr txBox="1"/>
          <p:nvPr/>
        </p:nvSpPr>
        <p:spPr>
          <a:xfrm>
            <a:off x="685800" y="1625600"/>
            <a:ext cx="3048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3D </a:t>
            </a:r>
            <a:r>
              <a:rPr lang="ko-KR" altLang="en-US" sz="16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시각화 및 도면화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E13CD3C-5267-7589-4A59-3ADEA0AAB51E}"/>
              </a:ext>
            </a:extLst>
          </p:cNvPr>
          <p:cNvSpPr/>
          <p:nvPr/>
        </p:nvSpPr>
        <p:spPr>
          <a:xfrm>
            <a:off x="685800" y="2082800"/>
            <a:ext cx="30480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95B1DC-16BC-B0FC-2C64-06EFDF5AE621}"/>
              </a:ext>
            </a:extLst>
          </p:cNvPr>
          <p:cNvSpPr txBox="1"/>
          <p:nvPr/>
        </p:nvSpPr>
        <p:spPr>
          <a:xfrm>
            <a:off x="685800" y="2235200"/>
            <a:ext cx="3048000" cy="830997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sz="12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3D </a:t>
            </a:r>
            <a:r>
              <a:rPr lang="ko-KR" altLang="en-US" sz="12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모델링을 기반으로 도면화 가능</a:t>
            </a:r>
            <a:endParaRPr lang="en-US" altLang="ko-KR" sz="12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sz="12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모델링 변경사항이 실시간으로 도면에 반영됨</a:t>
            </a:r>
            <a:endParaRPr lang="en-US" altLang="ko-KR" sz="12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en-US" altLang="ko-KR" sz="12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C6851F2-57FA-4541-F307-BA9790735FC2}"/>
              </a:ext>
            </a:extLst>
          </p:cNvPr>
          <p:cNvSpPr/>
          <p:nvPr/>
        </p:nvSpPr>
        <p:spPr>
          <a:xfrm>
            <a:off x="4191000" y="1430010"/>
            <a:ext cx="3398982" cy="1773382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8E0607-9DD4-DB3E-4938-CD00C46D4EE3}"/>
              </a:ext>
            </a:extLst>
          </p:cNvPr>
          <p:cNvSpPr txBox="1"/>
          <p:nvPr/>
        </p:nvSpPr>
        <p:spPr>
          <a:xfrm>
            <a:off x="4419600" y="1625600"/>
            <a:ext cx="3048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>
                <a:solidFill>
                  <a:srgbClr val="CC4700"/>
                </a:solidFill>
                <a:latin typeface="Malgun Gothic" panose="020B0503020000020004" pitchFamily="50" charset="-127"/>
              </a:rPr>
              <a:t>간섭 검토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EA63044-2355-F237-517A-151697B04CC2}"/>
              </a:ext>
            </a:extLst>
          </p:cNvPr>
          <p:cNvSpPr/>
          <p:nvPr/>
        </p:nvSpPr>
        <p:spPr>
          <a:xfrm>
            <a:off x="4419600" y="2082800"/>
            <a:ext cx="30480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D659B56-F503-354E-7171-37F4E115A214}"/>
              </a:ext>
            </a:extLst>
          </p:cNvPr>
          <p:cNvSpPr/>
          <p:nvPr/>
        </p:nvSpPr>
        <p:spPr>
          <a:xfrm>
            <a:off x="7924800" y="1422400"/>
            <a:ext cx="3398982" cy="1773382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25A055-813D-9945-A2B3-D211E0DE516B}"/>
              </a:ext>
            </a:extLst>
          </p:cNvPr>
          <p:cNvSpPr txBox="1"/>
          <p:nvPr/>
        </p:nvSpPr>
        <p:spPr>
          <a:xfrm>
            <a:off x="8153400" y="1625600"/>
            <a:ext cx="3048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>
                <a:solidFill>
                  <a:srgbClr val="CC4700"/>
                </a:solidFill>
                <a:latin typeface="Malgun Gothic" panose="020B0503020000020004" pitchFamily="50" charset="-127"/>
              </a:rPr>
              <a:t>정보 활용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E4A1B3-ACF3-82BF-E58F-7F7B18B46EDD}"/>
              </a:ext>
            </a:extLst>
          </p:cNvPr>
          <p:cNvSpPr/>
          <p:nvPr/>
        </p:nvSpPr>
        <p:spPr>
          <a:xfrm>
            <a:off x="8153400" y="2082800"/>
            <a:ext cx="30480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E1E0FA-0AC8-035A-A1F1-964559DF7026}"/>
              </a:ext>
            </a:extLst>
          </p:cNvPr>
          <p:cNvSpPr txBox="1"/>
          <p:nvPr/>
        </p:nvSpPr>
        <p:spPr>
          <a:xfrm>
            <a:off x="8153400" y="2235200"/>
            <a:ext cx="3048000" cy="830997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sz="12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수량산출 자동화</a:t>
            </a:r>
            <a:r>
              <a:rPr lang="en-US" altLang="ko-KR" sz="12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(schedule)</a:t>
            </a:r>
            <a:endParaRPr lang="ko-KR" altLang="en-US" sz="12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sz="12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객체 속성정보 입력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B7A1FC-6522-2859-DEB0-AD1FED9479A7}"/>
              </a:ext>
            </a:extLst>
          </p:cNvPr>
          <p:cNvSpPr txBox="1"/>
          <p:nvPr/>
        </p:nvSpPr>
        <p:spPr>
          <a:xfrm>
            <a:off x="4419600" y="2235200"/>
            <a:ext cx="3048000" cy="830997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sz="1200" b="1" dirty="0">
                <a:solidFill>
                  <a:srgbClr val="6B4724"/>
                </a:solidFill>
              </a:rPr>
              <a:t>다분야 간섭 체크 </a:t>
            </a:r>
            <a:r>
              <a:rPr lang="en-US" altLang="ko-KR" sz="1200" b="1" dirty="0">
                <a:solidFill>
                  <a:srgbClr val="6B4724"/>
                </a:solidFill>
              </a:rPr>
              <a:t>(Clash)</a:t>
            </a:r>
            <a:endParaRPr lang="ko-KR" altLang="en-US" sz="12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093DB83-B2F2-1F50-6861-025ABD5ECBE2}"/>
              </a:ext>
            </a:extLst>
          </p:cNvPr>
          <p:cNvSpPr/>
          <p:nvPr/>
        </p:nvSpPr>
        <p:spPr>
          <a:xfrm>
            <a:off x="457200" y="5638800"/>
            <a:ext cx="6063673" cy="609600"/>
          </a:xfrm>
          <a:prstGeom prst="rect">
            <a:avLst/>
          </a:prstGeom>
          <a:solidFill>
            <a:srgbClr val="FDF8E9"/>
          </a:solidFill>
          <a:ln>
            <a:solidFill>
              <a:srgbClr val="F9EB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>
            <a:normAutofit/>
          </a:bodyPr>
          <a:lstStyle/>
          <a:p>
            <a:pPr algn="ctr"/>
            <a:r>
              <a:rPr lang="ko-KR" altLang="en-US" sz="1600" b="1" dirty="0">
                <a:solidFill>
                  <a:srgbClr val="D66600"/>
                </a:solidFill>
                <a:latin typeface="Malgun Gothic" panose="020B0503020000020004" pitchFamily="50" charset="-127"/>
              </a:rPr>
              <a:t>최종 성과물</a:t>
            </a:r>
            <a:r>
              <a:rPr lang="en-US" altLang="ko-KR" sz="1600" b="1" dirty="0">
                <a:solidFill>
                  <a:srgbClr val="D66600"/>
                </a:solidFill>
                <a:latin typeface="Malgun Gothic" panose="020B0503020000020004" pitchFamily="50" charset="-127"/>
              </a:rPr>
              <a:t>: RVT, NWC, NWD, IFC</a:t>
            </a:r>
            <a:r>
              <a:rPr lang="en-US" altLang="ko-KR" sz="1000" b="1" dirty="0">
                <a:solidFill>
                  <a:srgbClr val="D66600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srgbClr val="D66600"/>
                </a:solidFill>
                <a:latin typeface="Malgun Gothic" panose="020B0503020000020004" pitchFamily="50" charset="-127"/>
              </a:rPr>
              <a:t>충북선 고속화 납품 기준</a:t>
            </a:r>
            <a:r>
              <a:rPr lang="en-US" altLang="ko-KR" sz="1000" b="1" dirty="0">
                <a:solidFill>
                  <a:srgbClr val="D66600"/>
                </a:solidFill>
                <a:latin typeface="Malgun Gothic" panose="020B0503020000020004" pitchFamily="50" charset="-127"/>
              </a:rPr>
              <a:t>)</a:t>
            </a:r>
            <a:endParaRPr lang="ko-KR" altLang="en-US" sz="1000" b="1" dirty="0">
              <a:solidFill>
                <a:srgbClr val="D666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B64D441-894B-6709-E8D4-BCEE53DFF094}"/>
              </a:ext>
            </a:extLst>
          </p:cNvPr>
          <p:cNvSpPr/>
          <p:nvPr/>
        </p:nvSpPr>
        <p:spPr>
          <a:xfrm>
            <a:off x="457200" y="3375983"/>
            <a:ext cx="3398982" cy="1773382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D4C5E8-7D66-F13C-E013-9E5F1EEE43DC}"/>
              </a:ext>
            </a:extLst>
          </p:cNvPr>
          <p:cNvSpPr txBox="1"/>
          <p:nvPr/>
        </p:nvSpPr>
        <p:spPr>
          <a:xfrm>
            <a:off x="685800" y="3579183"/>
            <a:ext cx="3048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협업 가능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FAC2107-AA60-5050-C1A2-404E2461C4D1}"/>
              </a:ext>
            </a:extLst>
          </p:cNvPr>
          <p:cNvSpPr/>
          <p:nvPr/>
        </p:nvSpPr>
        <p:spPr>
          <a:xfrm>
            <a:off x="685800" y="4036383"/>
            <a:ext cx="30480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66CB69-EA25-8C18-8FA4-BDB121C4CDEB}"/>
              </a:ext>
            </a:extLst>
          </p:cNvPr>
          <p:cNvSpPr txBox="1"/>
          <p:nvPr/>
        </p:nvSpPr>
        <p:spPr>
          <a:xfrm>
            <a:off x="685800" y="4188783"/>
            <a:ext cx="3048000" cy="830997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sz="1200" b="1" dirty="0" err="1">
                <a:solidFill>
                  <a:srgbClr val="6B4724"/>
                </a:solidFill>
                <a:latin typeface="Malgun Gothic" panose="020B0503020000020004" pitchFamily="50" charset="-127"/>
              </a:rPr>
              <a:t>Worksharing</a:t>
            </a:r>
            <a:r>
              <a:rPr lang="ko-KR" altLang="en-US" sz="12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을 통한 협업</a:t>
            </a:r>
            <a:endParaRPr lang="en-US" altLang="ko-KR" sz="12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ko-KR" altLang="en-US" sz="12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4250AB80-4D71-4EB8-04F8-5EDFD7427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2777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2673F9-B487-F1E6-7A8B-79311CD2C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51CA9E3-C5C6-FC64-1D68-C621D18FD721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B3F7C5B-6CDF-E143-5B4F-9DC49CD1A4FA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E6583FED-D3D6-564C-1BBC-E71A2F6B7A11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BD8249-39FA-A712-43F1-F476C5A435E7}"/>
              </a:ext>
            </a:extLst>
          </p:cNvPr>
          <p:cNvSpPr txBox="1"/>
          <p:nvPr/>
        </p:nvSpPr>
        <p:spPr>
          <a:xfrm>
            <a:off x="917574" y="1353582"/>
            <a:ext cx="47258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/>
              <a:t>영어버전으로 변경</a:t>
            </a:r>
            <a:r>
              <a:rPr lang="en-US" altLang="ko-KR" sz="2000" b="1" dirty="0"/>
              <a:t> </a:t>
            </a:r>
          </a:p>
          <a:p>
            <a:endParaRPr lang="en-US" altLang="ko-KR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FA3654-8BB7-1C0E-1EFC-7F9488B14D1F}"/>
              </a:ext>
            </a:extLst>
          </p:cNvPr>
          <p:cNvSpPr txBox="1"/>
          <p:nvPr/>
        </p:nvSpPr>
        <p:spPr>
          <a:xfrm>
            <a:off x="917574" y="2061468"/>
            <a:ext cx="38530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/>
              <a:t>1. </a:t>
            </a:r>
            <a:r>
              <a:rPr lang="ko-KR" altLang="en-US" sz="2000" dirty="0"/>
              <a:t>바로가기 </a:t>
            </a:r>
            <a:r>
              <a:rPr lang="ko-KR" altLang="en-US" sz="2000" dirty="0" err="1"/>
              <a:t>우클릭</a:t>
            </a:r>
            <a:r>
              <a:rPr lang="ko-KR" altLang="en-US" sz="2000" dirty="0"/>
              <a:t> 후 </a:t>
            </a:r>
            <a:r>
              <a:rPr lang="ko-KR" altLang="en-US" sz="2000" dirty="0" err="1"/>
              <a:t>속성창</a:t>
            </a:r>
            <a:endParaRPr lang="en-US" altLang="ko-KR" sz="2000" dirty="0"/>
          </a:p>
          <a:p>
            <a:r>
              <a:rPr lang="en-US" altLang="ko-KR" sz="2000" dirty="0"/>
              <a:t>2. KOR → </a:t>
            </a:r>
            <a:r>
              <a:rPr lang="en-US" altLang="ko-KR" sz="2000" dirty="0" err="1"/>
              <a:t>enu</a:t>
            </a:r>
            <a:r>
              <a:rPr lang="ko-KR" altLang="en-US" sz="2000" dirty="0"/>
              <a:t>로 변경</a:t>
            </a:r>
            <a:endParaRPr lang="en-US" altLang="ko-KR" sz="20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9044B88-AA8D-302D-ED9D-37811CBFF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190" y="2061468"/>
            <a:ext cx="3492156" cy="437082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58725B6-4F7A-FC96-C1C3-C797517FB0EC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Revit </a:t>
            </a:r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영어버전으로 변경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97377D6-E73C-9D07-BB71-9A04B7C48879}"/>
              </a:ext>
            </a:extLst>
          </p:cNvPr>
          <p:cNvSpPr/>
          <p:nvPr/>
        </p:nvSpPr>
        <p:spPr>
          <a:xfrm>
            <a:off x="5713020" y="3509818"/>
            <a:ext cx="2608943" cy="23449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4CC7FE-1938-1C9B-E88C-00BDF32FA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6855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FDF21A9-FEC0-8EDC-C3CC-234A22569D01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F6BCEF9-D50A-AB58-D999-EA19FCD2BC4E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930C6F1A-0BD2-C7FA-294A-15C09044F92D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22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92BA74-DE4D-D1B6-DA64-05C5CAAD399A}"/>
              </a:ext>
            </a:extLst>
          </p:cNvPr>
          <p:cNvSpPr txBox="1"/>
          <p:nvPr/>
        </p:nvSpPr>
        <p:spPr>
          <a:xfrm>
            <a:off x="641350" y="2523123"/>
            <a:ext cx="2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600" b="1" dirty="0">
                <a:solidFill>
                  <a:schemeClr val="bg1">
                    <a:lumMod val="95000"/>
                  </a:schemeClr>
                </a:solidFill>
              </a:rPr>
              <a:t>Revit interface</a:t>
            </a:r>
            <a:endParaRPr lang="ko-KR" altLang="en-US" sz="16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D9E5B6-AE84-8733-2E73-049FE59E9AD4}"/>
              </a:ext>
            </a:extLst>
          </p:cNvPr>
          <p:cNvSpPr txBox="1"/>
          <p:nvPr/>
        </p:nvSpPr>
        <p:spPr>
          <a:xfrm>
            <a:off x="3708400" y="2523123"/>
            <a:ext cx="768985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ko-KR" altLang="en-US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리본 기능 기본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FD26D9-A111-7162-0BD4-7079346E0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90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2083122-E2BA-BC4D-82A9-608BBA7B3B19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B20E9C6-B5A3-488C-7F43-F7533EA4E402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1E976E-A4E6-9ACA-3A5C-BC0DC83845FE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Revit </a:t>
            </a:r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화면 전체 구조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B9F424-E701-3E21-359A-252D679B4D66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>
                <a:solidFill>
                  <a:srgbClr val="FFD774"/>
                </a:solidFill>
                <a:latin typeface="Malgun Gothic" panose="020B0503020000020004" pitchFamily="50" charset="-127"/>
              </a:rPr>
              <a:t>먼저 화면을 큰 덩어리로 이해합니다</a:t>
            </a:r>
            <a:r>
              <a:rPr lang="en-US" altLang="ko-KR" sz="1100">
                <a:solidFill>
                  <a:srgbClr val="FFD774"/>
                </a:solidFill>
                <a:latin typeface="Malgun Gothic" panose="020B0503020000020004" pitchFamily="50" charset="-127"/>
              </a:rPr>
              <a:t>.</a:t>
            </a:r>
            <a:endParaRPr lang="ko-KR" altLang="en-US" sz="1100">
              <a:solidFill>
                <a:srgbClr val="FFD77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6F868E-F7B8-F3BF-4B78-5812BB2BFE91}"/>
              </a:ext>
            </a:extLst>
          </p:cNvPr>
          <p:cNvSpPr txBox="1"/>
          <p:nvPr/>
        </p:nvSpPr>
        <p:spPr>
          <a:xfrm>
            <a:off x="150093" y="2708377"/>
            <a:ext cx="2471434" cy="780437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342900" indent="-342900">
              <a:spcAft>
                <a:spcPts val="700"/>
              </a:spcAft>
              <a:buFont typeface="+mj-ea"/>
              <a:buAutoNum type="circleNumDbPlain"/>
            </a:pPr>
            <a:r>
              <a:rPr lang="ko-KR" altLang="en-US" sz="1100" dirty="0">
                <a:solidFill>
                  <a:srgbClr val="FF0000"/>
                </a:solidFill>
              </a:rPr>
              <a:t>빠른 실행 도구 모음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marL="342900" indent="-342900">
              <a:spcAft>
                <a:spcPts val="700"/>
              </a:spcAft>
              <a:buFont typeface="+mj-ea"/>
              <a:buAutoNum type="circleNumDbPlain"/>
            </a:pPr>
            <a:r>
              <a:rPr lang="ko-KR" altLang="en-US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현재 뷰와 객체속성 확인</a:t>
            </a:r>
            <a:r>
              <a:rPr lang="en-US" altLang="ko-KR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(PP)</a:t>
            </a:r>
          </a:p>
          <a:p>
            <a:pPr marL="342900" indent="-342900">
              <a:spcAft>
                <a:spcPts val="700"/>
              </a:spcAft>
              <a:buFont typeface="+mj-ea"/>
              <a:buAutoNum type="circleNumDbPlain"/>
            </a:pPr>
            <a:r>
              <a:rPr lang="ko-KR" altLang="en-US" sz="1100" dirty="0">
                <a:solidFill>
                  <a:srgbClr val="FF0000"/>
                </a:solidFill>
              </a:rPr>
              <a:t>도면 및 패밀리 관리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marL="342900" indent="-342900">
              <a:spcAft>
                <a:spcPts val="700"/>
              </a:spcAft>
              <a:buFont typeface="+mj-lt"/>
              <a:buChar char="✓"/>
            </a:pPr>
            <a:endParaRPr lang="ko-KR" altLang="en-US" sz="1100" dirty="0">
              <a:solidFill>
                <a:srgbClr val="FF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BD3C4E5-FBA5-C342-3E18-125B28BE62E9}"/>
              </a:ext>
            </a:extLst>
          </p:cNvPr>
          <p:cNvSpPr/>
          <p:nvPr/>
        </p:nvSpPr>
        <p:spPr>
          <a:xfrm>
            <a:off x="3028288" y="1009977"/>
            <a:ext cx="8839200" cy="5559455"/>
          </a:xfrm>
          <a:prstGeom prst="rect">
            <a:avLst/>
          </a:prstGeom>
          <a:solidFill>
            <a:srgbClr val="FFFFFF"/>
          </a:solidFill>
          <a:ln w="12700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 descr="텍스트, 스크린샷, 도표, 소프트웨어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2FD874F0-38FE-03D1-619D-BC95018FB3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2" r="13671"/>
          <a:stretch>
            <a:fillRect/>
          </a:stretch>
        </p:blipFill>
        <p:spPr>
          <a:xfrm>
            <a:off x="3067542" y="1080404"/>
            <a:ext cx="8760691" cy="5419283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24D67F57-7A2A-CA93-BE0F-B9A415F3FA8E}"/>
              </a:ext>
            </a:extLst>
          </p:cNvPr>
          <p:cNvSpPr/>
          <p:nvPr/>
        </p:nvSpPr>
        <p:spPr>
          <a:xfrm>
            <a:off x="3028286" y="1211869"/>
            <a:ext cx="6331857" cy="17019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701F590-91F1-1AD6-48B6-E7FAEC3AB4E8}"/>
              </a:ext>
            </a:extLst>
          </p:cNvPr>
          <p:cNvSpPr/>
          <p:nvPr/>
        </p:nvSpPr>
        <p:spPr>
          <a:xfrm>
            <a:off x="3063631" y="1962733"/>
            <a:ext cx="1696804" cy="432152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2DDB2E0-8FAC-FD68-0C57-E677574474A1}"/>
              </a:ext>
            </a:extLst>
          </p:cNvPr>
          <p:cNvSpPr/>
          <p:nvPr/>
        </p:nvSpPr>
        <p:spPr>
          <a:xfrm>
            <a:off x="10530081" y="1962732"/>
            <a:ext cx="1311300" cy="465371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5C5569-8AD6-9949-AB88-5F021F9EB6E6}"/>
              </a:ext>
            </a:extLst>
          </p:cNvPr>
          <p:cNvSpPr txBox="1"/>
          <p:nvPr/>
        </p:nvSpPr>
        <p:spPr>
          <a:xfrm>
            <a:off x="2613892" y="1065902"/>
            <a:ext cx="440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en-US" altLang="ko-KR" dirty="0">
                <a:solidFill>
                  <a:srgbClr val="FF0000"/>
                </a:solidFill>
              </a:rPr>
              <a:t> 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492DE0-27BD-C852-C8D5-F531B663188C}"/>
              </a:ext>
            </a:extLst>
          </p:cNvPr>
          <p:cNvSpPr txBox="1"/>
          <p:nvPr/>
        </p:nvSpPr>
        <p:spPr>
          <a:xfrm>
            <a:off x="2632451" y="1778067"/>
            <a:ext cx="447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 startAt="2"/>
            </a:pPr>
            <a:r>
              <a:rPr lang="en-US" altLang="ko-KR" dirty="0">
                <a:solidFill>
                  <a:srgbClr val="FF0000"/>
                </a:solidFill>
              </a:rPr>
              <a:t> 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92B7D7-615F-90F3-BE0B-5C7D87E63273}"/>
              </a:ext>
            </a:extLst>
          </p:cNvPr>
          <p:cNvSpPr txBox="1"/>
          <p:nvPr/>
        </p:nvSpPr>
        <p:spPr>
          <a:xfrm>
            <a:off x="10155129" y="1839259"/>
            <a:ext cx="335508" cy="3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 startAt="3"/>
            </a:pPr>
            <a:r>
              <a:rPr lang="en-US" altLang="ko-KR" dirty="0">
                <a:solidFill>
                  <a:srgbClr val="FF0000"/>
                </a:solidFill>
              </a:rPr>
              <a:t> 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4F1DCF-C397-22FA-869C-E17590471432}"/>
              </a:ext>
            </a:extLst>
          </p:cNvPr>
          <p:cNvSpPr txBox="1"/>
          <p:nvPr/>
        </p:nvSpPr>
        <p:spPr>
          <a:xfrm>
            <a:off x="177800" y="4720590"/>
            <a:ext cx="3258127" cy="842010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>
              <a:spcAft>
                <a:spcPts val="700"/>
              </a:spcAft>
            </a:pPr>
            <a:r>
              <a:rPr lang="en-US" altLang="ko-KR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* </a:t>
            </a:r>
            <a:r>
              <a:rPr lang="ko-KR" altLang="en-US" sz="1100" b="1" dirty="0">
                <a:solidFill>
                  <a:srgbClr val="FF0000"/>
                </a:solidFill>
              </a:rPr>
              <a:t>주의사항</a:t>
            </a:r>
            <a:endParaRPr lang="en-US" altLang="ko-KR" sz="11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>
              <a:spcAft>
                <a:spcPts val="700"/>
              </a:spcAft>
            </a:pPr>
            <a:r>
              <a:rPr lang="ko-KR" altLang="en-US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도면작성시 기본 도면</a:t>
            </a:r>
            <a:r>
              <a:rPr lang="en-US" altLang="ko-KR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(floor</a:t>
            </a:r>
            <a:r>
              <a:rPr lang="ko-KR" altLang="en-US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plan)</a:t>
            </a:r>
            <a:r>
              <a:rPr lang="ko-KR" altLang="en-US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수정</a:t>
            </a:r>
            <a:r>
              <a:rPr lang="en-US" altLang="ko-KR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x,</a:t>
            </a:r>
          </a:p>
          <a:p>
            <a:pPr>
              <a:spcAft>
                <a:spcPts val="700"/>
              </a:spcAft>
            </a:pPr>
            <a:r>
              <a:rPr lang="ko-KR" altLang="en-US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반드시 복사하여 사용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71DD89-6580-5618-6B84-C71B6A50F5F9}"/>
              </a:ext>
            </a:extLst>
          </p:cNvPr>
          <p:cNvSpPr txBox="1"/>
          <p:nvPr/>
        </p:nvSpPr>
        <p:spPr>
          <a:xfrm>
            <a:off x="8941426" y="5806648"/>
            <a:ext cx="2078133" cy="294821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>
              <a:spcAft>
                <a:spcPts val="700"/>
              </a:spcAft>
            </a:pPr>
            <a:r>
              <a:rPr lang="ko-KR" altLang="en-US" sz="1100" dirty="0" err="1">
                <a:solidFill>
                  <a:srgbClr val="0070C0"/>
                </a:solidFill>
                <a:highlight>
                  <a:srgbClr val="FFFF00"/>
                </a:highlight>
                <a:latin typeface="Malgun Gothic" panose="020B0503020000020004" pitchFamily="50" charset="-127"/>
              </a:rPr>
              <a:t>작업뷰</a:t>
            </a:r>
            <a:r>
              <a:rPr lang="en-US" altLang="ko-KR" sz="1100" dirty="0">
                <a:solidFill>
                  <a:srgbClr val="0070C0"/>
                </a:solidFill>
                <a:highlight>
                  <a:srgbClr val="FFFF00"/>
                </a:highlight>
                <a:latin typeface="Malgun Gothic" panose="020B0503020000020004" pitchFamily="50" charset="-127"/>
              </a:rPr>
              <a:t>, </a:t>
            </a:r>
            <a:r>
              <a:rPr lang="ko-KR" altLang="en-US" sz="1100" dirty="0">
                <a:solidFill>
                  <a:srgbClr val="0070C0"/>
                </a:solidFill>
                <a:highlight>
                  <a:srgbClr val="FFFF00"/>
                </a:highlight>
                <a:latin typeface="Malgun Gothic" panose="020B0503020000020004" pitchFamily="50" charset="-127"/>
              </a:rPr>
              <a:t>시트관리</a:t>
            </a:r>
            <a:r>
              <a:rPr lang="en-US" altLang="ko-KR" sz="1100" dirty="0">
                <a:solidFill>
                  <a:srgbClr val="0070C0"/>
                </a:solidFill>
                <a:highlight>
                  <a:srgbClr val="FFFF00"/>
                </a:highlight>
                <a:latin typeface="Malgun Gothic" panose="020B0503020000020004" pitchFamily="50" charset="-127"/>
              </a:rPr>
              <a:t>, </a:t>
            </a:r>
            <a:r>
              <a:rPr lang="ko-KR" altLang="en-US" sz="1100" dirty="0">
                <a:solidFill>
                  <a:srgbClr val="0070C0"/>
                </a:solidFill>
                <a:highlight>
                  <a:srgbClr val="FFFF00"/>
                </a:highlight>
                <a:latin typeface="Malgun Gothic" panose="020B0503020000020004" pitchFamily="50" charset="-127"/>
              </a:rPr>
              <a:t>패밀리 관리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85CFE4F-43F1-E4EE-7A01-0F7B7003AC68}"/>
              </a:ext>
            </a:extLst>
          </p:cNvPr>
          <p:cNvSpPr/>
          <p:nvPr/>
        </p:nvSpPr>
        <p:spPr>
          <a:xfrm>
            <a:off x="60366" y="2679513"/>
            <a:ext cx="2553526" cy="79694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BB7F2E-3013-DF63-C823-EC57B5158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077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B450B0C-CA8B-DD63-3B32-C58BA4934CB8}"/>
              </a:ext>
            </a:extLst>
          </p:cNvPr>
          <p:cNvSpPr txBox="1"/>
          <p:nvPr/>
        </p:nvSpPr>
        <p:spPr>
          <a:xfrm>
            <a:off x="6768573" y="1509188"/>
            <a:ext cx="518328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Detail</a:t>
            </a:r>
            <a:r>
              <a:rPr lang="ko-KR" altLang="en-US" sz="1800" dirty="0"/>
              <a:t> </a:t>
            </a:r>
            <a:r>
              <a:rPr lang="en-US" altLang="ko-KR" sz="1800" dirty="0"/>
              <a:t>Level:</a:t>
            </a:r>
            <a:r>
              <a:rPr lang="ko-KR" altLang="en-US" dirty="0"/>
              <a:t> </a:t>
            </a:r>
            <a:r>
              <a:rPr lang="en-US" altLang="ko-KR" dirty="0"/>
              <a:t>fine</a:t>
            </a:r>
          </a:p>
          <a:p>
            <a:endParaRPr lang="en-US" altLang="ko-KR" dirty="0"/>
          </a:p>
          <a:p>
            <a:r>
              <a:rPr lang="en-US" altLang="ko-KR" dirty="0"/>
              <a:t>Visual Style: shade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B663138-FD3B-4E7B-0BE3-5531EC259098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1E38D5C-4C03-8547-1F3B-1EEF4EA07E0F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224AA8-BCCC-DCE6-7419-C79C4547A615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>
                <a:solidFill>
                  <a:srgbClr val="FFFFFF"/>
                </a:solidFill>
                <a:latin typeface="Malgun Gothic" panose="020B0503020000020004" pitchFamily="50" charset="-127"/>
              </a:rPr>
              <a:t>리본 메뉴 이해하기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AFCEA1-7E09-4272-F89D-44D1429C125E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>
                <a:solidFill>
                  <a:srgbClr val="FFD774"/>
                </a:solidFill>
                <a:latin typeface="Malgun Gothic" panose="020B0503020000020004" pitchFamily="50" charset="-127"/>
              </a:rPr>
              <a:t>도구는 탭과 패널 기준으로 찾는 습관이 중요합니다</a:t>
            </a:r>
            <a:r>
              <a:rPr lang="en-US" altLang="ko-KR" sz="1100">
                <a:solidFill>
                  <a:srgbClr val="FFD774"/>
                </a:solidFill>
                <a:latin typeface="Malgun Gothic" panose="020B0503020000020004" pitchFamily="50" charset="-127"/>
              </a:rPr>
              <a:t>.</a:t>
            </a:r>
            <a:endParaRPr lang="ko-KR" altLang="en-US" sz="1100">
              <a:solidFill>
                <a:srgbClr val="FFD77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CDC5B-40AB-67AC-6AAB-89B1A65C5477}"/>
              </a:ext>
            </a:extLst>
          </p:cNvPr>
          <p:cNvSpPr txBox="1"/>
          <p:nvPr/>
        </p:nvSpPr>
        <p:spPr>
          <a:xfrm>
            <a:off x="457200" y="1371600"/>
            <a:ext cx="4318000" cy="1107996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✓"/>
            </a:pPr>
            <a:endParaRPr lang="en-US" altLang="ko-KR" sz="1400" dirty="0">
              <a:solidFill>
                <a:srgbClr val="6B4724"/>
              </a:solidFill>
              <a:latin typeface="Malgun Gothic" panose="020B0503020000020004" pitchFamily="50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129D0082-6DBF-3901-EA97-CD94BE190644}"/>
              </a:ext>
            </a:extLst>
          </p:cNvPr>
          <p:cNvGrpSpPr/>
          <p:nvPr/>
        </p:nvGrpSpPr>
        <p:grpSpPr>
          <a:xfrm>
            <a:off x="1046017" y="1498600"/>
            <a:ext cx="4483096" cy="1624284"/>
            <a:chOff x="1166090" y="2674474"/>
            <a:chExt cx="4483096" cy="162428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56E1E6B-6B87-F86E-7BFA-3C321B0F967A}"/>
                </a:ext>
              </a:extLst>
            </p:cNvPr>
            <p:cNvSpPr txBox="1"/>
            <p:nvPr/>
          </p:nvSpPr>
          <p:spPr>
            <a:xfrm>
              <a:off x="1478492" y="3848561"/>
              <a:ext cx="154247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Detail</a:t>
              </a:r>
              <a:r>
                <a:rPr lang="ko-KR" altLang="en-US" sz="1000" dirty="0"/>
                <a:t> </a:t>
              </a:r>
              <a:r>
                <a:rPr lang="en-US" altLang="ko-KR" sz="1000" dirty="0"/>
                <a:t>Level(</a:t>
              </a:r>
              <a:r>
                <a:rPr lang="ko-KR" altLang="en-US" sz="1000" dirty="0"/>
                <a:t>상세수준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AB0FF55-DF74-6D2E-32E3-2647004F6018}"/>
                </a:ext>
              </a:extLst>
            </p:cNvPr>
            <p:cNvSpPr txBox="1"/>
            <p:nvPr/>
          </p:nvSpPr>
          <p:spPr>
            <a:xfrm>
              <a:off x="2103581" y="2688061"/>
              <a:ext cx="9752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Visual Style</a:t>
              </a:r>
              <a:endParaRPr lang="ko-KR" altLang="en-US" sz="10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1459E75-1A38-0DB5-0033-4A658737AE1B}"/>
                </a:ext>
              </a:extLst>
            </p:cNvPr>
            <p:cNvSpPr txBox="1"/>
            <p:nvPr/>
          </p:nvSpPr>
          <p:spPr>
            <a:xfrm>
              <a:off x="3330857" y="2685062"/>
              <a:ext cx="775856" cy="252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뷰 자르기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39DAD40-CBA5-39FB-4BBA-54DB8B5CEB67}"/>
                </a:ext>
              </a:extLst>
            </p:cNvPr>
            <p:cNvSpPr txBox="1"/>
            <p:nvPr/>
          </p:nvSpPr>
          <p:spPr>
            <a:xfrm>
              <a:off x="4106713" y="2674474"/>
              <a:ext cx="154247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임시 숨기기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분리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E4F7DC7-C574-FA7E-2802-A6FAEF4255FC}"/>
                </a:ext>
              </a:extLst>
            </p:cNvPr>
            <p:cNvSpPr txBox="1"/>
            <p:nvPr/>
          </p:nvSpPr>
          <p:spPr>
            <a:xfrm>
              <a:off x="3408064" y="4052537"/>
              <a:ext cx="186481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뷰 자르기 영역 표시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숨기기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45796A0-6A5C-24D6-28A4-3000CCA7AB5C}"/>
                </a:ext>
              </a:extLst>
            </p:cNvPr>
            <p:cNvSpPr txBox="1"/>
            <p:nvPr/>
          </p:nvSpPr>
          <p:spPr>
            <a:xfrm>
              <a:off x="1166090" y="2674475"/>
              <a:ext cx="47683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축척</a:t>
              </a:r>
            </a:p>
          </p:txBody>
        </p: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B9284EEC-E296-3FB4-73C8-A78CDDE87A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58726" y="2940477"/>
              <a:ext cx="75072" cy="2540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33E32AE3-B990-9EC9-0770-96223FDB650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51532" y="3662582"/>
              <a:ext cx="105431" cy="3361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77CAEA3D-9862-F349-695F-613D7DA6C6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75902" y="3534310"/>
              <a:ext cx="127678" cy="2532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BCC58666-6D21-A942-53BC-98FD7D14CF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82870" y="2940477"/>
              <a:ext cx="75072" cy="2540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AF9E1917-E9A8-D242-C489-65ED6FD788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11817" y="2933479"/>
              <a:ext cx="75072" cy="2540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38D9C28E-1E33-1BBF-32F8-7578246A61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0189" y="2920695"/>
              <a:ext cx="75072" cy="2540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3" name="그림 32">
            <a:extLst>
              <a:ext uri="{FF2B5EF4-FFF2-40B4-BE49-F238E27FC236}">
                <a16:creationId xmlns:a16="http://schemas.microsoft.com/office/drawing/2014/main" id="{F4353C4B-5F6D-18D8-0667-438FFB125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503" y="2079657"/>
            <a:ext cx="5768319" cy="237705"/>
          </a:xfrm>
          <a:prstGeom prst="rect">
            <a:avLst/>
          </a:prstGeom>
        </p:spPr>
      </p:pic>
      <p:sp>
        <p:nvSpPr>
          <p:cNvPr id="34" name="직사각형 33">
            <a:extLst>
              <a:ext uri="{FF2B5EF4-FFF2-40B4-BE49-F238E27FC236}">
                <a16:creationId xmlns:a16="http://schemas.microsoft.com/office/drawing/2014/main" id="{C61F07F6-11ED-9412-09C3-6C8ABA46D623}"/>
              </a:ext>
            </a:extLst>
          </p:cNvPr>
          <p:cNvSpPr/>
          <p:nvPr/>
        </p:nvSpPr>
        <p:spPr>
          <a:xfrm>
            <a:off x="457200" y="2079657"/>
            <a:ext cx="2036618" cy="25298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A53BEEF-7CFE-0B0F-EF64-19F347E2DFC8}"/>
              </a:ext>
            </a:extLst>
          </p:cNvPr>
          <p:cNvSpPr/>
          <p:nvPr/>
        </p:nvSpPr>
        <p:spPr>
          <a:xfrm>
            <a:off x="4134152" y="2011633"/>
            <a:ext cx="760912" cy="38932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B18B941B-868E-13B8-5D8A-B0612A92AACB}"/>
              </a:ext>
            </a:extLst>
          </p:cNvPr>
          <p:cNvGrpSpPr/>
          <p:nvPr/>
        </p:nvGrpSpPr>
        <p:grpSpPr>
          <a:xfrm>
            <a:off x="702376" y="4284887"/>
            <a:ext cx="3827647" cy="492924"/>
            <a:chOff x="457200" y="3225754"/>
            <a:chExt cx="2831878" cy="364689"/>
          </a:xfrm>
        </p:grpSpPr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60EE0B8E-62C5-5D78-9D27-C3DFECC1A9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21856" r="3737" b="17271"/>
            <a:stretch>
              <a:fillRect/>
            </a:stretch>
          </p:blipFill>
          <p:spPr>
            <a:xfrm>
              <a:off x="457200" y="3286779"/>
              <a:ext cx="2753584" cy="269665"/>
            </a:xfrm>
            <a:prstGeom prst="rect">
              <a:avLst/>
            </a:prstGeom>
          </p:spPr>
        </p:pic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D2C163C9-91B2-3353-BF46-E292A20F74D9}"/>
                </a:ext>
              </a:extLst>
            </p:cNvPr>
            <p:cNvSpPr/>
            <p:nvPr/>
          </p:nvSpPr>
          <p:spPr>
            <a:xfrm>
              <a:off x="665017" y="3225754"/>
              <a:ext cx="380999" cy="364689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DB860A76-49F0-0EA1-1BFA-8A8AE513D06E}"/>
                </a:ext>
              </a:extLst>
            </p:cNvPr>
            <p:cNvSpPr/>
            <p:nvPr/>
          </p:nvSpPr>
          <p:spPr>
            <a:xfrm>
              <a:off x="1358419" y="3244272"/>
              <a:ext cx="304126" cy="34617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9A7C34D1-2AD2-02E3-3374-62D762F8688B}"/>
                </a:ext>
              </a:extLst>
            </p:cNvPr>
            <p:cNvSpPr/>
            <p:nvPr/>
          </p:nvSpPr>
          <p:spPr>
            <a:xfrm>
              <a:off x="2661679" y="3244272"/>
              <a:ext cx="627399" cy="34617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3C0F12F6-C0CA-68B3-DD37-7C1556572986}"/>
                </a:ext>
              </a:extLst>
            </p:cNvPr>
            <p:cNvSpPr/>
            <p:nvPr/>
          </p:nvSpPr>
          <p:spPr>
            <a:xfrm>
              <a:off x="1987618" y="3225754"/>
              <a:ext cx="379198" cy="364689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F742A6-9ED3-9F92-9ED7-A3A422405AF1}"/>
              </a:ext>
            </a:extLst>
          </p:cNvPr>
          <p:cNvSpPr txBox="1"/>
          <p:nvPr/>
        </p:nvSpPr>
        <p:spPr>
          <a:xfrm>
            <a:off x="349503" y="3723649"/>
            <a:ext cx="11733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1A1C1F"/>
                </a:solidFill>
                <a:latin typeface="ui-monospace"/>
              </a:rPr>
              <a:t>링크 선택 </a:t>
            </a:r>
            <a:r>
              <a:rPr lang="en-US" altLang="ko-KR" sz="1000" dirty="0">
                <a:solidFill>
                  <a:srgbClr val="1A1C1F"/>
                </a:solidFill>
                <a:latin typeface="ui-monospace"/>
              </a:rPr>
              <a:t>on/off</a:t>
            </a:r>
            <a:endParaRPr lang="ko-KR" altLang="en-US" sz="1000" dirty="0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D06436BD-8574-055B-AECF-66A3FD33DFAF}"/>
              </a:ext>
            </a:extLst>
          </p:cNvPr>
          <p:cNvCxnSpPr>
            <a:cxnSpLocks/>
            <a:stCxn id="43" idx="2"/>
          </p:cNvCxnSpPr>
          <p:nvPr/>
        </p:nvCxnSpPr>
        <p:spPr>
          <a:xfrm>
            <a:off x="936175" y="3969870"/>
            <a:ext cx="233941" cy="246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9CC23A9A-592C-78B1-4782-0BE11554D4CC}"/>
              </a:ext>
            </a:extLst>
          </p:cNvPr>
          <p:cNvSpPr txBox="1"/>
          <p:nvPr/>
        </p:nvSpPr>
        <p:spPr>
          <a:xfrm>
            <a:off x="1346871" y="5175311"/>
            <a:ext cx="14240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A1C1F"/>
                </a:solidFill>
                <a:latin typeface="ui-monospace"/>
              </a:rPr>
              <a:t>Pin</a:t>
            </a:r>
            <a:r>
              <a:rPr lang="ko-KR" altLang="en-US" sz="1000" dirty="0">
                <a:solidFill>
                  <a:srgbClr val="1A1C1F"/>
                </a:solidFill>
                <a:latin typeface="ui-monospace"/>
              </a:rPr>
              <a:t> 객체 선택 </a:t>
            </a:r>
            <a:r>
              <a:rPr lang="en-US" altLang="ko-KR" sz="1000" dirty="0">
                <a:solidFill>
                  <a:srgbClr val="1A1C1F"/>
                </a:solidFill>
                <a:latin typeface="ui-monospace"/>
              </a:rPr>
              <a:t>on/off</a:t>
            </a:r>
            <a:endParaRPr lang="ko-KR" altLang="en-US" sz="1000" dirty="0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FD27C8E0-9647-CF65-39B6-386713C004F2}"/>
              </a:ext>
            </a:extLst>
          </p:cNvPr>
          <p:cNvCxnSpPr>
            <a:cxnSpLocks/>
          </p:cNvCxnSpPr>
          <p:nvPr/>
        </p:nvCxnSpPr>
        <p:spPr>
          <a:xfrm flipV="1">
            <a:off x="1920489" y="4883136"/>
            <a:ext cx="205532" cy="246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32984406-6547-1980-646A-BFEBE7970488}"/>
              </a:ext>
            </a:extLst>
          </p:cNvPr>
          <p:cNvSpPr txBox="1"/>
          <p:nvPr/>
        </p:nvSpPr>
        <p:spPr>
          <a:xfrm>
            <a:off x="2291744" y="3523594"/>
            <a:ext cx="18023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>
                <a:solidFill>
                  <a:srgbClr val="1A1C1F"/>
                </a:solidFill>
                <a:latin typeface="ui-monospace"/>
              </a:rPr>
              <a:t>선택없이</a:t>
            </a:r>
            <a:r>
              <a:rPr lang="ko-KR" altLang="en-US" sz="1000" dirty="0">
                <a:solidFill>
                  <a:srgbClr val="1A1C1F"/>
                </a:solidFill>
                <a:latin typeface="ui-monospace"/>
              </a:rPr>
              <a:t> 드래그로 이동 가능 항상 </a:t>
            </a:r>
            <a:r>
              <a:rPr lang="en-US" altLang="ko-KR" sz="1000" dirty="0">
                <a:solidFill>
                  <a:srgbClr val="1A1C1F"/>
                </a:solidFill>
                <a:latin typeface="ui-monospace"/>
              </a:rPr>
              <a:t>x</a:t>
            </a:r>
            <a:r>
              <a:rPr lang="ko-KR" altLang="en-US" sz="1000" dirty="0">
                <a:solidFill>
                  <a:srgbClr val="1A1C1F"/>
                </a:solidFill>
                <a:latin typeface="ui-monospace"/>
              </a:rPr>
              <a:t>로 설정</a:t>
            </a:r>
            <a:endParaRPr lang="ko-KR" altLang="en-US" sz="1000" dirty="0"/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B1F699B2-B90E-28EF-B7E3-DBFFE929E84C}"/>
              </a:ext>
            </a:extLst>
          </p:cNvPr>
          <p:cNvCxnSpPr>
            <a:cxnSpLocks/>
            <a:stCxn id="53" idx="2"/>
          </p:cNvCxnSpPr>
          <p:nvPr/>
        </p:nvCxnSpPr>
        <p:spPr>
          <a:xfrm flipH="1">
            <a:off x="3084086" y="3923704"/>
            <a:ext cx="108848" cy="2427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94C89AD4-2076-0C53-B9F4-4E682FDE5802}"/>
              </a:ext>
            </a:extLst>
          </p:cNvPr>
          <p:cNvSpPr txBox="1"/>
          <p:nvPr/>
        </p:nvSpPr>
        <p:spPr>
          <a:xfrm>
            <a:off x="3102235" y="5236289"/>
            <a:ext cx="14718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1A1C1F"/>
                </a:solidFill>
                <a:latin typeface="ui-monospace"/>
              </a:rPr>
              <a:t>선택 객체 필터로 확인</a:t>
            </a:r>
            <a:endParaRPr lang="ko-KR" altLang="en-US" sz="1000" dirty="0"/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B0F36505-7B7C-C911-9A68-D4451E8FE886}"/>
              </a:ext>
            </a:extLst>
          </p:cNvPr>
          <p:cNvCxnSpPr>
            <a:cxnSpLocks/>
            <a:stCxn id="59" idx="0"/>
          </p:cNvCxnSpPr>
          <p:nvPr/>
        </p:nvCxnSpPr>
        <p:spPr>
          <a:xfrm flipV="1">
            <a:off x="3838136" y="4919332"/>
            <a:ext cx="215627" cy="316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4365D04-1167-0047-E529-C76E35F57451}"/>
              </a:ext>
            </a:extLst>
          </p:cNvPr>
          <p:cNvSpPr txBox="1"/>
          <p:nvPr/>
        </p:nvSpPr>
        <p:spPr>
          <a:xfrm>
            <a:off x="4574037" y="2606596"/>
            <a:ext cx="12371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숨긴 객체 표시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63A791CC-CD8B-286B-2ADA-4C7D224A44D0}"/>
              </a:ext>
            </a:extLst>
          </p:cNvPr>
          <p:cNvCxnSpPr>
            <a:cxnSpLocks/>
          </p:cNvCxnSpPr>
          <p:nvPr/>
        </p:nvCxnSpPr>
        <p:spPr>
          <a:xfrm flipH="1" flipV="1">
            <a:off x="4782416" y="2408074"/>
            <a:ext cx="52715" cy="184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2688CF69-34AE-E339-87B1-229C240B07B5}"/>
              </a:ext>
            </a:extLst>
          </p:cNvPr>
          <p:cNvSpPr/>
          <p:nvPr/>
        </p:nvSpPr>
        <p:spPr>
          <a:xfrm rot="16200000">
            <a:off x="3395404" y="3847689"/>
            <a:ext cx="5836227" cy="45848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6" name="표 45">
            <a:extLst>
              <a:ext uri="{FF2B5EF4-FFF2-40B4-BE49-F238E27FC236}">
                <a16:creationId xmlns:a16="http://schemas.microsoft.com/office/drawing/2014/main" id="{ECCE6B9B-6F49-72C6-5118-9F3A650841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956257"/>
              </p:ext>
            </p:extLst>
          </p:nvPr>
        </p:nvGraphicFramePr>
        <p:xfrm>
          <a:off x="6810867" y="3708401"/>
          <a:ext cx="5140988" cy="2014811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656406">
                  <a:extLst>
                    <a:ext uri="{9D8B030D-6E8A-4147-A177-3AD203B41FA5}">
                      <a16:colId xmlns:a16="http://schemas.microsoft.com/office/drawing/2014/main" val="1267400426"/>
                    </a:ext>
                  </a:extLst>
                </a:gridCol>
                <a:gridCol w="2484582">
                  <a:extLst>
                    <a:ext uri="{9D8B030D-6E8A-4147-A177-3AD203B41FA5}">
                      <a16:colId xmlns:a16="http://schemas.microsoft.com/office/drawing/2014/main" val="1302810371"/>
                    </a:ext>
                  </a:extLst>
                </a:gridCol>
              </a:tblGrid>
              <a:tr h="3686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b="1" dirty="0" err="1">
                          <a:solidFill>
                            <a:schemeClr val="bg1"/>
                          </a:solidFill>
                          <a:effectLst/>
                        </a:rPr>
                        <a:t>기능명</a:t>
                      </a:r>
                      <a:endParaRPr lang="ko-KR" altLang="en-US" sz="11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effectLst/>
                        </a:rPr>
                        <a:t>설명</a:t>
                      </a:r>
                      <a:endParaRPr lang="ko-KR" altLang="en-US" sz="11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231967"/>
                  </a:ext>
                </a:extLst>
              </a:tr>
              <a:tr h="424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effectLst/>
                        </a:rPr>
                        <a:t>Isolate Category</a:t>
                      </a:r>
                      <a:r>
                        <a:rPr lang="en-US" sz="1100" dirty="0">
                          <a:effectLst/>
                        </a:rPr>
                        <a:t> (</a:t>
                      </a:r>
                      <a:r>
                        <a:rPr lang="ko-KR" altLang="en-US" sz="1100" dirty="0">
                          <a:effectLst/>
                        </a:rPr>
                        <a:t>카테고리 단독 선택</a:t>
                      </a:r>
                      <a:r>
                        <a:rPr lang="en-US" altLang="ko-KR" sz="1100" dirty="0">
                          <a:effectLst/>
                        </a:rPr>
                        <a:t>)</a:t>
                      </a:r>
                      <a:endParaRPr lang="en-US" altLang="ko-KR" sz="11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>
                          <a:effectLst/>
                        </a:rPr>
                        <a:t>선택한 객체와 같은 </a:t>
                      </a:r>
                      <a:r>
                        <a:rPr lang="ko-KR" altLang="en-US" sz="1100" b="1" dirty="0">
                          <a:effectLst/>
                        </a:rPr>
                        <a:t>카테고리를</a:t>
                      </a:r>
                      <a:r>
                        <a:rPr lang="en-US" altLang="ko-KR" sz="1100" b="1" dirty="0">
                          <a:effectLst/>
                        </a:rPr>
                        <a:t> </a:t>
                      </a:r>
                      <a:r>
                        <a:rPr lang="ko-KR" altLang="en-US" sz="1100" b="1" dirty="0">
                          <a:effectLst/>
                        </a:rPr>
                        <a:t>제외하고</a:t>
                      </a:r>
                      <a:r>
                        <a:rPr lang="ko-KR" altLang="en-US" sz="1100" dirty="0">
                          <a:effectLst/>
                        </a:rPr>
                        <a:t> 모두 숨김</a:t>
                      </a:r>
                      <a:endParaRPr lang="en-US" altLang="ko-KR" sz="11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2923775"/>
                  </a:ext>
                </a:extLst>
              </a:tr>
              <a:tr h="424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b="1">
                          <a:effectLst/>
                        </a:rPr>
                        <a:t>Hide Category</a:t>
                      </a:r>
                      <a:r>
                        <a:rPr lang="ko-KR" altLang="en-US" sz="1100">
                          <a:effectLst/>
                        </a:rPr>
                        <a:t> </a:t>
                      </a:r>
                      <a:r>
                        <a:rPr lang="en-US" altLang="ko-KR" sz="1100">
                          <a:effectLst/>
                        </a:rPr>
                        <a:t>(</a:t>
                      </a:r>
                      <a:r>
                        <a:rPr lang="ko-KR" altLang="en-US" sz="1100">
                          <a:effectLst/>
                        </a:rPr>
                        <a:t>카테고리 숨기기</a:t>
                      </a:r>
                      <a:r>
                        <a:rPr lang="en-US" altLang="ko-KR" sz="1100">
                          <a:effectLst/>
                        </a:rPr>
                        <a:t>)</a:t>
                      </a:r>
                      <a:endParaRPr lang="en-US" altLang="ko-KR" sz="110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>
                          <a:effectLst/>
                        </a:rPr>
                        <a:t>선택한 객체와 </a:t>
                      </a:r>
                      <a:r>
                        <a:rPr lang="ko-KR" altLang="en-US" sz="1100" b="1" dirty="0">
                          <a:effectLst/>
                        </a:rPr>
                        <a:t>같은 카테고리</a:t>
                      </a:r>
                      <a:r>
                        <a:rPr lang="ko-KR" altLang="en-US" sz="1100" dirty="0">
                          <a:effectLst/>
                        </a:rPr>
                        <a:t>에 속한 모든 객체를 숨김</a:t>
                      </a:r>
                      <a:endParaRPr lang="en-US" altLang="ko-KR" sz="11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1254082"/>
                  </a:ext>
                </a:extLst>
              </a:tr>
              <a:tr h="424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effectLst/>
                        </a:rPr>
                        <a:t>Isolate Element</a:t>
                      </a:r>
                      <a:r>
                        <a:rPr lang="en-US" sz="1100">
                          <a:effectLst/>
                        </a:rPr>
                        <a:t> (</a:t>
                      </a:r>
                      <a:r>
                        <a:rPr lang="ko-KR" altLang="en-US" sz="1100">
                          <a:effectLst/>
                        </a:rPr>
                        <a:t>요소 단독 선택</a:t>
                      </a:r>
                      <a:r>
                        <a:rPr lang="en-US" altLang="ko-KR" sz="1100">
                          <a:effectLst/>
                        </a:rPr>
                        <a:t>)</a:t>
                      </a:r>
                      <a:endParaRPr lang="en-US" altLang="ko-KR" sz="110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b="1">
                          <a:effectLst/>
                        </a:rPr>
                        <a:t>선택한 객체를</a:t>
                      </a:r>
                      <a:r>
                        <a:rPr lang="ko-KR" altLang="en-US" sz="1100">
                          <a:effectLst/>
                        </a:rPr>
                        <a:t> 제외하고 모두 숨김</a:t>
                      </a:r>
                      <a:endParaRPr lang="en-US" altLang="ko-KR" sz="11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5932955"/>
                  </a:ext>
                </a:extLst>
              </a:tr>
              <a:tr h="3686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effectLst/>
                        </a:rPr>
                        <a:t>Hide Element</a:t>
                      </a:r>
                      <a:r>
                        <a:rPr lang="en-US" sz="1100" dirty="0">
                          <a:effectLst/>
                        </a:rPr>
                        <a:t> (</a:t>
                      </a:r>
                      <a:r>
                        <a:rPr lang="ko-KR" altLang="en-US" sz="1100" dirty="0">
                          <a:effectLst/>
                        </a:rPr>
                        <a:t>요소 숨기기</a:t>
                      </a:r>
                      <a:r>
                        <a:rPr lang="en-US" altLang="ko-KR" sz="1100" dirty="0">
                          <a:effectLst/>
                        </a:rPr>
                        <a:t>)</a:t>
                      </a:r>
                      <a:endParaRPr lang="en-US" altLang="ko-KR" sz="11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b="1" dirty="0">
                          <a:effectLst/>
                        </a:rPr>
                        <a:t>선택한 객체만</a:t>
                      </a:r>
                      <a:r>
                        <a:rPr lang="ko-KR" altLang="en-US" sz="1100" dirty="0">
                          <a:effectLst/>
                        </a:rPr>
                        <a:t> 콕 집어서 숨김</a:t>
                      </a:r>
                      <a:endParaRPr lang="en-US" altLang="ko-KR" sz="11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89981"/>
                  </a:ext>
                </a:extLst>
              </a:tr>
            </a:tbl>
          </a:graphicData>
        </a:graphic>
      </p:graphicFrame>
      <p:pic>
        <p:nvPicPr>
          <p:cNvPr id="45" name="그림 44">
            <a:extLst>
              <a:ext uri="{FF2B5EF4-FFF2-40B4-BE49-F238E27FC236}">
                <a16:creationId xmlns:a16="http://schemas.microsoft.com/office/drawing/2014/main" id="{C3DE56C3-60AD-962A-34BF-3C23F890D64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114" t="5342" b="22387"/>
          <a:stretch>
            <a:fillRect/>
          </a:stretch>
        </p:blipFill>
        <p:spPr>
          <a:xfrm>
            <a:off x="6815810" y="3326277"/>
            <a:ext cx="432634" cy="3567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00ADAE-6643-DC26-8446-820DDD4CC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96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5FDB0CC-4A60-841D-3665-9D4B445A8B19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8D3B737-0E8C-1511-489D-CF4F20035D08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A79EB2-5AD3-39AC-C5AE-B5F673F27CC6}"/>
              </a:ext>
            </a:extLst>
          </p:cNvPr>
          <p:cNvSpPr txBox="1"/>
          <p:nvPr/>
        </p:nvSpPr>
        <p:spPr>
          <a:xfrm>
            <a:off x="3708400" y="2523123"/>
            <a:ext cx="6604000" cy="1327150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1. </a:t>
            </a:r>
            <a:r>
              <a:rPr lang="ko-KR" altLang="en-US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중앙 파일과 로컬 파일 개념</a:t>
            </a:r>
            <a:endParaRPr lang="en-US" altLang="ko-KR" sz="2000" b="1" dirty="0">
              <a:solidFill>
                <a:srgbClr val="CC4700"/>
              </a:solidFill>
              <a:latin typeface="Malgun Gothic" panose="020B0503020000020004" pitchFamily="50" charset="-127"/>
            </a:endParaRPr>
          </a:p>
          <a:p>
            <a:pPr marL="457200" indent="-457200">
              <a:buAutoNum type="arabicPeriod"/>
            </a:pPr>
            <a:endParaRPr lang="en-US" altLang="ko-KR" sz="2000" b="1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r>
              <a:rPr lang="en-US" altLang="ko-KR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2. VBS </a:t>
            </a:r>
            <a:r>
              <a:rPr lang="ko-KR" altLang="en-US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로컬파일 생성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CDEB0C98-AE05-F84C-0AAE-71BA0C1B6CC7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22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3</a:t>
            </a:r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5D3EF8-9979-B863-CD38-7751C5D72633}"/>
              </a:ext>
            </a:extLst>
          </p:cNvPr>
          <p:cNvSpPr txBox="1"/>
          <p:nvPr/>
        </p:nvSpPr>
        <p:spPr>
          <a:xfrm>
            <a:off x="641350" y="2523123"/>
            <a:ext cx="262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400" b="1" dirty="0">
                <a:solidFill>
                  <a:schemeClr val="bg1">
                    <a:lumMod val="95000"/>
                  </a:schemeClr>
                </a:solidFill>
              </a:rPr>
              <a:t>공동작업 </a:t>
            </a:r>
            <a:r>
              <a:rPr lang="en-US" altLang="ko-KR" sz="1400" b="1" dirty="0" err="1">
                <a:solidFill>
                  <a:schemeClr val="bg1">
                    <a:lumMod val="95000"/>
                  </a:schemeClr>
                </a:solidFill>
              </a:rPr>
              <a:t>Worksharing</a:t>
            </a:r>
            <a:endParaRPr lang="ko-KR" altLang="en-US" sz="1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13C2463-E382-CB83-3570-151E3C97A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795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C452C61-A00C-496C-2780-F029720B1CA3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C96344E-22CE-B132-6450-5BF9A7E14DCD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BCB915-91A9-41C3-9480-525126A7016E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공동작업 </a:t>
            </a:r>
            <a:r>
              <a:rPr lang="en-US" altLang="ko-KR" sz="2400" b="1" dirty="0" err="1">
                <a:solidFill>
                  <a:schemeClr val="bg1">
                    <a:lumMod val="95000"/>
                  </a:schemeClr>
                </a:solidFill>
              </a:rPr>
              <a:t>Worksharing</a:t>
            </a:r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 설정 기본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4FA1D9-1527-C31C-8153-8DA905791AE2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Central file, </a:t>
            </a:r>
            <a:r>
              <a:rPr lang="en-US" altLang="ko-KR" sz="1100" dirty="0" err="1">
                <a:solidFill>
                  <a:srgbClr val="FFD774"/>
                </a:solidFill>
                <a:latin typeface="Malgun Gothic" panose="020B0503020000020004" pitchFamily="50" charset="-127"/>
              </a:rPr>
              <a:t>Workset</a:t>
            </a:r>
            <a:r>
              <a:rPr lang="en-US" altLang="ko-KR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, Synchronize</a:t>
            </a:r>
            <a:endParaRPr lang="ko-KR" altLang="en-US" sz="1100" dirty="0">
              <a:solidFill>
                <a:srgbClr val="FFD77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569022-47F7-9273-C47D-A77CACBB8218}"/>
              </a:ext>
            </a:extLst>
          </p:cNvPr>
          <p:cNvSpPr/>
          <p:nvPr/>
        </p:nvSpPr>
        <p:spPr>
          <a:xfrm>
            <a:off x="457200" y="1473200"/>
            <a:ext cx="5334000" cy="3987800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37AEAA-B315-B81C-7147-CA46F9C1EA9D}"/>
              </a:ext>
            </a:extLst>
          </p:cNvPr>
          <p:cNvSpPr txBox="1"/>
          <p:nvPr/>
        </p:nvSpPr>
        <p:spPr>
          <a:xfrm>
            <a:off x="685800" y="1676400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ko-KR" altLang="en-US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핵심 개념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983C3E-4F2D-D942-1CE6-3F0A541B83D9}"/>
              </a:ext>
            </a:extLst>
          </p:cNvPr>
          <p:cNvSpPr/>
          <p:nvPr/>
        </p:nvSpPr>
        <p:spPr>
          <a:xfrm>
            <a:off x="685800" y="2133600"/>
            <a:ext cx="48768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DEB97A-F017-C9E2-21DB-DE71CEF168FA}"/>
              </a:ext>
            </a:extLst>
          </p:cNvPr>
          <p:cNvSpPr txBox="1"/>
          <p:nvPr/>
        </p:nvSpPr>
        <p:spPr>
          <a:xfrm>
            <a:off x="685799" y="2290618"/>
            <a:ext cx="5105401" cy="317038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b="1" u="sng" dirty="0">
                <a:solidFill>
                  <a:srgbClr val="6B4724"/>
                </a:solidFill>
              </a:rPr>
              <a:t>Central file</a:t>
            </a:r>
            <a:r>
              <a:rPr lang="ko-KR" altLang="en-US" b="1" dirty="0">
                <a:solidFill>
                  <a:srgbClr val="6B4724"/>
                </a:solidFill>
              </a:rPr>
              <a:t>은 공유하는 기준 모델</a:t>
            </a:r>
            <a:endParaRPr lang="en-US" altLang="ko-KR" b="1" dirty="0">
              <a:solidFill>
                <a:srgbClr val="6B4724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en-US" altLang="ko-KR" b="1" dirty="0">
              <a:solidFill>
                <a:srgbClr val="6B4724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b="1" u="sng" dirty="0">
                <a:solidFill>
                  <a:srgbClr val="6B4724"/>
                </a:solidFill>
              </a:rPr>
              <a:t>Local file</a:t>
            </a:r>
            <a:r>
              <a:rPr lang="ko-KR" altLang="en-US" b="1" dirty="0">
                <a:solidFill>
                  <a:srgbClr val="6B4724"/>
                </a:solidFill>
              </a:rPr>
              <a:t>은 작업자가 실제 작업하는 모델</a:t>
            </a:r>
            <a:endParaRPr lang="en-US" altLang="ko-KR" b="1" dirty="0">
              <a:solidFill>
                <a:srgbClr val="6B4724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en-US" altLang="ko-KR" b="1" dirty="0">
              <a:solidFill>
                <a:srgbClr val="6B4724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b="1" dirty="0" err="1">
                <a:solidFill>
                  <a:srgbClr val="6B4724"/>
                </a:solidFill>
              </a:rPr>
              <a:t>Workset</a:t>
            </a:r>
            <a:r>
              <a:rPr lang="ko-KR" altLang="en-US" b="1" dirty="0">
                <a:solidFill>
                  <a:srgbClr val="6B4724"/>
                </a:solidFill>
              </a:rPr>
              <a:t>으로 작업 영역을 분리</a:t>
            </a:r>
            <a:endParaRPr lang="en-US" altLang="ko-KR" b="1" dirty="0">
              <a:solidFill>
                <a:srgbClr val="6B4724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en-US" altLang="ko-KR" b="1" dirty="0">
              <a:solidFill>
                <a:srgbClr val="6B4724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b="1" dirty="0">
                <a:solidFill>
                  <a:srgbClr val="6B4724"/>
                </a:solidFill>
              </a:rPr>
              <a:t>Synchronize(</a:t>
            </a:r>
            <a:r>
              <a:rPr lang="ko-KR" altLang="en-US" b="1" dirty="0">
                <a:solidFill>
                  <a:srgbClr val="6B4724"/>
                </a:solidFill>
              </a:rPr>
              <a:t>동기화</a:t>
            </a:r>
            <a:r>
              <a:rPr lang="en-US" altLang="ko-KR" b="1" dirty="0">
                <a:solidFill>
                  <a:srgbClr val="6B4724"/>
                </a:solidFill>
              </a:rPr>
              <a:t>) =</a:t>
            </a:r>
            <a:r>
              <a:rPr lang="ko-KR" altLang="en-US" b="1" dirty="0">
                <a:solidFill>
                  <a:srgbClr val="6B4724"/>
                </a:solidFill>
              </a:rPr>
              <a:t>저장</a:t>
            </a:r>
            <a:endParaRPr lang="en-US" altLang="ko-KR" b="1" dirty="0">
              <a:solidFill>
                <a:srgbClr val="6B4724"/>
              </a:solidFill>
            </a:endParaRPr>
          </a:p>
          <a:p>
            <a:pPr>
              <a:spcAft>
                <a:spcPts val="400"/>
              </a:spcAft>
            </a:pPr>
            <a:endParaRPr lang="en-US" altLang="ko-KR" b="1" dirty="0">
              <a:solidFill>
                <a:srgbClr val="6B4724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B3ADDB3-C4A2-652B-2115-0D8C6D9DD37B}"/>
              </a:ext>
            </a:extLst>
          </p:cNvPr>
          <p:cNvSpPr/>
          <p:nvPr/>
        </p:nvSpPr>
        <p:spPr>
          <a:xfrm>
            <a:off x="6223000" y="1473200"/>
            <a:ext cx="5334000" cy="3987800"/>
          </a:xfrm>
          <a:prstGeom prst="rect">
            <a:avLst/>
          </a:prstGeom>
          <a:solidFill>
            <a:srgbClr val="FFFFFF"/>
          </a:solidFill>
          <a:ln w="15875">
            <a:solidFill>
              <a:srgbClr val="EFA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AFB15B-1D69-A171-8A65-AB8B04104AE6}"/>
              </a:ext>
            </a:extLst>
          </p:cNvPr>
          <p:cNvSpPr txBox="1"/>
          <p:nvPr/>
        </p:nvSpPr>
        <p:spPr>
          <a:xfrm>
            <a:off x="6451600" y="1676400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ko-KR" altLang="en-US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주의사항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A026B5B-2F4C-022F-DE30-2F84DF963CFB}"/>
              </a:ext>
            </a:extLst>
          </p:cNvPr>
          <p:cNvSpPr/>
          <p:nvPr/>
        </p:nvSpPr>
        <p:spPr>
          <a:xfrm>
            <a:off x="6451600" y="2133600"/>
            <a:ext cx="48768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225DA3-446C-3F02-842D-52375FF40F8C}"/>
              </a:ext>
            </a:extLst>
          </p:cNvPr>
          <p:cNvSpPr txBox="1"/>
          <p:nvPr/>
        </p:nvSpPr>
        <p:spPr>
          <a:xfrm>
            <a:off x="6451599" y="2286000"/>
            <a:ext cx="5105401" cy="2276764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b="1" dirty="0">
                <a:solidFill>
                  <a:srgbClr val="FF0000"/>
                </a:solidFill>
              </a:rPr>
              <a:t>중앙 파일 직접 열어서 작업 금지</a:t>
            </a:r>
            <a:endParaRPr lang="en-US" altLang="ko-KR" b="1" dirty="0">
              <a:solidFill>
                <a:srgbClr val="FF0000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en-US" altLang="ko-KR" b="1" dirty="0">
              <a:solidFill>
                <a:srgbClr val="FF0000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b="1" dirty="0">
                <a:solidFill>
                  <a:srgbClr val="6B4724"/>
                </a:solidFill>
              </a:rPr>
              <a:t>드라이브 경로 동일하게 설정</a:t>
            </a:r>
            <a:endParaRPr lang="en-US" altLang="ko-KR" b="1" dirty="0">
              <a:solidFill>
                <a:srgbClr val="6B4724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ko-KR" altLang="en-US" b="1" dirty="0">
              <a:solidFill>
                <a:srgbClr val="6B4724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b="1" dirty="0">
                <a:solidFill>
                  <a:srgbClr val="6B4724"/>
                </a:solidFill>
              </a:rPr>
              <a:t>작업 전 로컬 파일 생성 확인</a:t>
            </a:r>
            <a:endParaRPr lang="en-US" altLang="ko-KR" b="1" dirty="0">
              <a:solidFill>
                <a:srgbClr val="6B4724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ko-KR" altLang="en-US" b="1" dirty="0">
              <a:solidFill>
                <a:srgbClr val="6B4724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b="1" dirty="0">
                <a:solidFill>
                  <a:srgbClr val="6B4724"/>
                </a:solidFill>
              </a:rPr>
              <a:t>작업 후 동기화 습관들이기</a:t>
            </a:r>
            <a:endParaRPr lang="en-US" altLang="ko-KR" b="1" dirty="0">
              <a:solidFill>
                <a:srgbClr val="6B4724"/>
              </a:solidFill>
            </a:endParaRPr>
          </a:p>
          <a:p>
            <a:pPr>
              <a:spcAft>
                <a:spcPts val="400"/>
              </a:spcAft>
            </a:pPr>
            <a:r>
              <a:rPr lang="en-US" altLang="ko-KR" b="1" dirty="0">
                <a:solidFill>
                  <a:srgbClr val="6B4724"/>
                </a:solidFill>
              </a:rPr>
              <a:t>   (</a:t>
            </a:r>
            <a:r>
              <a:rPr lang="ko-KR" altLang="en-US" b="1" dirty="0">
                <a:solidFill>
                  <a:srgbClr val="6B4724"/>
                </a:solidFill>
              </a:rPr>
              <a:t>공동작업 시 </a:t>
            </a:r>
            <a:r>
              <a:rPr lang="en-US" altLang="ko-KR" b="1" dirty="0">
                <a:solidFill>
                  <a:srgbClr val="6B4724"/>
                </a:solidFill>
              </a:rPr>
              <a:t>2</a:t>
            </a:r>
            <a:r>
              <a:rPr lang="ko-KR" altLang="en-US" b="1" dirty="0">
                <a:solidFill>
                  <a:srgbClr val="6B4724"/>
                </a:solidFill>
              </a:rPr>
              <a:t>시간 주기로 저장을 권장</a:t>
            </a:r>
            <a:r>
              <a:rPr lang="en-US" altLang="ko-KR" b="1" dirty="0">
                <a:solidFill>
                  <a:srgbClr val="6B4724"/>
                </a:solidFill>
              </a:rPr>
              <a:t>)</a:t>
            </a:r>
            <a:endParaRPr lang="ko-KR" altLang="en-US" b="1" dirty="0">
              <a:solidFill>
                <a:srgbClr val="6B4724"/>
              </a:solidFill>
            </a:endParaRPr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94593CF0-1C03-6CAF-9C8A-5AA6DC1AC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0512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70EAE7-C19B-A75A-6A0E-B66348E21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02193DB-5324-028B-E231-D592583635E3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7FB8FA5-6654-D04B-7727-BADCE10C7C6D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81BACB-7B0A-7148-08E0-43D76451CAE3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공동작업 </a:t>
            </a:r>
            <a:r>
              <a:rPr lang="en-US" altLang="ko-KR" sz="2400" b="1" dirty="0" err="1">
                <a:solidFill>
                  <a:schemeClr val="bg1">
                    <a:lumMod val="95000"/>
                  </a:schemeClr>
                </a:solidFill>
              </a:rPr>
              <a:t>Worksharing</a:t>
            </a:r>
            <a:endParaRPr lang="ko-KR" altLang="en-US" sz="2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A987D7B-A282-277D-3A85-5F6F2A4068CF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143074-05B1-830E-71A7-7C746B65193F}"/>
              </a:ext>
            </a:extLst>
          </p:cNvPr>
          <p:cNvSpPr txBox="1"/>
          <p:nvPr/>
        </p:nvSpPr>
        <p:spPr>
          <a:xfrm>
            <a:off x="917574" y="1353582"/>
            <a:ext cx="218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Central File </a:t>
            </a:r>
            <a:r>
              <a:rPr lang="ko-KR" altLang="en-US" sz="2000" b="1" dirty="0"/>
              <a:t>생성</a:t>
            </a:r>
            <a:endParaRPr lang="en-US" altLang="ko-KR" sz="2000" b="1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12CD8B6-55CD-FB38-EE9B-2AC731856450}"/>
              </a:ext>
            </a:extLst>
          </p:cNvPr>
          <p:cNvGrpSpPr/>
          <p:nvPr/>
        </p:nvGrpSpPr>
        <p:grpSpPr>
          <a:xfrm>
            <a:off x="3900343" y="1954647"/>
            <a:ext cx="7293842" cy="4169929"/>
            <a:chOff x="917575" y="1861413"/>
            <a:chExt cx="6938585" cy="3966827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DBC3BAE6-C135-0D14-A5E9-D5377DF2F0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16960" b="10472"/>
            <a:stretch>
              <a:fillRect/>
            </a:stretch>
          </p:blipFill>
          <p:spPr>
            <a:xfrm>
              <a:off x="917575" y="1861413"/>
              <a:ext cx="6938585" cy="3966827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3AA4EBA8-2FAE-D5C2-5FA2-748C2454B496}"/>
                </a:ext>
              </a:extLst>
            </p:cNvPr>
            <p:cNvSpPr/>
            <p:nvPr/>
          </p:nvSpPr>
          <p:spPr>
            <a:xfrm>
              <a:off x="5293761" y="4488756"/>
              <a:ext cx="2206166" cy="49888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49809B7-A9E1-B99E-2A5C-8F361EB79B4F}"/>
                </a:ext>
              </a:extLst>
            </p:cNvPr>
            <p:cNvSpPr/>
            <p:nvPr/>
          </p:nvSpPr>
          <p:spPr>
            <a:xfrm>
              <a:off x="1742379" y="2127567"/>
              <a:ext cx="428166" cy="54174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76FC468-2139-D751-8DBA-FF094D2D03B9}"/>
                </a:ext>
              </a:extLst>
            </p:cNvPr>
            <p:cNvSpPr/>
            <p:nvPr/>
          </p:nvSpPr>
          <p:spPr>
            <a:xfrm>
              <a:off x="4667274" y="1975166"/>
              <a:ext cx="505089" cy="25079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D9BE9762-7573-993E-53CC-00AFED7CEFFA}"/>
              </a:ext>
            </a:extLst>
          </p:cNvPr>
          <p:cNvSpPr txBox="1"/>
          <p:nvPr/>
        </p:nvSpPr>
        <p:spPr>
          <a:xfrm>
            <a:off x="917574" y="1954647"/>
            <a:ext cx="259224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ko-KR" altLang="en-US" dirty="0"/>
              <a:t>드라이브 경로 설정</a:t>
            </a: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en-US" altLang="ko-KR" dirty="0"/>
              <a:t>File open</a:t>
            </a:r>
          </a:p>
          <a:p>
            <a:pPr marL="342900" indent="-342900">
              <a:buFont typeface="+mj-ea"/>
              <a:buAutoNum type="circleNumDbPlain"/>
            </a:pP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en-US" altLang="ko-KR" dirty="0"/>
              <a:t>Central File</a:t>
            </a:r>
            <a:r>
              <a:rPr lang="ko-KR" altLang="en-US" dirty="0"/>
              <a:t>저장</a:t>
            </a: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/>
              <a:t>다시 저장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A4F8186-CFF8-89DE-47A0-07ED9EFBF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0D4F42-130B-4CB7-F695-39BC52DB8562}"/>
              </a:ext>
            </a:extLst>
          </p:cNvPr>
          <p:cNvSpPr txBox="1"/>
          <p:nvPr/>
        </p:nvSpPr>
        <p:spPr>
          <a:xfrm>
            <a:off x="525608" y="5397590"/>
            <a:ext cx="3198668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endParaRPr lang="en-US" altLang="ko-KR" sz="1400" dirty="0">
              <a:solidFill>
                <a:srgbClr val="FF0000"/>
              </a:solidFill>
            </a:endParaRPr>
          </a:p>
          <a:p>
            <a:r>
              <a:rPr lang="en-US" altLang="ko-KR" sz="1600" b="1" dirty="0">
                <a:solidFill>
                  <a:srgbClr val="FF0000"/>
                </a:solidFill>
              </a:rPr>
              <a:t>*</a:t>
            </a:r>
            <a:r>
              <a:rPr lang="ko-KR" altLang="en-US" sz="1600" b="1" dirty="0">
                <a:solidFill>
                  <a:srgbClr val="FF0000"/>
                </a:solidFill>
              </a:rPr>
              <a:t>센트럴 파일명이나 경로 </a:t>
            </a:r>
            <a:r>
              <a:rPr lang="ko-KR" altLang="en-US" sz="1600" b="1" dirty="0" err="1">
                <a:solidFill>
                  <a:srgbClr val="FF0000"/>
                </a:solidFill>
              </a:rPr>
              <a:t>변동시</a:t>
            </a:r>
            <a:endParaRPr lang="en-US" altLang="ko-KR" sz="1600" b="1" dirty="0">
              <a:solidFill>
                <a:srgbClr val="FF0000"/>
              </a:solidFill>
            </a:endParaRPr>
          </a:p>
          <a:p>
            <a:r>
              <a:rPr lang="ko-KR" altLang="en-US" sz="1600" b="1" dirty="0">
                <a:solidFill>
                  <a:srgbClr val="FF0000"/>
                </a:solidFill>
              </a:rPr>
              <a:t>  </a:t>
            </a:r>
            <a:r>
              <a:rPr lang="en-US" altLang="ko-KR" sz="1600" b="1" dirty="0">
                <a:solidFill>
                  <a:srgbClr val="FF0000"/>
                </a:solidFill>
              </a:rPr>
              <a:t>Central</a:t>
            </a:r>
            <a:r>
              <a:rPr lang="ko-KR" altLang="en-US" sz="1600" b="1" dirty="0">
                <a:solidFill>
                  <a:srgbClr val="FF0000"/>
                </a:solidFill>
              </a:rPr>
              <a:t> </a:t>
            </a:r>
            <a:r>
              <a:rPr lang="en-US" altLang="ko-KR" sz="1600" b="1" dirty="0">
                <a:solidFill>
                  <a:srgbClr val="FF0000"/>
                </a:solidFill>
              </a:rPr>
              <a:t>File </a:t>
            </a:r>
            <a:r>
              <a:rPr lang="ko-KR" altLang="en-US" sz="1600" b="1" dirty="0">
                <a:solidFill>
                  <a:srgbClr val="FF0000"/>
                </a:solidFill>
              </a:rPr>
              <a:t>재생성 해야함</a:t>
            </a:r>
            <a:endParaRPr lang="en-US" altLang="ko-KR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388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F60C59-4B78-B5F0-E09E-571217A3F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BF3DF01-173C-B850-6DB4-BBFCDB11FB3B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37FD244-AFCF-B38D-0E5E-D4A47214D5D0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DBE436-0FC5-E2E9-722F-62195876051D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공동작업 </a:t>
            </a:r>
            <a:r>
              <a:rPr lang="en-US" altLang="ko-KR" sz="2400" b="1" dirty="0" err="1">
                <a:solidFill>
                  <a:schemeClr val="bg1">
                    <a:lumMod val="95000"/>
                  </a:schemeClr>
                </a:solidFill>
              </a:rPr>
              <a:t>Worksharing</a:t>
            </a:r>
            <a:endParaRPr lang="ko-KR" altLang="en-US" sz="2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8B537CB-0CD9-F829-7F7A-5DBCEFDA6094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AC05891-C7BF-8A20-2913-FDF38ECFB844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Central File </a:t>
            </a:r>
            <a:r>
              <a:rPr lang="ko-KR" altLang="en-US" sz="2000" b="1" dirty="0"/>
              <a:t>생성</a:t>
            </a:r>
            <a:endParaRPr lang="en-US" altLang="ko-KR" sz="2000" b="1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5FFBE370-1503-A3C4-5133-A791C85546AE}"/>
              </a:ext>
            </a:extLst>
          </p:cNvPr>
          <p:cNvGrpSpPr/>
          <p:nvPr/>
        </p:nvGrpSpPr>
        <p:grpSpPr>
          <a:xfrm>
            <a:off x="843685" y="2201740"/>
            <a:ext cx="8789842" cy="1392733"/>
            <a:chOff x="3268073" y="5271710"/>
            <a:chExt cx="8392675" cy="1329802"/>
          </a:xfrm>
        </p:grpSpPr>
        <p:pic>
          <p:nvPicPr>
            <p:cNvPr id="6" name="그림 5" descr="텍스트, 스크린샷, 소프트웨어, 폰트이(가) 표시된 사진  AI 생성 콘텐츠는 정확하지 않을 수 있습니다.">
              <a:extLst>
                <a:ext uri="{FF2B5EF4-FFF2-40B4-BE49-F238E27FC236}">
                  <a16:creationId xmlns:a16="http://schemas.microsoft.com/office/drawing/2014/main" id="{74DBB6C1-86ED-BB1B-6EA1-49E2730B10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01278" y="5764833"/>
              <a:ext cx="2286005" cy="836679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46957D9-8AD8-D01A-A646-0B046EF04C93}"/>
                </a:ext>
              </a:extLst>
            </p:cNvPr>
            <p:cNvSpPr/>
            <p:nvPr/>
          </p:nvSpPr>
          <p:spPr>
            <a:xfrm>
              <a:off x="4113542" y="5737209"/>
              <a:ext cx="190654" cy="16171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83791AC-BA78-5167-5EDD-CEE589C65686}"/>
                </a:ext>
              </a:extLst>
            </p:cNvPr>
            <p:cNvSpPr txBox="1"/>
            <p:nvPr/>
          </p:nvSpPr>
          <p:spPr>
            <a:xfrm>
              <a:off x="3268073" y="5271710"/>
              <a:ext cx="8392675" cy="3526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altLang="ko-KR" dirty="0"/>
                <a:t>Sync</a:t>
              </a:r>
              <a:r>
                <a:rPr lang="ko-KR" altLang="en-US" dirty="0"/>
                <a:t> 아이콘 활성화 확인</a:t>
              </a:r>
              <a:r>
                <a:rPr lang="en-US" altLang="ko-KR" dirty="0"/>
                <a:t>(</a:t>
              </a:r>
              <a:r>
                <a:rPr lang="ko-KR" altLang="en-US" dirty="0"/>
                <a:t>활성화시 </a:t>
              </a:r>
              <a:r>
                <a:rPr lang="en-US" altLang="ko-KR" dirty="0"/>
                <a:t>Central File</a:t>
              </a:r>
              <a:r>
                <a:rPr lang="ko-KR" altLang="en-US" dirty="0"/>
                <a:t>로 정상 생성 된 것임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715D432-5CAE-FE47-C221-D6AE56215C0F}"/>
              </a:ext>
            </a:extLst>
          </p:cNvPr>
          <p:cNvSpPr txBox="1"/>
          <p:nvPr/>
        </p:nvSpPr>
        <p:spPr>
          <a:xfrm>
            <a:off x="843683" y="3987818"/>
            <a:ext cx="90946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중앙 파일 생성 후 반드시 </a:t>
            </a:r>
            <a:r>
              <a:rPr lang="en-US" altLang="ko-KR" dirty="0" err="1"/>
              <a:t>vbs</a:t>
            </a:r>
            <a:r>
              <a:rPr lang="ko-KR" altLang="en-US" dirty="0"/>
              <a:t>파일로 로컬 파일에서 작업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dirty="0"/>
          </a:p>
          <a:p>
            <a:r>
              <a:rPr lang="ko-KR" altLang="en-US" dirty="0"/>
              <a:t>    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로컬 파일이 아닌 중앙 파일을 열어 </a:t>
            </a:r>
            <a:r>
              <a:rPr lang="ko-KR" altLang="en-US" dirty="0" err="1">
                <a:solidFill>
                  <a:srgbClr val="FF0000"/>
                </a:solidFill>
              </a:rPr>
              <a:t>작업시</a:t>
            </a:r>
            <a:r>
              <a:rPr lang="ko-KR" altLang="en-US" dirty="0">
                <a:solidFill>
                  <a:srgbClr val="FF0000"/>
                </a:solidFill>
              </a:rPr>
              <a:t> 파일 잠김 및 동기화 충돌 가능성 있음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16C5A35E-7AB6-5A34-B18C-000B5CAF7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47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1FF9E6-9780-B7EC-6A85-E8F52F7A4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322F22E-4380-7269-FE82-6BA1C3120ECF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1B0AA09-5656-5E12-840B-5704B398F796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A1687D-133F-59C2-F3D4-8CF5A4569B68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공동작업 </a:t>
            </a:r>
            <a:r>
              <a:rPr lang="en-US" altLang="ko-KR" sz="2400" b="1" dirty="0" err="1">
                <a:solidFill>
                  <a:schemeClr val="bg1">
                    <a:lumMod val="95000"/>
                  </a:schemeClr>
                </a:solidFill>
              </a:rPr>
              <a:t>Worksharing</a:t>
            </a:r>
            <a:endParaRPr lang="ko-KR" altLang="en-US" sz="2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1D2A3FCA-CC4D-926B-1D5E-C9CAF132A18A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E36B248-C724-1BB4-14F1-3D045A1C0842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Central File </a:t>
            </a:r>
            <a:r>
              <a:rPr lang="ko-KR" altLang="en-US" sz="2000" b="1" dirty="0"/>
              <a:t>재생성</a:t>
            </a:r>
            <a:endParaRPr lang="en-US" altLang="ko-KR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0F883C-5DF9-1DE4-2852-6671FE7FDE85}"/>
              </a:ext>
            </a:extLst>
          </p:cNvPr>
          <p:cNvSpPr txBox="1"/>
          <p:nvPr/>
        </p:nvSpPr>
        <p:spPr>
          <a:xfrm>
            <a:off x="843683" y="1978043"/>
            <a:ext cx="909464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ko-KR" altLang="en-US" dirty="0"/>
              <a:t>수정할 </a:t>
            </a:r>
            <a:r>
              <a:rPr lang="en-US" altLang="ko-KR" dirty="0"/>
              <a:t>Central File</a:t>
            </a:r>
            <a:r>
              <a:rPr lang="ko-KR" altLang="en-US" dirty="0"/>
              <a:t>을 </a:t>
            </a:r>
            <a:r>
              <a:rPr lang="en-US" altLang="ko-KR" dirty="0"/>
              <a:t>Detached file</a:t>
            </a:r>
            <a:r>
              <a:rPr lang="ko-KR" altLang="en-US" dirty="0"/>
              <a:t>로 </a:t>
            </a:r>
            <a:r>
              <a:rPr lang="en-US" altLang="ko-KR" dirty="0"/>
              <a:t>open</a:t>
            </a:r>
          </a:p>
          <a:p>
            <a:pPr marL="342900" indent="-342900">
              <a:buFont typeface="+mj-ea"/>
              <a:buAutoNum type="circleNumDbPlain"/>
            </a:pP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/>
              <a:t>파일명 및 경로 수정 후 저장</a:t>
            </a: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en-US" altLang="ko-KR" dirty="0"/>
              <a:t>Central File</a:t>
            </a:r>
            <a:r>
              <a:rPr lang="ko-KR" altLang="en-US" dirty="0"/>
              <a:t>로 설정 후 저장</a:t>
            </a: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/>
              <a:t>한 번 더 저장</a:t>
            </a: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endParaRPr lang="ko-KR" altLang="en-US" dirty="0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D78DC6C6-9831-9BE2-1B9E-29C51DE0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4018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975D5F-2DDE-AD26-41D4-63DF3ED83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7A9B58D-2376-5FEB-0112-859333368016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E048C0F-2D30-B1F3-EF87-57E3B3A858DF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AA34D4-0571-A86B-8E96-9950C25782B8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공동작업 </a:t>
            </a:r>
            <a:r>
              <a:rPr lang="en-US" altLang="ko-KR" sz="2400" b="1" dirty="0" err="1">
                <a:solidFill>
                  <a:schemeClr val="bg1">
                    <a:lumMod val="95000"/>
                  </a:schemeClr>
                </a:solidFill>
              </a:rPr>
              <a:t>Worksharing</a:t>
            </a:r>
            <a:endParaRPr lang="ko-KR" altLang="en-US" sz="2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ED20A97E-91AD-9B26-F542-1B26B0709202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3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0AA3A9-7D2A-48EA-5C22-8446526125D9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 err="1"/>
              <a:t>Vbs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파일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생성</a:t>
            </a:r>
            <a:endParaRPr lang="en-US" altLang="ko-KR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F572DD-C045-67D2-A0EE-D3D2368D0776}"/>
              </a:ext>
            </a:extLst>
          </p:cNvPr>
          <p:cNvSpPr txBox="1"/>
          <p:nvPr/>
        </p:nvSpPr>
        <p:spPr>
          <a:xfrm>
            <a:off x="843683" y="1978043"/>
            <a:ext cx="90946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 err="1"/>
              <a:t>Vbs</a:t>
            </a:r>
            <a:r>
              <a:rPr lang="en-US" altLang="ko-KR" dirty="0"/>
              <a:t> </a:t>
            </a:r>
            <a:r>
              <a:rPr lang="ko-KR" altLang="en-US" dirty="0"/>
              <a:t>파일명을 센트럴 파일명이랑 동일하게 설정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로컬 드라이브</a:t>
            </a:r>
            <a:r>
              <a:rPr lang="en-US" altLang="ko-KR" dirty="0"/>
              <a:t>(D</a:t>
            </a:r>
            <a:r>
              <a:rPr lang="ko-KR" altLang="en-US" dirty="0"/>
              <a:t>드라이브</a:t>
            </a:r>
            <a:r>
              <a:rPr lang="en-US" altLang="ko-KR" dirty="0"/>
              <a:t>)</a:t>
            </a:r>
            <a:r>
              <a:rPr lang="ko-KR" altLang="en-US" dirty="0"/>
              <a:t>로 경로 설정</a:t>
            </a: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B44C1BC8-DA42-E6CE-5C0C-74E35A8B9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3586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6AB580-6A98-F606-13FA-BA2C76953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6740FC1-77B5-E653-44D6-ABA58B10D1F2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FE99AF1-05FE-2A17-BCF7-7F7856FBCBC6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843D3C-F7BE-BA6A-0C3F-C6D9E042D94F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공동작업 </a:t>
            </a:r>
            <a:r>
              <a:rPr lang="en-US" altLang="ko-KR" sz="2400" b="1" dirty="0" err="1">
                <a:solidFill>
                  <a:schemeClr val="bg1">
                    <a:lumMod val="95000"/>
                  </a:schemeClr>
                </a:solidFill>
              </a:rPr>
              <a:t>Worksharing</a:t>
            </a:r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실습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EEF54FE2-3777-2DA8-7993-51649007D195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4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479992-61F0-7937-DF9C-3A407FE7116C}"/>
              </a:ext>
            </a:extLst>
          </p:cNvPr>
          <p:cNvSpPr txBox="1"/>
          <p:nvPr/>
        </p:nvSpPr>
        <p:spPr>
          <a:xfrm>
            <a:off x="917574" y="1353582"/>
            <a:ext cx="467360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WORKSET </a:t>
            </a:r>
            <a:r>
              <a:rPr lang="ko-KR" altLang="en-US" sz="2000" b="1" dirty="0"/>
              <a:t>생성</a:t>
            </a:r>
            <a:endParaRPr lang="en-US" altLang="ko-KR" sz="2000" b="1" dirty="0"/>
          </a:p>
          <a:p>
            <a:endParaRPr lang="en-US" altLang="ko-KR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 err="1"/>
              <a:t>공종</a:t>
            </a:r>
            <a:r>
              <a:rPr lang="en-US" altLang="ko-KR" dirty="0"/>
              <a:t>/ </a:t>
            </a:r>
            <a:r>
              <a:rPr lang="ko-KR" altLang="en-US" dirty="0"/>
              <a:t>작업자별 </a:t>
            </a:r>
            <a:r>
              <a:rPr lang="en-US" altLang="ko-KR" dirty="0" err="1"/>
              <a:t>workset</a:t>
            </a:r>
            <a:r>
              <a:rPr lang="en-US" altLang="ko-KR" dirty="0"/>
              <a:t> </a:t>
            </a:r>
            <a:r>
              <a:rPr lang="ko-KR" altLang="en-US" dirty="0"/>
              <a:t>분리하기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 err="1"/>
              <a:t>Workset</a:t>
            </a:r>
            <a:r>
              <a:rPr lang="ko-KR" altLang="en-US" dirty="0"/>
              <a:t> </a:t>
            </a:r>
            <a:r>
              <a:rPr lang="en-US" altLang="ko-KR" dirty="0"/>
              <a:t>name:</a:t>
            </a:r>
            <a:r>
              <a:rPr lang="ko-KR" altLang="en-US" dirty="0"/>
              <a:t> </a:t>
            </a:r>
            <a:r>
              <a:rPr lang="en-US" altLang="ko-KR" dirty="0"/>
              <a:t>ex) EL(</a:t>
            </a:r>
            <a:r>
              <a:rPr lang="ko-KR" altLang="en-US" dirty="0" err="1"/>
              <a:t>공종</a:t>
            </a:r>
            <a:r>
              <a:rPr lang="en-US" altLang="ko-KR" dirty="0"/>
              <a:t>)_</a:t>
            </a:r>
            <a:r>
              <a:rPr lang="en-US" altLang="ko-KR" dirty="0" err="1"/>
              <a:t>lhj</a:t>
            </a:r>
            <a:r>
              <a:rPr lang="en-US" altLang="ko-KR" dirty="0"/>
              <a:t>(</a:t>
            </a:r>
            <a:r>
              <a:rPr lang="ko-KR" altLang="en-US" dirty="0"/>
              <a:t>작업자</a:t>
            </a:r>
            <a:r>
              <a:rPr lang="en-US" altLang="ko-KR" dirty="0"/>
              <a:t>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Editable: NO, opened: YES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sz="1400" b="1" dirty="0"/>
              <a:t> </a:t>
            </a:r>
          </a:p>
          <a:p>
            <a:endParaRPr lang="en-US" altLang="ko-KR" sz="1800" b="1" dirty="0"/>
          </a:p>
        </p:txBody>
      </p:sp>
      <p:pic>
        <p:nvPicPr>
          <p:cNvPr id="10" name="그림 9" descr="텍스트, 스크린샷, 소프트웨어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FC610612-3A5B-2192-9591-C3FD6B5CFA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601" t="29984" r="288"/>
          <a:stretch>
            <a:fillRect/>
          </a:stretch>
        </p:blipFill>
        <p:spPr>
          <a:xfrm>
            <a:off x="1330037" y="3429000"/>
            <a:ext cx="4765963" cy="3133199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4F393868-E1C9-BC9D-B069-B8CBE7940F83}"/>
              </a:ext>
            </a:extLst>
          </p:cNvPr>
          <p:cNvSpPr/>
          <p:nvPr/>
        </p:nvSpPr>
        <p:spPr>
          <a:xfrm>
            <a:off x="2412015" y="3822971"/>
            <a:ext cx="2602006" cy="48623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A2DFAD-F860-CA71-3F98-EF59A1C15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16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46369F-7210-C923-094F-9BDDD0DC3C28}"/>
              </a:ext>
            </a:extLst>
          </p:cNvPr>
          <p:cNvSpPr txBox="1"/>
          <p:nvPr/>
        </p:nvSpPr>
        <p:spPr>
          <a:xfrm>
            <a:off x="6670674" y="2915620"/>
            <a:ext cx="5016501" cy="3054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 </a:t>
            </a:r>
            <a:endParaRPr lang="en-US" altLang="ko-KR" sz="1400" dirty="0"/>
          </a:p>
          <a:p>
            <a:r>
              <a:rPr lang="en-US" altLang="ko-KR" sz="1600" b="1" dirty="0">
                <a:highlight>
                  <a:srgbClr val="FFFF00"/>
                </a:highlight>
              </a:rPr>
              <a:t>*Editable:</a:t>
            </a:r>
          </a:p>
          <a:p>
            <a:r>
              <a:rPr lang="en-US" altLang="ko-KR" sz="1600" b="1" dirty="0"/>
              <a:t> </a:t>
            </a:r>
          </a:p>
          <a:p>
            <a:r>
              <a:rPr lang="en-US" altLang="ko-KR" sz="1400" dirty="0"/>
              <a:t>-no: </a:t>
            </a:r>
            <a:r>
              <a:rPr lang="ko-KR" altLang="en-US" sz="1400" dirty="0"/>
              <a:t>소유권을 가져오지 않고 공동 사용</a:t>
            </a:r>
            <a:r>
              <a:rPr lang="en-US" altLang="ko-KR" sz="1050" dirty="0"/>
              <a:t> </a:t>
            </a:r>
          </a:p>
          <a:p>
            <a:endParaRPr lang="en-US" altLang="ko-KR" sz="1050" dirty="0"/>
          </a:p>
          <a:p>
            <a:r>
              <a:rPr lang="en-US" altLang="ko-KR" sz="1050" dirty="0"/>
              <a:t> </a:t>
            </a:r>
            <a:r>
              <a:rPr lang="en-US" altLang="ko-KR" sz="1400" dirty="0"/>
              <a:t>-yes: </a:t>
            </a:r>
            <a:r>
              <a:rPr lang="ko-KR" altLang="en-US" sz="1400" dirty="0"/>
              <a:t>내가 해당 작업 세트의 </a:t>
            </a:r>
            <a:r>
              <a:rPr lang="en-US" altLang="ko-KR" sz="1400" dirty="0"/>
              <a:t>'</a:t>
            </a:r>
            <a:r>
              <a:rPr lang="ko-KR" altLang="en-US" sz="1400" dirty="0"/>
              <a:t>소유자</a:t>
            </a:r>
            <a:r>
              <a:rPr lang="en-US" altLang="ko-KR" sz="1400" dirty="0"/>
              <a:t>(Owner)’→</a:t>
            </a:r>
            <a:r>
              <a:rPr lang="ko-KR" altLang="en-US" sz="1400" dirty="0"/>
              <a:t>독점 사용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600" b="1" dirty="0">
                <a:highlight>
                  <a:srgbClr val="FFFF00"/>
                </a:highlight>
              </a:rPr>
              <a:t>*Opened (</a:t>
            </a:r>
            <a:r>
              <a:rPr lang="ko-KR" altLang="en-US" sz="1600" b="1" dirty="0">
                <a:highlight>
                  <a:srgbClr val="FFFF00"/>
                </a:highlight>
              </a:rPr>
              <a:t>열림 여부</a:t>
            </a:r>
            <a:r>
              <a:rPr lang="en-US" altLang="ko-KR" sz="1600" b="1" dirty="0">
                <a:highlight>
                  <a:srgbClr val="FFFF00"/>
                </a:highlight>
              </a:rPr>
              <a:t>):</a:t>
            </a:r>
          </a:p>
          <a:p>
            <a:endParaRPr lang="en-US" altLang="ko-KR" b="1" dirty="0"/>
          </a:p>
          <a:p>
            <a:r>
              <a:rPr lang="en-US" altLang="ko-KR" sz="1400" dirty="0"/>
              <a:t>-Yes (</a:t>
            </a:r>
            <a:r>
              <a:rPr lang="ko-KR" altLang="en-US" sz="1400" dirty="0"/>
              <a:t>열림</a:t>
            </a:r>
            <a:r>
              <a:rPr lang="en-US" altLang="ko-KR" sz="1400" dirty="0"/>
              <a:t>):</a:t>
            </a:r>
            <a:r>
              <a:rPr lang="ko-KR" altLang="en-US" sz="1400" dirty="0"/>
              <a:t> 작업 세트에 포함된 객체들이 보임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No (</a:t>
            </a:r>
            <a:r>
              <a:rPr lang="ko-KR" altLang="en-US" sz="1400" dirty="0"/>
              <a:t>닫힘</a:t>
            </a:r>
            <a:r>
              <a:rPr lang="en-US" altLang="ko-KR" sz="1400" dirty="0"/>
              <a:t>):</a:t>
            </a:r>
            <a:r>
              <a:rPr lang="ko-KR" altLang="en-US" sz="1400" dirty="0"/>
              <a:t> 해당 작업 세트의 객체들을 화면에서 숨김</a:t>
            </a:r>
            <a:endParaRPr lang="en-US" altLang="ko-KR" sz="1400" dirty="0"/>
          </a:p>
          <a:p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3549874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53E549-3AE3-1FD0-55B1-029829145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C25D8B0-76AC-7095-6251-F7ADA4490E72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86C58B0-029B-9564-8952-8905EC86F741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2BB2FA-4BC8-E50E-89DE-E9E8178A9C88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공동작업 </a:t>
            </a:r>
            <a:r>
              <a:rPr lang="en-US" altLang="ko-KR" sz="2400" b="1" dirty="0" err="1">
                <a:solidFill>
                  <a:schemeClr val="bg1">
                    <a:lumMod val="95000"/>
                  </a:schemeClr>
                </a:solidFill>
              </a:rPr>
              <a:t>Worksharing</a:t>
            </a:r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실습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9ADFA77-E028-B132-D539-EF6C65557BA4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5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681A61-17C9-EDC5-5EB5-E43A5844E15F}"/>
              </a:ext>
            </a:extLst>
          </p:cNvPr>
          <p:cNvSpPr txBox="1"/>
          <p:nvPr/>
        </p:nvSpPr>
        <p:spPr>
          <a:xfrm>
            <a:off x="917574" y="1353582"/>
            <a:ext cx="4725844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Synchronize</a:t>
            </a:r>
          </a:p>
          <a:p>
            <a:endParaRPr lang="en-US" altLang="ko-KR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동기화 시간 준수 </a:t>
            </a:r>
            <a:r>
              <a:rPr lang="en-US" altLang="ko-KR" dirty="0"/>
              <a:t>(30</a:t>
            </a:r>
            <a:r>
              <a:rPr lang="ko-KR" altLang="en-US" dirty="0"/>
              <a:t>분</a:t>
            </a:r>
            <a:r>
              <a:rPr lang="en-US" altLang="ko-KR" dirty="0"/>
              <a:t>~2</a:t>
            </a:r>
            <a:r>
              <a:rPr lang="ko-KR" altLang="en-US" dirty="0"/>
              <a:t>시간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동기화 전 권한 포기 필수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해당 아이콘 클릭으로 동기화하기</a:t>
            </a:r>
            <a:endParaRPr lang="en-US" altLang="ko-KR" sz="1400" b="1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89C0FA-5C78-AA38-0085-4FF04F17A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17</a:t>
            </a:fld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7BFA30D-5700-0F32-C400-DD756901C443}"/>
              </a:ext>
            </a:extLst>
          </p:cNvPr>
          <p:cNvGrpSpPr/>
          <p:nvPr/>
        </p:nvGrpSpPr>
        <p:grpSpPr>
          <a:xfrm>
            <a:off x="1318719" y="5354677"/>
            <a:ext cx="2216728" cy="1018063"/>
            <a:chOff x="6184300" y="4544957"/>
            <a:chExt cx="2723621" cy="1250861"/>
          </a:xfrm>
        </p:grpSpPr>
        <p:pic>
          <p:nvPicPr>
            <p:cNvPr id="10" name="그림 9" descr="텍스트, 스크린샷, 소프트웨어, 폰트이(가) 표시된 사진  AI 생성 콘텐츠는 정확하지 않을 수 있습니다.">
              <a:extLst>
                <a:ext uri="{FF2B5EF4-FFF2-40B4-BE49-F238E27FC236}">
                  <a16:creationId xmlns:a16="http://schemas.microsoft.com/office/drawing/2014/main" id="{20283E9D-735E-AE6F-9B89-6042A2D10D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42" r="72733" b="66088"/>
            <a:stretch>
              <a:fillRect/>
            </a:stretch>
          </p:blipFill>
          <p:spPr>
            <a:xfrm>
              <a:off x="6184300" y="4544957"/>
              <a:ext cx="2723621" cy="1250861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4FC8D1C-AB50-5F91-60E0-FE850E58B975}"/>
                </a:ext>
              </a:extLst>
            </p:cNvPr>
            <p:cNvSpPr/>
            <p:nvPr/>
          </p:nvSpPr>
          <p:spPr>
            <a:xfrm>
              <a:off x="8178508" y="4544957"/>
              <a:ext cx="450088" cy="56947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94A2132-BBB8-EFD4-2A4B-8DAC6F4E88EB}"/>
              </a:ext>
            </a:extLst>
          </p:cNvPr>
          <p:cNvGrpSpPr/>
          <p:nvPr/>
        </p:nvGrpSpPr>
        <p:grpSpPr>
          <a:xfrm>
            <a:off x="1318719" y="3429000"/>
            <a:ext cx="5404323" cy="1148537"/>
            <a:chOff x="6787677" y="3201790"/>
            <a:chExt cx="5404323" cy="114853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3E3506D3-7B10-2EF6-B1B0-2078621DCB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2076" b="15916"/>
            <a:stretch>
              <a:fillRect/>
            </a:stretch>
          </p:blipFill>
          <p:spPr>
            <a:xfrm>
              <a:off x="6787677" y="3201790"/>
              <a:ext cx="5404323" cy="1148537"/>
            </a:xfrm>
            <a:prstGeom prst="rect">
              <a:avLst/>
            </a:prstGeom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84D585B1-94FC-ECE9-D203-10C469F2DCFC}"/>
                </a:ext>
              </a:extLst>
            </p:cNvPr>
            <p:cNvSpPr/>
            <p:nvPr/>
          </p:nvSpPr>
          <p:spPr>
            <a:xfrm>
              <a:off x="11274426" y="3342409"/>
              <a:ext cx="544551" cy="17318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8AF2656F-5705-7EAC-F513-B0587B2C9694}"/>
                </a:ext>
              </a:extLst>
            </p:cNvPr>
            <p:cNvSpPr/>
            <p:nvPr/>
          </p:nvSpPr>
          <p:spPr>
            <a:xfrm>
              <a:off x="11037455" y="3515591"/>
              <a:ext cx="443345" cy="53917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646366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F4BFBBA-3B2B-202F-092C-8F76E9DDFD89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899F751-4BDC-5112-850D-069665382DF4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4E6E02-EC53-794A-A788-2A9FD0373D8E}"/>
              </a:ext>
            </a:extLst>
          </p:cNvPr>
          <p:cNvSpPr txBox="1"/>
          <p:nvPr/>
        </p:nvSpPr>
        <p:spPr>
          <a:xfrm>
            <a:off x="3708400" y="2523123"/>
            <a:ext cx="6604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ko-KR" altLang="en-US" sz="2000" b="1" dirty="0">
                <a:solidFill>
                  <a:srgbClr val="CC4700"/>
                </a:solidFill>
                <a:latin typeface="+mn-ea"/>
              </a:rPr>
              <a:t>패밀리의 역할과 기본 작성 순서를 이해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AD0C2F0-6735-2943-4C38-17A13E4C8BD5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22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4</a:t>
            </a:r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BEF62A-6094-84EB-E06E-0A033114D3AD}"/>
              </a:ext>
            </a:extLst>
          </p:cNvPr>
          <p:cNvSpPr txBox="1"/>
          <p:nvPr/>
        </p:nvSpPr>
        <p:spPr>
          <a:xfrm>
            <a:off x="641350" y="2523123"/>
            <a:ext cx="2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95000"/>
                  </a:schemeClr>
                </a:solidFill>
              </a:rPr>
              <a:t>패밀리 작성</a:t>
            </a:r>
            <a:endParaRPr lang="ko-KR" altLang="en-US" sz="16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7CC502A-43F1-9043-7EFC-6B7945883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02579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61495BE-FC87-E7AC-027D-05D48DBDB8B2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C69A144-114E-3A84-B121-0FE8190424B1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545940-089B-772F-2738-68C5CD76EC1D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>
                <a:solidFill>
                  <a:srgbClr val="FFFFFF"/>
                </a:solidFill>
                <a:latin typeface="Malgun Gothic" panose="020B0503020000020004" pitchFamily="50" charset="-127"/>
              </a:rPr>
              <a:t>패밀리 작성 기본 흐름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DE67C2-C4E1-0BA9-EA64-901C33A46AD2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템플릿</a:t>
            </a:r>
            <a:r>
              <a:rPr lang="en-US" altLang="ko-KR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기준면</a:t>
            </a:r>
            <a:r>
              <a:rPr lang="en-US" altLang="ko-KR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형상</a:t>
            </a:r>
            <a:r>
              <a:rPr lang="en-US" altLang="ko-KR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파라미터순으로 진행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D3370B1-5F48-F6C9-67B5-78F588B1782B}"/>
              </a:ext>
            </a:extLst>
          </p:cNvPr>
          <p:cNvSpPr/>
          <p:nvPr/>
        </p:nvSpPr>
        <p:spPr>
          <a:xfrm>
            <a:off x="457200" y="1473200"/>
            <a:ext cx="5334000" cy="3987800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5F7D6A-67EA-BCA7-C3AD-4000C2340F7F}"/>
              </a:ext>
            </a:extLst>
          </p:cNvPr>
          <p:cNvSpPr txBox="1"/>
          <p:nvPr/>
        </p:nvSpPr>
        <p:spPr>
          <a:xfrm>
            <a:off x="685800" y="1676400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b="1">
                <a:solidFill>
                  <a:srgbClr val="CC4700"/>
                </a:solidFill>
                <a:latin typeface="Malgun Gothic" panose="020B0503020000020004" pitchFamily="50" charset="-127"/>
              </a:rPr>
              <a:t>작성 단계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0CEE7CD-41B9-C5B5-1716-E95B12A48A7D}"/>
              </a:ext>
            </a:extLst>
          </p:cNvPr>
          <p:cNvSpPr/>
          <p:nvPr/>
        </p:nvSpPr>
        <p:spPr>
          <a:xfrm>
            <a:off x="685800" y="2133600"/>
            <a:ext cx="48768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0BC645-92B4-531B-5DE7-206D2ECCE68C}"/>
              </a:ext>
            </a:extLst>
          </p:cNvPr>
          <p:cNvSpPr txBox="1"/>
          <p:nvPr/>
        </p:nvSpPr>
        <p:spPr>
          <a:xfrm>
            <a:off x="685800" y="2286000"/>
            <a:ext cx="4876800" cy="3098800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Generic</a:t>
            </a:r>
            <a:r>
              <a:rPr lang="ko-KR" altLang="en-US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model</a:t>
            </a:r>
            <a:r>
              <a:rPr lang="ko-KR" altLang="en-US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 템플릿 선택</a:t>
            </a:r>
            <a:endParaRPr lang="en-US" altLang="ko-KR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ko-KR" altLang="en-US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카테고리 설정</a:t>
            </a:r>
            <a:endParaRPr lang="en-US" altLang="ko-KR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en-US" altLang="ko-KR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기준선 설정</a:t>
            </a:r>
            <a:endParaRPr lang="en-US" altLang="ko-KR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en-US" altLang="ko-KR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파라미터</a:t>
            </a:r>
            <a:endParaRPr lang="en-US" altLang="ko-KR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85750" indent="-285750">
              <a:spcAft>
                <a:spcPts val="400"/>
              </a:spcAft>
              <a:buFontTx/>
              <a:buChar char="-"/>
            </a:pPr>
            <a:endParaRPr lang="en-US" altLang="ko-KR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재질 입력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6BBAB65-E9A0-1962-E8CD-1312C66EBD0F}"/>
              </a:ext>
            </a:extLst>
          </p:cNvPr>
          <p:cNvSpPr/>
          <p:nvPr/>
        </p:nvSpPr>
        <p:spPr>
          <a:xfrm>
            <a:off x="6223000" y="1473200"/>
            <a:ext cx="5334000" cy="3987800"/>
          </a:xfrm>
          <a:prstGeom prst="rect">
            <a:avLst/>
          </a:prstGeom>
          <a:solidFill>
            <a:srgbClr val="FFFFFF"/>
          </a:solidFill>
          <a:ln w="15875">
            <a:solidFill>
              <a:srgbClr val="EFA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07E5CD-44F5-003F-E659-76603EAD06D1}"/>
              </a:ext>
            </a:extLst>
          </p:cNvPr>
          <p:cNvSpPr txBox="1"/>
          <p:nvPr/>
        </p:nvSpPr>
        <p:spPr>
          <a:xfrm>
            <a:off x="6451600" y="1676400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b="1">
                <a:solidFill>
                  <a:srgbClr val="CC4700"/>
                </a:solidFill>
                <a:latin typeface="Malgun Gothic" panose="020B0503020000020004" pitchFamily="50" charset="-127"/>
              </a:rPr>
              <a:t>체크 포인트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8A4FC26-76DD-5595-2C30-5F9EFF9F8C33}"/>
              </a:ext>
            </a:extLst>
          </p:cNvPr>
          <p:cNvSpPr/>
          <p:nvPr/>
        </p:nvSpPr>
        <p:spPr>
          <a:xfrm>
            <a:off x="6451600" y="2133600"/>
            <a:ext cx="48768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52F690-E8E9-4A71-9C08-69C00BEFA6CF}"/>
              </a:ext>
            </a:extLst>
          </p:cNvPr>
          <p:cNvSpPr txBox="1"/>
          <p:nvPr/>
        </p:nvSpPr>
        <p:spPr>
          <a:xfrm>
            <a:off x="6451600" y="2286000"/>
            <a:ext cx="4876800" cy="2276765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Instance parameter </a:t>
            </a:r>
            <a:r>
              <a:rPr lang="ko-KR" altLang="en-US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구분</a:t>
            </a:r>
            <a:endParaRPr lang="en-US" altLang="ko-KR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ko-KR" altLang="en-US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Type parameter </a:t>
            </a:r>
            <a:r>
              <a:rPr lang="ko-KR" altLang="en-US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구분</a:t>
            </a:r>
            <a:endParaRPr lang="en-US" altLang="ko-KR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ko-KR" altLang="en-US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프로젝트에 로드 후 테스트</a:t>
            </a:r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951094C6-0A33-25F8-EB8B-975940D03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82330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4D57F2-2A2A-F166-14F4-92F7A94F9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C090C25-DA30-B442-ACF4-39847EABDAA6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A0B58A9-568B-5ECD-F4B4-AA6E02C12095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FE083E-354A-7FA7-DAEA-F83D519D1752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패밀리 작성 </a:t>
            </a:r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실습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E5EBE146-5697-2AE2-D4AE-C602F839172B}"/>
              </a:ext>
            </a:extLst>
          </p:cNvPr>
          <p:cNvSpPr/>
          <p:nvPr/>
        </p:nvSpPr>
        <p:spPr>
          <a:xfrm>
            <a:off x="558800" y="1342255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D3A0F0-40B0-65C9-5B21-128CFE8F3624}"/>
              </a:ext>
            </a:extLst>
          </p:cNvPr>
          <p:cNvSpPr txBox="1"/>
          <p:nvPr/>
        </p:nvSpPr>
        <p:spPr>
          <a:xfrm>
            <a:off x="950767" y="1298291"/>
            <a:ext cx="729788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/>
              <a:t>전등 작성</a:t>
            </a:r>
            <a:r>
              <a:rPr lang="en-US" altLang="ko-KR" sz="1600" b="1" dirty="0"/>
              <a:t>(A-TYPE, D-TYPE, </a:t>
            </a:r>
            <a:r>
              <a:rPr lang="ko-KR" altLang="en-US" sz="1600" b="1" dirty="0"/>
              <a:t>객체에 따라 기준선 상이</a:t>
            </a:r>
            <a:r>
              <a:rPr lang="en-US" altLang="ko-KR" sz="1600" b="1" dirty="0"/>
              <a:t>)</a:t>
            </a:r>
          </a:p>
          <a:p>
            <a:endParaRPr lang="en-US" altLang="ko-KR" sz="1600" b="1" dirty="0"/>
          </a:p>
          <a:p>
            <a:r>
              <a:rPr lang="en-US" altLang="ko-KR" sz="1600" b="1" dirty="0"/>
              <a:t>	</a:t>
            </a:r>
            <a:r>
              <a:rPr lang="ko-KR" altLang="en-US" sz="1400" dirty="0"/>
              <a:t>패밀리명</a:t>
            </a:r>
            <a:r>
              <a:rPr lang="en-US" altLang="ko-KR" sz="1400" dirty="0"/>
              <a:t>: LIGHTING CEILING_(A)_LED 40W</a:t>
            </a:r>
          </a:p>
          <a:p>
            <a:r>
              <a:rPr lang="en-US" altLang="ko-KR" sz="1400" dirty="0"/>
              <a:t>	</a:t>
            </a:r>
            <a:r>
              <a:rPr lang="ko-KR" altLang="en-US" sz="1400" dirty="0" err="1"/>
              <a:t>타입명</a:t>
            </a:r>
            <a:r>
              <a:rPr lang="en-US" altLang="ko-KR" sz="1400" dirty="0"/>
              <a:t>: LIGHTING CEILING_(A)_LED 40W/ LIGHTING CEILING_(A-1)_LED 40W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BEC3EDB-D247-A866-DAC3-548FD14431CB}"/>
              </a:ext>
            </a:extLst>
          </p:cNvPr>
          <p:cNvSpPr/>
          <p:nvPr/>
        </p:nvSpPr>
        <p:spPr>
          <a:xfrm>
            <a:off x="558800" y="5551611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3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772BB4-73B6-BA68-1A64-A3338FC836B6}"/>
              </a:ext>
            </a:extLst>
          </p:cNvPr>
          <p:cNvSpPr txBox="1"/>
          <p:nvPr/>
        </p:nvSpPr>
        <p:spPr>
          <a:xfrm>
            <a:off x="950766" y="5515745"/>
            <a:ext cx="6253598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 err="1"/>
              <a:t>특고압반</a:t>
            </a:r>
            <a:r>
              <a:rPr lang="ko-KR" altLang="en-US" sz="2000" b="1" dirty="0"/>
              <a:t> 작성</a:t>
            </a:r>
            <a:r>
              <a:rPr lang="en-US" altLang="ko-KR" sz="1200" b="1" dirty="0"/>
              <a:t>(2</a:t>
            </a:r>
            <a:r>
              <a:rPr lang="ko-KR" altLang="en-US" sz="1200" b="1" dirty="0"/>
              <a:t>번 패밀리와 동일하게 작성</a:t>
            </a:r>
            <a:r>
              <a:rPr lang="en-US" altLang="ko-KR" sz="1200" b="1" dirty="0"/>
              <a:t>)</a:t>
            </a:r>
          </a:p>
          <a:p>
            <a:r>
              <a:rPr lang="en-US" altLang="ko-KR" sz="2000" b="1" dirty="0"/>
              <a:t>	</a:t>
            </a:r>
          </a:p>
          <a:p>
            <a:r>
              <a:rPr lang="en-US" altLang="ko-KR" sz="2000" dirty="0"/>
              <a:t>	</a:t>
            </a:r>
            <a:r>
              <a:rPr lang="ko-KR" altLang="en-US" sz="1400" dirty="0"/>
              <a:t>패밀리명</a:t>
            </a:r>
            <a:r>
              <a:rPr lang="en-US" altLang="ko-KR" sz="1400" dirty="0"/>
              <a:t>: TR PNL</a:t>
            </a:r>
          </a:p>
          <a:p>
            <a:r>
              <a:rPr lang="en-US" altLang="ko-KR" sz="1400" dirty="0"/>
              <a:t>	</a:t>
            </a:r>
            <a:r>
              <a:rPr lang="ko-KR" altLang="en-US" sz="1400" dirty="0" err="1"/>
              <a:t>타입명</a:t>
            </a:r>
            <a:r>
              <a:rPr lang="en-US" altLang="ko-KR" sz="1400" dirty="0"/>
              <a:t>: TR PNL_1800Wx2500Dx2550H/ 2000Wx2500Dx2550H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F8C3BD0-3FA9-E0AE-5E68-3EF404487C23}"/>
              </a:ext>
            </a:extLst>
          </p:cNvPr>
          <p:cNvSpPr/>
          <p:nvPr/>
        </p:nvSpPr>
        <p:spPr>
          <a:xfrm>
            <a:off x="558800" y="2864546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20E18F-8C3F-A86F-ABA1-F46F6A0C7D11}"/>
              </a:ext>
            </a:extLst>
          </p:cNvPr>
          <p:cNvSpPr txBox="1"/>
          <p:nvPr/>
        </p:nvSpPr>
        <p:spPr>
          <a:xfrm>
            <a:off x="950765" y="2823529"/>
            <a:ext cx="5777413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 err="1"/>
              <a:t>저압반</a:t>
            </a:r>
            <a:r>
              <a:rPr lang="ko-KR" altLang="en-US" sz="2000" b="1" dirty="0"/>
              <a:t> 작성</a:t>
            </a:r>
            <a:endParaRPr lang="en-US" altLang="ko-KR" sz="2000" b="1" dirty="0"/>
          </a:p>
          <a:p>
            <a:endParaRPr lang="en-US" altLang="ko-KR" sz="2000" b="1" dirty="0"/>
          </a:p>
          <a:p>
            <a:r>
              <a:rPr lang="en-US" altLang="ko-KR" sz="2000" dirty="0"/>
              <a:t> </a:t>
            </a:r>
            <a:r>
              <a:rPr lang="en-US" altLang="ko-KR" dirty="0"/>
              <a:t>-Name plate</a:t>
            </a:r>
          </a:p>
          <a:p>
            <a:r>
              <a:rPr lang="en-US" altLang="ko-KR" dirty="0"/>
              <a:t> -Door handle </a:t>
            </a:r>
            <a:r>
              <a:rPr lang="ko-KR" altLang="en-US" dirty="0"/>
              <a:t>삽입하기</a:t>
            </a:r>
            <a:endParaRPr lang="en-US" altLang="ko-KR" dirty="0"/>
          </a:p>
          <a:p>
            <a:r>
              <a:rPr lang="en-US" altLang="ko-KR" dirty="0"/>
              <a:t> -</a:t>
            </a:r>
            <a:r>
              <a:rPr lang="ko-KR" altLang="en-US" dirty="0"/>
              <a:t>타입별 사이즈 작성</a:t>
            </a:r>
            <a:endParaRPr lang="en-US" altLang="ko-KR" dirty="0"/>
          </a:p>
          <a:p>
            <a:r>
              <a:rPr lang="en-US" altLang="ko-KR" dirty="0"/>
              <a:t> -door on/off </a:t>
            </a:r>
            <a:r>
              <a:rPr lang="ko-KR" altLang="en-US" dirty="0"/>
              <a:t>설정하기</a:t>
            </a:r>
            <a:endParaRPr lang="en-US" altLang="ko-KR" dirty="0"/>
          </a:p>
          <a:p>
            <a:endParaRPr lang="en-US" altLang="ko-KR" sz="1600" b="1" dirty="0"/>
          </a:p>
          <a:p>
            <a:r>
              <a:rPr lang="en-US" altLang="ko-KR" sz="1400" dirty="0"/>
              <a:t>	</a:t>
            </a:r>
            <a:r>
              <a:rPr lang="ko-KR" altLang="en-US" sz="1400" dirty="0"/>
              <a:t>패밀리명</a:t>
            </a:r>
            <a:r>
              <a:rPr lang="en-US" altLang="ko-KR" sz="1400" dirty="0"/>
              <a:t>: LV PNL</a:t>
            </a:r>
          </a:p>
          <a:p>
            <a:r>
              <a:rPr lang="en-US" altLang="ko-KR" sz="1400" dirty="0"/>
              <a:t>	</a:t>
            </a:r>
            <a:r>
              <a:rPr lang="ko-KR" altLang="en-US" sz="1400" dirty="0" err="1"/>
              <a:t>타입명</a:t>
            </a:r>
            <a:r>
              <a:rPr lang="en-US" altLang="ko-KR" sz="1400" dirty="0"/>
              <a:t>: LV PNL_600Wx1000Dx2350H</a:t>
            </a:r>
            <a:endParaRPr lang="en-US" altLang="ko-KR" sz="1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2052B0-E7B5-795A-6B31-DBDF13E633D1}"/>
              </a:ext>
            </a:extLst>
          </p:cNvPr>
          <p:cNvSpPr txBox="1"/>
          <p:nvPr/>
        </p:nvSpPr>
        <p:spPr>
          <a:xfrm>
            <a:off x="7278253" y="2689234"/>
            <a:ext cx="4354947" cy="36330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ü"/>
            </a:pPr>
            <a:r>
              <a:rPr lang="ko-KR" altLang="en-US" b="1" u="sng" dirty="0">
                <a:solidFill>
                  <a:srgbClr val="FF0000"/>
                </a:solidFill>
                <a:latin typeface="Malgun Gothic" panose="020B0503020000020004" pitchFamily="50" charset="-127"/>
              </a:rPr>
              <a:t>패밀리 작성순서</a:t>
            </a:r>
            <a:endParaRPr lang="en-US" altLang="ko-KR" b="1" u="sng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ü"/>
            </a:pPr>
            <a:endParaRPr lang="en-US" altLang="ko-KR" sz="14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en-US" altLang="ko-KR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Generic</a:t>
            </a:r>
            <a:r>
              <a:rPr lang="ko-KR" altLang="en-US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model</a:t>
            </a:r>
            <a:r>
              <a:rPr lang="ko-KR" altLang="en-US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 템플릿 선택</a:t>
            </a:r>
            <a:endParaRPr lang="en-US" altLang="ko-KR" sz="14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endParaRPr lang="en-US" altLang="ko-KR" sz="14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카테고리 설정</a:t>
            </a:r>
            <a:endParaRPr lang="en-US" altLang="ko-KR" sz="14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endParaRPr lang="en-US" altLang="ko-KR" sz="14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기준선 설정 </a:t>
            </a:r>
            <a:r>
              <a:rPr lang="en-US" altLang="ko-KR" sz="1200" dirty="0">
                <a:latin typeface="Malgun Gothic" panose="020B0503020000020004" pitchFamily="50" charset="-127"/>
              </a:rPr>
              <a:t>(</a:t>
            </a:r>
            <a:r>
              <a:rPr lang="ko-KR" altLang="en-US" sz="1200" dirty="0">
                <a:latin typeface="Malgun Gothic" panose="020B0503020000020004" pitchFamily="50" charset="-127"/>
              </a:rPr>
              <a:t>장비 기준선</a:t>
            </a:r>
            <a:r>
              <a:rPr lang="en-US" altLang="ko-KR" sz="1200" dirty="0">
                <a:latin typeface="Malgun Gothic" panose="020B0503020000020004" pitchFamily="50" charset="-127"/>
              </a:rPr>
              <a:t>: </a:t>
            </a:r>
            <a:r>
              <a:rPr lang="ko-KR" altLang="en-US" sz="1200" dirty="0">
                <a:latin typeface="Malgun Gothic" panose="020B0503020000020004" pitchFamily="50" charset="-127"/>
              </a:rPr>
              <a:t>왼쪽 최하단</a:t>
            </a:r>
            <a:r>
              <a:rPr lang="en-US" altLang="ko-KR" sz="1200" dirty="0">
                <a:latin typeface="Malgun Gothic" panose="020B0503020000020004" pitchFamily="50" charset="-127"/>
              </a:rPr>
              <a:t>)</a:t>
            </a:r>
            <a:endParaRPr lang="en-US" altLang="ko-KR" sz="1400" dirty="0"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endParaRPr lang="en-US" altLang="ko-KR" sz="14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파라미터 </a:t>
            </a:r>
            <a:r>
              <a:rPr lang="en-US" altLang="ko-KR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(instance/ type)</a:t>
            </a: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endParaRPr lang="en-US" altLang="ko-KR" sz="14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패밀리명</a:t>
            </a:r>
            <a:r>
              <a:rPr lang="en-US" altLang="ko-KR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,</a:t>
            </a:r>
            <a:r>
              <a:rPr lang="ko-KR" altLang="en-US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 </a:t>
            </a:r>
            <a:r>
              <a:rPr lang="ko-KR" altLang="en-US" sz="1400" dirty="0" err="1">
                <a:solidFill>
                  <a:srgbClr val="FF0000"/>
                </a:solidFill>
                <a:latin typeface="Malgun Gothic" panose="020B0503020000020004" pitchFamily="50" charset="-127"/>
              </a:rPr>
              <a:t>타입명</a:t>
            </a:r>
            <a:r>
              <a:rPr lang="ko-KR" altLang="en-US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 설정</a:t>
            </a:r>
            <a:endParaRPr lang="en-US" altLang="ko-KR" sz="14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endParaRPr lang="en-US" altLang="ko-KR" sz="14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재질 입력</a:t>
            </a:r>
          </a:p>
        </p:txBody>
      </p:sp>
      <p:sp>
        <p:nvSpPr>
          <p:cNvPr id="17" name="슬라이드 번호 개체 틀 16">
            <a:extLst>
              <a:ext uri="{FF2B5EF4-FFF2-40B4-BE49-F238E27FC236}">
                <a16:creationId xmlns:a16="http://schemas.microsoft.com/office/drawing/2014/main" id="{6402C34C-47E7-CD4D-D197-48DFAA75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43689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EFCE29-E5F7-98D1-DC3F-ABA85BD44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4CE0C47-029F-FD9F-AC49-D1387944DB86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4310AA5-FB1A-4986-25FB-A76A5D3B9E06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F3F478-B1AA-A7E5-EE10-67AD4C359D4D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패밀리 작성 </a:t>
            </a:r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실습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033D6D91-D88B-40E2-FA49-A48D56460B6D}"/>
              </a:ext>
            </a:extLst>
          </p:cNvPr>
          <p:cNvSpPr/>
          <p:nvPr/>
        </p:nvSpPr>
        <p:spPr>
          <a:xfrm>
            <a:off x="558800" y="1342255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9FAFBC-D2F2-0076-AA1F-94E6E85F8188}"/>
              </a:ext>
            </a:extLst>
          </p:cNvPr>
          <p:cNvSpPr txBox="1"/>
          <p:nvPr/>
        </p:nvSpPr>
        <p:spPr>
          <a:xfrm>
            <a:off x="950767" y="1298291"/>
            <a:ext cx="72978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Cad</a:t>
            </a:r>
            <a:r>
              <a:rPr lang="ko-KR" altLang="en-US" b="1" dirty="0"/>
              <a:t> </a:t>
            </a:r>
            <a:r>
              <a:rPr lang="en-US" altLang="ko-KR" b="1" dirty="0"/>
              <a:t>import</a:t>
            </a:r>
          </a:p>
        </p:txBody>
      </p:sp>
      <p:sp>
        <p:nvSpPr>
          <p:cNvPr id="17" name="슬라이드 번호 개체 틀 16">
            <a:extLst>
              <a:ext uri="{FF2B5EF4-FFF2-40B4-BE49-F238E27FC236}">
                <a16:creationId xmlns:a16="http://schemas.microsoft.com/office/drawing/2014/main" id="{8D5F5AE7-B480-A82D-24D9-7DE8BC64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F2A349D-EBE2-218F-50B2-FD85F68258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329" y="1820634"/>
            <a:ext cx="7031341" cy="4567466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ECF7DCAE-A333-B763-6499-A3D02BF2298E}"/>
              </a:ext>
            </a:extLst>
          </p:cNvPr>
          <p:cNvSpPr/>
          <p:nvPr/>
        </p:nvSpPr>
        <p:spPr>
          <a:xfrm>
            <a:off x="1657349" y="1951002"/>
            <a:ext cx="323851" cy="24764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3784CA5-6794-F886-3E1F-D5B33C85867F}"/>
              </a:ext>
            </a:extLst>
          </p:cNvPr>
          <p:cNvSpPr/>
          <p:nvPr/>
        </p:nvSpPr>
        <p:spPr>
          <a:xfrm>
            <a:off x="4675909" y="2087991"/>
            <a:ext cx="323851" cy="52023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63AC91C-B400-7F5C-6335-FF96E2D54FE5}"/>
              </a:ext>
            </a:extLst>
          </p:cNvPr>
          <p:cNvSpPr/>
          <p:nvPr/>
        </p:nvSpPr>
        <p:spPr>
          <a:xfrm>
            <a:off x="3571009" y="5765800"/>
            <a:ext cx="648566" cy="1651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CD689DD-5907-DCF0-6A58-E500B11D5A21}"/>
              </a:ext>
            </a:extLst>
          </p:cNvPr>
          <p:cNvSpPr/>
          <p:nvPr/>
        </p:nvSpPr>
        <p:spPr>
          <a:xfrm>
            <a:off x="5150604" y="6069045"/>
            <a:ext cx="648566" cy="1651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C1C048B-99E8-1DFB-71E7-1F61B3F72D99}"/>
              </a:ext>
            </a:extLst>
          </p:cNvPr>
          <p:cNvSpPr/>
          <p:nvPr/>
        </p:nvSpPr>
        <p:spPr>
          <a:xfrm>
            <a:off x="6734255" y="5765800"/>
            <a:ext cx="804880" cy="1651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3266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ED0DAC-8B48-A744-567F-7FE3703FC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>
            <a:extLst>
              <a:ext uri="{FF2B5EF4-FFF2-40B4-BE49-F238E27FC236}">
                <a16:creationId xmlns:a16="http://schemas.microsoft.com/office/drawing/2014/main" id="{5ED44D0E-018C-61D4-0F3F-CB87B8BB91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061"/>
          <a:stretch>
            <a:fillRect/>
          </a:stretch>
        </p:blipFill>
        <p:spPr>
          <a:xfrm>
            <a:off x="1033698" y="2401012"/>
            <a:ext cx="5293211" cy="3542588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F280EECA-BD7D-D05B-324A-CEA5DD0A3845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CBE53FF-3595-8F00-3DCB-3A076963D53A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8B1AE7-64F5-E2BE-A1C7-1A0DDD8ADC33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패밀리 작성 </a:t>
            </a:r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실습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978B6544-033E-33E6-7611-43AB81FCBE36}"/>
              </a:ext>
            </a:extLst>
          </p:cNvPr>
          <p:cNvSpPr/>
          <p:nvPr/>
        </p:nvSpPr>
        <p:spPr>
          <a:xfrm>
            <a:off x="558800" y="1342255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198880-AB5B-8902-E105-C64313D99B46}"/>
              </a:ext>
            </a:extLst>
          </p:cNvPr>
          <p:cNvSpPr txBox="1"/>
          <p:nvPr/>
        </p:nvSpPr>
        <p:spPr>
          <a:xfrm>
            <a:off x="950767" y="1298291"/>
            <a:ext cx="64567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구속</a:t>
            </a:r>
            <a:r>
              <a:rPr lang="en-US" altLang="ko-KR" b="1" dirty="0"/>
              <a:t>(AL)</a:t>
            </a:r>
            <a:r>
              <a:rPr lang="ko-KR" altLang="en-US" b="1" dirty="0"/>
              <a:t>시킬 </a:t>
            </a:r>
            <a:r>
              <a:rPr lang="en-US" altLang="ko-KR" b="1" dirty="0"/>
              <a:t>Reference plane(RP)/ Reference line </a:t>
            </a:r>
            <a:r>
              <a:rPr lang="ko-KR" altLang="en-US" b="1" dirty="0"/>
              <a:t>생성</a:t>
            </a:r>
            <a:endParaRPr lang="en-US" altLang="ko-KR" b="1" dirty="0"/>
          </a:p>
        </p:txBody>
      </p:sp>
      <p:sp>
        <p:nvSpPr>
          <p:cNvPr id="17" name="슬라이드 번호 개체 틀 16">
            <a:extLst>
              <a:ext uri="{FF2B5EF4-FFF2-40B4-BE49-F238E27FC236}">
                <a16:creationId xmlns:a16="http://schemas.microsoft.com/office/drawing/2014/main" id="{513E3867-2451-5E0F-CBE7-93AFE0D35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8F07DD3-6787-7F4D-9D2C-73C1CB04DAB0}"/>
              </a:ext>
            </a:extLst>
          </p:cNvPr>
          <p:cNvSpPr/>
          <p:nvPr/>
        </p:nvSpPr>
        <p:spPr>
          <a:xfrm>
            <a:off x="1212851" y="2397512"/>
            <a:ext cx="238138" cy="16513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DCC9A9C4-40D7-A735-0ECD-D5D4F6307D9A}"/>
              </a:ext>
            </a:extLst>
          </p:cNvPr>
          <p:cNvSpPr txBox="1">
            <a:spLocks/>
          </p:cNvSpPr>
          <p:nvPr/>
        </p:nvSpPr>
        <p:spPr>
          <a:xfrm>
            <a:off x="1033698" y="2118584"/>
            <a:ext cx="238138" cy="34103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35992" tIns="46790" rIns="35992" bIns="4679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6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5pPr>
            <a:lvl6pPr marL="457098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6pPr>
            <a:lvl7pPr marL="914195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7pPr>
            <a:lvl8pPr marL="1371293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8pPr>
            <a:lvl9pPr marL="182839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9pPr>
          </a:lstStyle>
          <a:p>
            <a:pPr defTabSz="914400" latinLnBrk="0"/>
            <a:r>
              <a:rPr lang="ko-KR" altLang="en-US" sz="1500" dirty="0">
                <a:solidFill>
                  <a:srgbClr val="FF0000"/>
                </a:solidFill>
              </a:rPr>
              <a:t>①</a:t>
            </a:r>
            <a:endParaRPr lang="en-US" altLang="ko-KR" sz="1500" dirty="0">
              <a:solidFill>
                <a:srgbClr val="FF0000"/>
              </a:solidFill>
            </a:endParaRPr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069A5E35-3B5E-167B-EADF-1CD788D7F97D}"/>
              </a:ext>
            </a:extLst>
          </p:cNvPr>
          <p:cNvSpPr txBox="1">
            <a:spLocks/>
          </p:cNvSpPr>
          <p:nvPr/>
        </p:nvSpPr>
        <p:spPr>
          <a:xfrm>
            <a:off x="5501059" y="2195450"/>
            <a:ext cx="238198" cy="36720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35992" tIns="46790" rIns="35992" bIns="4679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6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5pPr>
            <a:lvl6pPr marL="457098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6pPr>
            <a:lvl7pPr marL="914195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7pPr>
            <a:lvl8pPr marL="1371293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8pPr>
            <a:lvl9pPr marL="182839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9pPr>
          </a:lstStyle>
          <a:p>
            <a:pPr defTabSz="914400" latinLnBrk="0"/>
            <a:r>
              <a:rPr lang="ko-KR" altLang="en-US" sz="1500" dirty="0">
                <a:solidFill>
                  <a:srgbClr val="FF0000"/>
                </a:solidFill>
              </a:rPr>
              <a:t>②</a:t>
            </a:r>
            <a:endParaRPr lang="en-US" altLang="ko-KR" sz="1500" dirty="0">
              <a:solidFill>
                <a:srgbClr val="FF000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00D0F5C-E271-5EC0-0E33-03051F0F9B04}"/>
              </a:ext>
            </a:extLst>
          </p:cNvPr>
          <p:cNvSpPr/>
          <p:nvPr/>
        </p:nvSpPr>
        <p:spPr>
          <a:xfrm>
            <a:off x="5713869" y="2480081"/>
            <a:ext cx="566281" cy="36720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71153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076A7C-A132-F978-E0B3-8F57B3E09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D2BE6898-E1AE-F867-0ED1-311CD6CC4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476" y="1784870"/>
            <a:ext cx="6233613" cy="4601777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2679FE49-74BE-2CA4-6A3F-78CDCD0B9DE1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1B350F8-790E-0437-B086-03B0351A7884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9CD0F5-F808-54FF-296D-B5A2EAEFD633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패밀리 작성 </a:t>
            </a:r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실습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3969A997-B9CF-73A5-FD55-98DFBD8DEF47}"/>
              </a:ext>
            </a:extLst>
          </p:cNvPr>
          <p:cNvSpPr/>
          <p:nvPr/>
        </p:nvSpPr>
        <p:spPr>
          <a:xfrm>
            <a:off x="558800" y="1342255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3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19F851-415E-A520-4680-1DE5F7221877}"/>
              </a:ext>
            </a:extLst>
          </p:cNvPr>
          <p:cNvSpPr txBox="1"/>
          <p:nvPr/>
        </p:nvSpPr>
        <p:spPr>
          <a:xfrm>
            <a:off x="950767" y="1298291"/>
            <a:ext cx="4877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Parameter </a:t>
            </a:r>
            <a:r>
              <a:rPr lang="ko-KR" altLang="en-US" b="1" dirty="0"/>
              <a:t>입력</a:t>
            </a:r>
            <a:endParaRPr lang="en-US" altLang="ko-KR" b="1" dirty="0"/>
          </a:p>
        </p:txBody>
      </p:sp>
      <p:sp>
        <p:nvSpPr>
          <p:cNvPr id="17" name="슬라이드 번호 개체 틀 16">
            <a:extLst>
              <a:ext uri="{FF2B5EF4-FFF2-40B4-BE49-F238E27FC236}">
                <a16:creationId xmlns:a16="http://schemas.microsoft.com/office/drawing/2014/main" id="{6D8EDFB3-8AB3-D529-2FF6-F80536675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3AEE6FB-283F-1F84-7EB8-19280E9985C7}"/>
              </a:ext>
            </a:extLst>
          </p:cNvPr>
          <p:cNvSpPr/>
          <p:nvPr/>
        </p:nvSpPr>
        <p:spPr>
          <a:xfrm>
            <a:off x="1180695" y="5943600"/>
            <a:ext cx="178206" cy="24765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2C9ADDC8-F230-DBA8-2CFD-C636E861406A}"/>
              </a:ext>
            </a:extLst>
          </p:cNvPr>
          <p:cNvSpPr txBox="1">
            <a:spLocks/>
          </p:cNvSpPr>
          <p:nvPr/>
        </p:nvSpPr>
        <p:spPr>
          <a:xfrm>
            <a:off x="985476" y="5618274"/>
            <a:ext cx="227171" cy="32532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35992" tIns="46790" rIns="35992" bIns="4679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6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5pPr>
            <a:lvl6pPr marL="457098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6pPr>
            <a:lvl7pPr marL="914195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7pPr>
            <a:lvl8pPr marL="1371293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8pPr>
            <a:lvl9pPr marL="182839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9pPr>
          </a:lstStyle>
          <a:p>
            <a:pPr defTabSz="914400" latinLnBrk="0"/>
            <a:r>
              <a:rPr lang="ko-KR" altLang="en-US" sz="1500" dirty="0">
                <a:solidFill>
                  <a:srgbClr val="FF0000"/>
                </a:solidFill>
              </a:rPr>
              <a:t>①</a:t>
            </a:r>
            <a:endParaRPr lang="en-US" altLang="ko-KR" sz="1500" dirty="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03DED58-107F-E4A3-9BD5-C3D60EBDD61D}"/>
              </a:ext>
            </a:extLst>
          </p:cNvPr>
          <p:cNvSpPr txBox="1"/>
          <p:nvPr/>
        </p:nvSpPr>
        <p:spPr>
          <a:xfrm>
            <a:off x="8155709" y="2381636"/>
            <a:ext cx="318747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ko-KR" altLang="en-US" dirty="0">
                <a:solidFill>
                  <a:srgbClr val="FF0000"/>
                </a:solidFill>
              </a:rPr>
              <a:t>신규 </a:t>
            </a:r>
            <a:r>
              <a:rPr lang="en-US" altLang="ko-KR" dirty="0">
                <a:solidFill>
                  <a:srgbClr val="FF0000"/>
                </a:solidFill>
              </a:rPr>
              <a:t>Parameter </a:t>
            </a:r>
            <a:r>
              <a:rPr lang="ko-KR" altLang="en-US" dirty="0">
                <a:solidFill>
                  <a:srgbClr val="FF0000"/>
                </a:solidFill>
              </a:rPr>
              <a:t>생성</a:t>
            </a:r>
            <a:endParaRPr lang="en-US" altLang="ko-KR" dirty="0">
              <a:solidFill>
                <a:srgbClr val="FF0000"/>
              </a:solidFill>
            </a:endParaRPr>
          </a:p>
          <a:p>
            <a:pPr marL="342900" indent="-342900">
              <a:buFont typeface="+mj-ea"/>
              <a:buAutoNum type="circleNumDbPlain"/>
            </a:pPr>
            <a:endParaRPr lang="en-US" altLang="ko-KR" dirty="0">
              <a:solidFill>
                <a:srgbClr val="FF0000"/>
              </a:solidFill>
            </a:endParaRPr>
          </a:p>
          <a:p>
            <a:pPr marL="342900" indent="-342900">
              <a:buFont typeface="+mj-ea"/>
              <a:buAutoNum type="circleNumDbPlain"/>
            </a:pPr>
            <a:r>
              <a:rPr lang="en-US" altLang="ko-KR" dirty="0">
                <a:solidFill>
                  <a:srgbClr val="FF0000"/>
                </a:solidFill>
              </a:rPr>
              <a:t>Family/Shared Parameter</a:t>
            </a:r>
          </a:p>
          <a:p>
            <a:pPr marL="342900" indent="-342900">
              <a:buFont typeface="+mj-ea"/>
              <a:buAutoNum type="circleNumDbPlain"/>
            </a:pPr>
            <a:endParaRPr lang="en-US" altLang="ko-KR" dirty="0">
              <a:solidFill>
                <a:srgbClr val="FF0000"/>
              </a:solidFill>
            </a:endParaRPr>
          </a:p>
          <a:p>
            <a:pPr marL="342900" indent="-342900">
              <a:buFont typeface="+mj-ea"/>
              <a:buAutoNum type="circleNumDbPlain"/>
            </a:pPr>
            <a:r>
              <a:rPr lang="en-US" altLang="ko-KR" dirty="0">
                <a:solidFill>
                  <a:srgbClr val="FF0000"/>
                </a:solidFill>
              </a:rPr>
              <a:t>Name </a:t>
            </a:r>
            <a:r>
              <a:rPr lang="ko-KR" altLang="en-US" dirty="0">
                <a:solidFill>
                  <a:srgbClr val="FF0000"/>
                </a:solidFill>
              </a:rPr>
              <a:t>작성</a:t>
            </a:r>
            <a:endParaRPr lang="en-US" altLang="ko-KR" dirty="0">
              <a:solidFill>
                <a:srgbClr val="FF0000"/>
              </a:solidFill>
            </a:endParaRPr>
          </a:p>
          <a:p>
            <a:pPr marL="342900" indent="-342900">
              <a:buFont typeface="+mj-ea"/>
              <a:buAutoNum type="circleNumDbPlain"/>
            </a:pPr>
            <a:endParaRPr lang="en-US" altLang="ko-KR" dirty="0">
              <a:solidFill>
                <a:srgbClr val="FF0000"/>
              </a:solidFill>
            </a:endParaRPr>
          </a:p>
          <a:p>
            <a:pPr marL="342900" indent="-342900">
              <a:buFont typeface="+mj-ea"/>
              <a:buAutoNum type="circleNumDbPlain"/>
            </a:pPr>
            <a:r>
              <a:rPr lang="en-US" altLang="ko-KR" dirty="0">
                <a:solidFill>
                  <a:srgbClr val="FF0000"/>
                </a:solidFill>
              </a:rPr>
              <a:t>Type/Instance Parameter 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063A6967-21BA-6D39-6055-981CB2133AF2}"/>
              </a:ext>
            </a:extLst>
          </p:cNvPr>
          <p:cNvGrpSpPr/>
          <p:nvPr/>
        </p:nvGrpSpPr>
        <p:grpSpPr>
          <a:xfrm>
            <a:off x="4351635" y="1993245"/>
            <a:ext cx="2801693" cy="3277910"/>
            <a:chOff x="4351635" y="1993245"/>
            <a:chExt cx="2801693" cy="3277910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8A2C3D97-BB1B-6005-8933-F9A9F13396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2310"/>
            <a:stretch>
              <a:fillRect/>
            </a:stretch>
          </p:blipFill>
          <p:spPr>
            <a:xfrm>
              <a:off x="4465250" y="1993245"/>
              <a:ext cx="2688078" cy="3277910"/>
            </a:xfrm>
            <a:prstGeom prst="rect">
              <a:avLst/>
            </a:prstGeom>
          </p:spPr>
        </p:pic>
        <p:sp>
          <p:nvSpPr>
            <p:cNvPr id="11" name="제목 1">
              <a:extLst>
                <a:ext uri="{FF2B5EF4-FFF2-40B4-BE49-F238E27FC236}">
                  <a16:creationId xmlns:a16="http://schemas.microsoft.com/office/drawing/2014/main" id="{0DD04783-BF24-F6B8-5EF5-213B4B8723CE}"/>
                </a:ext>
              </a:extLst>
            </p:cNvPr>
            <p:cNvSpPr txBox="1">
              <a:spLocks/>
            </p:cNvSpPr>
            <p:nvPr/>
          </p:nvSpPr>
          <p:spPr>
            <a:xfrm>
              <a:off x="4351635" y="2031345"/>
              <a:ext cx="227229" cy="35029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square" lIns="35992" tIns="46790" rIns="35992" bIns="46790" anchor="t"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lang="ko-KR" altLang="en-US" sz="16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Arial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5pPr>
              <a:lvl6pPr marL="457098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6pPr>
              <a:lvl7pPr marL="914195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7pPr>
              <a:lvl8pPr marL="1371293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8pPr>
              <a:lvl9pPr marL="1828390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9pPr>
            </a:lstStyle>
            <a:p>
              <a:pPr defTabSz="914400" latinLnBrk="0"/>
              <a:r>
                <a:rPr lang="ko-KR" altLang="en-US" sz="1500" dirty="0">
                  <a:solidFill>
                    <a:srgbClr val="FF0000"/>
                  </a:solidFill>
                </a:rPr>
                <a:t>②</a:t>
              </a:r>
              <a:endParaRPr lang="en-US" altLang="ko-KR" sz="1500" dirty="0">
                <a:solidFill>
                  <a:srgbClr val="FF0000"/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A1E066D-9D2C-04A1-497D-D521ED5A16CA}"/>
                </a:ext>
              </a:extLst>
            </p:cNvPr>
            <p:cNvSpPr/>
            <p:nvPr/>
          </p:nvSpPr>
          <p:spPr>
            <a:xfrm>
              <a:off x="4578864" y="2257073"/>
              <a:ext cx="1245717" cy="65238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제목 1">
              <a:extLst>
                <a:ext uri="{FF2B5EF4-FFF2-40B4-BE49-F238E27FC236}">
                  <a16:creationId xmlns:a16="http://schemas.microsoft.com/office/drawing/2014/main" id="{A6D84863-7DC1-1DB0-2DB1-DEE22B870528}"/>
                </a:ext>
              </a:extLst>
            </p:cNvPr>
            <p:cNvSpPr txBox="1">
              <a:spLocks/>
            </p:cNvSpPr>
            <p:nvPr/>
          </p:nvSpPr>
          <p:spPr>
            <a:xfrm>
              <a:off x="5859535" y="3053877"/>
              <a:ext cx="227229" cy="325326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square" lIns="35992" tIns="46790" rIns="35992" bIns="46790" anchor="t"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lang="ko-KR" altLang="en-US" sz="16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Arial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5pPr>
              <a:lvl6pPr marL="457098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6pPr>
              <a:lvl7pPr marL="914195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7pPr>
              <a:lvl8pPr marL="1371293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8pPr>
              <a:lvl9pPr marL="1828390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9pPr>
            </a:lstStyle>
            <a:p>
              <a:pPr defTabSz="914400" latinLnBrk="0"/>
              <a:r>
                <a:rPr lang="ko-KR" altLang="en-US" sz="1500" dirty="0">
                  <a:solidFill>
                    <a:srgbClr val="FF0000"/>
                  </a:solidFill>
                </a:rPr>
                <a:t>④</a:t>
              </a:r>
              <a:endParaRPr lang="en-US" altLang="ko-KR" sz="1500" dirty="0">
                <a:solidFill>
                  <a:srgbClr val="FF0000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5132FE96-C3CB-1834-5443-10C80B6866EB}"/>
                </a:ext>
              </a:extLst>
            </p:cNvPr>
            <p:cNvSpPr/>
            <p:nvPr/>
          </p:nvSpPr>
          <p:spPr>
            <a:xfrm>
              <a:off x="4578864" y="3347202"/>
              <a:ext cx="1245717" cy="24624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9" name="제목 1">
              <a:extLst>
                <a:ext uri="{FF2B5EF4-FFF2-40B4-BE49-F238E27FC236}">
                  <a16:creationId xmlns:a16="http://schemas.microsoft.com/office/drawing/2014/main" id="{3158A3C0-20B3-67A4-09A5-3413D3F77904}"/>
                </a:ext>
              </a:extLst>
            </p:cNvPr>
            <p:cNvSpPr txBox="1">
              <a:spLocks/>
            </p:cNvSpPr>
            <p:nvPr/>
          </p:nvSpPr>
          <p:spPr>
            <a:xfrm>
              <a:off x="4465249" y="3019411"/>
              <a:ext cx="227229" cy="325326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square" lIns="35992" tIns="46790" rIns="35992" bIns="46790" anchor="t"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lang="ko-KR" altLang="en-US" sz="16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Arial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5pPr>
              <a:lvl6pPr marL="457098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6pPr>
              <a:lvl7pPr marL="914195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7pPr>
              <a:lvl8pPr marL="1371293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8pPr>
              <a:lvl9pPr marL="1828390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9pPr>
            </a:lstStyle>
            <a:p>
              <a:pPr defTabSz="914400" latinLnBrk="0"/>
              <a:r>
                <a:rPr lang="ko-KR" altLang="en-US" sz="1500" dirty="0">
                  <a:solidFill>
                    <a:srgbClr val="FF0000"/>
                  </a:solidFill>
                </a:rPr>
                <a:t>③</a:t>
              </a:r>
              <a:endParaRPr lang="en-US" altLang="ko-KR" sz="1500" dirty="0">
                <a:solidFill>
                  <a:srgbClr val="FF0000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A04D7B1C-2B10-961C-838B-16177B8DB02F}"/>
                </a:ext>
              </a:extLst>
            </p:cNvPr>
            <p:cNvSpPr/>
            <p:nvPr/>
          </p:nvSpPr>
          <p:spPr>
            <a:xfrm>
              <a:off x="5907612" y="3381668"/>
              <a:ext cx="486738" cy="458849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5" name="제목 1">
              <a:extLst>
                <a:ext uri="{FF2B5EF4-FFF2-40B4-BE49-F238E27FC236}">
                  <a16:creationId xmlns:a16="http://schemas.microsoft.com/office/drawing/2014/main" id="{7DE2C96D-6C1D-E8AF-37EA-422F525F8DCF}"/>
                </a:ext>
              </a:extLst>
            </p:cNvPr>
            <p:cNvSpPr txBox="1">
              <a:spLocks/>
            </p:cNvSpPr>
            <p:nvPr/>
          </p:nvSpPr>
          <p:spPr>
            <a:xfrm>
              <a:off x="5901162" y="4713939"/>
              <a:ext cx="227229" cy="325326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square" lIns="35992" tIns="46790" rIns="35992" bIns="46790" anchor="t"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lang="ko-KR" altLang="en-US" sz="16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Arial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5pPr>
              <a:lvl6pPr marL="457098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6pPr>
              <a:lvl7pPr marL="914195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7pPr>
              <a:lvl8pPr marL="1371293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8pPr>
              <a:lvl9pPr marL="1828390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9pPr>
            </a:lstStyle>
            <a:p>
              <a:pPr defTabSz="914400" latinLnBrk="0"/>
              <a:r>
                <a:rPr lang="ko-KR" altLang="en-US" sz="1500" dirty="0">
                  <a:solidFill>
                    <a:srgbClr val="FF0000"/>
                  </a:solidFill>
                </a:rPr>
                <a:t>⑤</a:t>
              </a:r>
              <a:endParaRPr lang="en-US" altLang="ko-KR" sz="1500" dirty="0">
                <a:solidFill>
                  <a:srgbClr val="FF0000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E4CB8041-8DDE-C957-DEE9-9A96B38E4145}"/>
                </a:ext>
              </a:extLst>
            </p:cNvPr>
            <p:cNvSpPr/>
            <p:nvPr/>
          </p:nvSpPr>
          <p:spPr>
            <a:xfrm>
              <a:off x="5949239" y="5041731"/>
              <a:ext cx="486738" cy="18721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00361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BC61EB-9219-B278-7EE5-56F3C79E0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D356A132-DF0E-F2B5-5AD3-85380EE194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56" b="4380"/>
          <a:stretch>
            <a:fillRect/>
          </a:stretch>
        </p:blipFill>
        <p:spPr>
          <a:xfrm>
            <a:off x="985475" y="1800646"/>
            <a:ext cx="5941485" cy="4587454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C5069DBD-DB52-627E-7B9D-BDCF48080D0E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3E4B215-89F9-1FC0-737A-6B6168BBCC5B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2C3AE3-6F8E-9331-CD5C-1B2C07BA2D9D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패밀리 작성 </a:t>
            </a:r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실습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84B07A1A-6A9D-B9D8-67B1-192ED0D70316}"/>
              </a:ext>
            </a:extLst>
          </p:cNvPr>
          <p:cNvSpPr/>
          <p:nvPr/>
        </p:nvSpPr>
        <p:spPr>
          <a:xfrm>
            <a:off x="558800" y="1342255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4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402027-3866-FD34-7073-66D015CE1A79}"/>
              </a:ext>
            </a:extLst>
          </p:cNvPr>
          <p:cNvSpPr txBox="1"/>
          <p:nvPr/>
        </p:nvSpPr>
        <p:spPr>
          <a:xfrm>
            <a:off x="950767" y="1298291"/>
            <a:ext cx="4877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Parameter </a:t>
            </a:r>
            <a:r>
              <a:rPr lang="ko-KR" altLang="en-US" b="1" dirty="0"/>
              <a:t>걸어주기</a:t>
            </a:r>
            <a:endParaRPr lang="en-US" altLang="ko-KR" b="1" dirty="0"/>
          </a:p>
        </p:txBody>
      </p:sp>
      <p:sp>
        <p:nvSpPr>
          <p:cNvPr id="17" name="슬라이드 번호 개체 틀 16">
            <a:extLst>
              <a:ext uri="{FF2B5EF4-FFF2-40B4-BE49-F238E27FC236}">
                <a16:creationId xmlns:a16="http://schemas.microsoft.com/office/drawing/2014/main" id="{DA6E7E47-DF26-E2A0-1045-C15D30CC2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87CDF61-4ACE-F13E-D43C-373482E52654}"/>
              </a:ext>
            </a:extLst>
          </p:cNvPr>
          <p:cNvSpPr/>
          <p:nvPr/>
        </p:nvSpPr>
        <p:spPr>
          <a:xfrm>
            <a:off x="5106524" y="4051793"/>
            <a:ext cx="980239" cy="38979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EC2CE70A-F302-2275-73C3-0B0FF47A6B0C}"/>
              </a:ext>
            </a:extLst>
          </p:cNvPr>
          <p:cNvSpPr txBox="1">
            <a:spLocks/>
          </p:cNvSpPr>
          <p:nvPr/>
        </p:nvSpPr>
        <p:spPr>
          <a:xfrm>
            <a:off x="4911306" y="3726468"/>
            <a:ext cx="195217" cy="32532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35992" tIns="46790" rIns="35992" bIns="4679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6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5pPr>
            <a:lvl6pPr marL="457098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6pPr>
            <a:lvl7pPr marL="914195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7pPr>
            <a:lvl8pPr marL="1371293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8pPr>
            <a:lvl9pPr marL="182839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9pPr>
          </a:lstStyle>
          <a:p>
            <a:pPr defTabSz="914400" latinLnBrk="0"/>
            <a:r>
              <a:rPr lang="ko-KR" altLang="en-US" sz="1500" dirty="0">
                <a:solidFill>
                  <a:srgbClr val="FF0000"/>
                </a:solidFill>
              </a:rPr>
              <a:t>①</a:t>
            </a:r>
            <a:endParaRPr lang="en-US" altLang="ko-KR" sz="1500" dirty="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242BDA-E18B-AC18-652D-C2CA72CC8A69}"/>
              </a:ext>
            </a:extLst>
          </p:cNvPr>
          <p:cNvSpPr txBox="1"/>
          <p:nvPr/>
        </p:nvSpPr>
        <p:spPr>
          <a:xfrm>
            <a:off x="7684655" y="2392402"/>
            <a:ext cx="418377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en-US" altLang="ko-KR" dirty="0">
                <a:solidFill>
                  <a:srgbClr val="FF0000"/>
                </a:solidFill>
              </a:rPr>
              <a:t>DI </a:t>
            </a:r>
            <a:r>
              <a:rPr lang="ko-KR" altLang="en-US" dirty="0">
                <a:solidFill>
                  <a:srgbClr val="FF0000"/>
                </a:solidFill>
              </a:rPr>
              <a:t>작성</a:t>
            </a:r>
            <a:endParaRPr lang="en-US" altLang="ko-KR" dirty="0">
              <a:solidFill>
                <a:srgbClr val="FF0000"/>
              </a:solidFill>
            </a:endParaRPr>
          </a:p>
          <a:p>
            <a:pPr marL="342900" indent="-342900">
              <a:buFont typeface="+mj-ea"/>
              <a:buAutoNum type="circleNumDbPlain"/>
            </a:pPr>
            <a:endParaRPr lang="en-US" altLang="ko-KR" dirty="0">
              <a:solidFill>
                <a:srgbClr val="FF0000"/>
              </a:solidFill>
            </a:endParaRPr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>
                <a:solidFill>
                  <a:srgbClr val="FF0000"/>
                </a:solidFill>
              </a:rPr>
              <a:t>생성한 </a:t>
            </a:r>
            <a:r>
              <a:rPr lang="en-US" altLang="ko-KR" dirty="0">
                <a:solidFill>
                  <a:srgbClr val="FF0000"/>
                </a:solidFill>
              </a:rPr>
              <a:t>parameter</a:t>
            </a:r>
            <a:r>
              <a:rPr lang="ko-KR" altLang="en-US" dirty="0">
                <a:solidFill>
                  <a:srgbClr val="FF0000"/>
                </a:solidFill>
              </a:rPr>
              <a:t>에</a:t>
            </a:r>
            <a:r>
              <a:rPr lang="en-US" altLang="ko-KR" dirty="0">
                <a:solidFill>
                  <a:srgbClr val="FF0000"/>
                </a:solidFill>
              </a:rPr>
              <a:t> label </a:t>
            </a:r>
            <a:r>
              <a:rPr lang="ko-KR" altLang="en-US" dirty="0">
                <a:solidFill>
                  <a:srgbClr val="FF0000"/>
                </a:solidFill>
              </a:rPr>
              <a:t>걸어주기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8A2B2120-D611-0C46-CF3E-6FF7F5C47A77}"/>
              </a:ext>
            </a:extLst>
          </p:cNvPr>
          <p:cNvSpPr txBox="1">
            <a:spLocks/>
          </p:cNvSpPr>
          <p:nvPr/>
        </p:nvSpPr>
        <p:spPr>
          <a:xfrm>
            <a:off x="5600916" y="1800646"/>
            <a:ext cx="227229" cy="35029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35992" tIns="46790" rIns="35992" bIns="4679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6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5pPr>
            <a:lvl6pPr marL="457098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6pPr>
            <a:lvl7pPr marL="914195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7pPr>
            <a:lvl8pPr marL="1371293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8pPr>
            <a:lvl9pPr marL="182839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9pPr>
          </a:lstStyle>
          <a:p>
            <a:pPr defTabSz="914400" latinLnBrk="0"/>
            <a:r>
              <a:rPr lang="ko-KR" altLang="en-US" sz="1500" dirty="0">
                <a:solidFill>
                  <a:srgbClr val="FF0000"/>
                </a:solidFill>
              </a:rPr>
              <a:t>②</a:t>
            </a:r>
            <a:endParaRPr lang="en-US" altLang="ko-KR" sz="1500" dirty="0">
              <a:solidFill>
                <a:srgbClr val="FF000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DBDBF16-E16B-2EF3-1118-82E404698B10}"/>
              </a:ext>
            </a:extLst>
          </p:cNvPr>
          <p:cNvSpPr/>
          <p:nvPr/>
        </p:nvSpPr>
        <p:spPr>
          <a:xfrm>
            <a:off x="5524212" y="2111176"/>
            <a:ext cx="1352838" cy="116542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77401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4C70C1-1957-338D-06F5-CD955E9A8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BC052440-303A-137E-67A4-5EEDDDB03A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767" y="1828800"/>
            <a:ext cx="6724650" cy="44831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7308D1BE-6ED3-397F-B29A-26DC9D566390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1F3B876-4C27-FDB1-C384-F8563B81F4C3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9F5855-C476-235A-E9E8-2FB0464465A2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패밀리 작성 </a:t>
            </a:r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실습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5FCF530B-2EA1-2F8A-EC35-155FBCED4943}"/>
              </a:ext>
            </a:extLst>
          </p:cNvPr>
          <p:cNvSpPr/>
          <p:nvPr/>
        </p:nvSpPr>
        <p:spPr>
          <a:xfrm>
            <a:off x="558800" y="1342255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5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48A592-3922-37A2-39AC-01A489F22C1B}"/>
              </a:ext>
            </a:extLst>
          </p:cNvPr>
          <p:cNvSpPr txBox="1"/>
          <p:nvPr/>
        </p:nvSpPr>
        <p:spPr>
          <a:xfrm>
            <a:off x="950767" y="1298291"/>
            <a:ext cx="72978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Create</a:t>
            </a:r>
          </a:p>
        </p:txBody>
      </p:sp>
      <p:sp>
        <p:nvSpPr>
          <p:cNvPr id="17" name="슬라이드 번호 개체 틀 16">
            <a:extLst>
              <a:ext uri="{FF2B5EF4-FFF2-40B4-BE49-F238E27FC236}">
                <a16:creationId xmlns:a16="http://schemas.microsoft.com/office/drawing/2014/main" id="{750609EA-F721-CF31-4074-87B5432A2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0392551-72AB-CB77-C9B1-488C18F3A61A}"/>
              </a:ext>
            </a:extLst>
          </p:cNvPr>
          <p:cNvSpPr/>
          <p:nvPr/>
        </p:nvSpPr>
        <p:spPr>
          <a:xfrm>
            <a:off x="5009284" y="2362199"/>
            <a:ext cx="248516" cy="23910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95ED077-5EB3-4FC8-FE1B-DE829B346580}"/>
              </a:ext>
            </a:extLst>
          </p:cNvPr>
          <p:cNvSpPr/>
          <p:nvPr/>
        </p:nvSpPr>
        <p:spPr>
          <a:xfrm>
            <a:off x="1275484" y="2006600"/>
            <a:ext cx="238991" cy="13176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8E6558E2-B5ED-020D-B66A-8D6C641B799C}"/>
              </a:ext>
            </a:extLst>
          </p:cNvPr>
          <p:cNvSpPr txBox="1">
            <a:spLocks/>
          </p:cNvSpPr>
          <p:nvPr/>
        </p:nvSpPr>
        <p:spPr>
          <a:xfrm>
            <a:off x="993661" y="1909818"/>
            <a:ext cx="238929" cy="32532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35992" tIns="46790" rIns="35992" bIns="4679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6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5pPr>
            <a:lvl6pPr marL="457098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6pPr>
            <a:lvl7pPr marL="914195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7pPr>
            <a:lvl8pPr marL="1371293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8pPr>
            <a:lvl9pPr marL="182839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9pPr>
          </a:lstStyle>
          <a:p>
            <a:pPr defTabSz="914400" latinLnBrk="0"/>
            <a:r>
              <a:rPr lang="ko-KR" altLang="en-US" sz="1500" dirty="0">
                <a:solidFill>
                  <a:srgbClr val="FF0000"/>
                </a:solidFill>
              </a:rPr>
              <a:t>①</a:t>
            </a:r>
            <a:endParaRPr lang="en-US" altLang="ko-KR" sz="1500" dirty="0">
              <a:solidFill>
                <a:srgbClr val="FF0000"/>
              </a:solidFill>
            </a:endParaRPr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5EDD6B54-DF49-29D4-2B9B-2AB0AFF95315}"/>
              </a:ext>
            </a:extLst>
          </p:cNvPr>
          <p:cNvSpPr txBox="1">
            <a:spLocks/>
          </p:cNvSpPr>
          <p:nvPr/>
        </p:nvSpPr>
        <p:spPr>
          <a:xfrm>
            <a:off x="5030571" y="1831454"/>
            <a:ext cx="227229" cy="35029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35992" tIns="46790" rIns="35992" bIns="4679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6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5pPr>
            <a:lvl6pPr marL="457098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6pPr>
            <a:lvl7pPr marL="914195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7pPr>
            <a:lvl8pPr marL="1371293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8pPr>
            <a:lvl9pPr marL="182839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9pPr>
          </a:lstStyle>
          <a:p>
            <a:pPr defTabSz="914400" latinLnBrk="0"/>
            <a:r>
              <a:rPr lang="ko-KR" altLang="en-US" sz="1500" dirty="0">
                <a:solidFill>
                  <a:srgbClr val="FF0000"/>
                </a:solidFill>
              </a:rPr>
              <a:t>②</a:t>
            </a:r>
            <a:endParaRPr lang="en-US" altLang="ko-KR" sz="1500" dirty="0">
              <a:solidFill>
                <a:srgbClr val="FF000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6449DBB-9090-46C6-D4AE-A3B0BD3E7586}"/>
              </a:ext>
            </a:extLst>
          </p:cNvPr>
          <p:cNvSpPr/>
          <p:nvPr/>
        </p:nvSpPr>
        <p:spPr>
          <a:xfrm>
            <a:off x="5257800" y="2099877"/>
            <a:ext cx="704850" cy="5014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EDD8BF7D-02AE-EF68-0140-04CF56E0B8E2}"/>
              </a:ext>
            </a:extLst>
          </p:cNvPr>
          <p:cNvSpPr txBox="1">
            <a:spLocks/>
          </p:cNvSpPr>
          <p:nvPr/>
        </p:nvSpPr>
        <p:spPr>
          <a:xfrm>
            <a:off x="4771412" y="2117121"/>
            <a:ext cx="227229" cy="32532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35992" tIns="46790" rIns="35992" bIns="4679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6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5pPr>
            <a:lvl6pPr marL="457098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6pPr>
            <a:lvl7pPr marL="914195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7pPr>
            <a:lvl8pPr marL="1371293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8pPr>
            <a:lvl9pPr marL="182839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9pPr>
          </a:lstStyle>
          <a:p>
            <a:pPr defTabSz="914400" latinLnBrk="0"/>
            <a:r>
              <a:rPr lang="ko-KR" altLang="en-US" sz="1500" dirty="0">
                <a:solidFill>
                  <a:srgbClr val="FF0000"/>
                </a:solidFill>
              </a:rPr>
              <a:t>③</a:t>
            </a:r>
            <a:endParaRPr lang="en-US" altLang="ko-KR" sz="15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829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FF8BD3-FF02-5E94-4B1F-0948FC19F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B56F8DC-A6B5-EFE7-E350-10D8AE9A1FC9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2CEE0CF-4EC1-4C3F-1136-AE58529D2E8A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B26030-6EAD-C2A5-60CF-6BAA67C5246E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패밀리 재질입력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B9FE139-B9BF-0C37-932D-9932A4CB6A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06" t="2392" r="778"/>
          <a:stretch>
            <a:fillRect/>
          </a:stretch>
        </p:blipFill>
        <p:spPr>
          <a:xfrm>
            <a:off x="876877" y="2013414"/>
            <a:ext cx="5818909" cy="358717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4F0DA3-5B2B-2764-4327-D7D85F5B4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A50F2657-6BDE-8E83-4108-AA3493518C46}"/>
              </a:ext>
            </a:extLst>
          </p:cNvPr>
          <p:cNvSpPr/>
          <p:nvPr/>
        </p:nvSpPr>
        <p:spPr>
          <a:xfrm>
            <a:off x="558800" y="1342255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6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68C750-96C3-9048-9F79-FB05BC8AD619}"/>
              </a:ext>
            </a:extLst>
          </p:cNvPr>
          <p:cNvSpPr txBox="1"/>
          <p:nvPr/>
        </p:nvSpPr>
        <p:spPr>
          <a:xfrm>
            <a:off x="950767" y="1298291"/>
            <a:ext cx="72978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재질 입력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32435450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69D0A6-E1D3-6D80-7401-2A7771FE9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5C950C9-A857-5214-6518-87BED6973176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2B8E935-4CB1-4BB6-A635-79079C3D7BF6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A007D1-A671-ABD5-9C2C-9F9E857F94BB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패밀리 작성 </a:t>
            </a:r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실습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DF5AA210-2F6B-1330-498E-4637ADE126F2}"/>
              </a:ext>
            </a:extLst>
          </p:cNvPr>
          <p:cNvSpPr/>
          <p:nvPr/>
        </p:nvSpPr>
        <p:spPr>
          <a:xfrm>
            <a:off x="558800" y="1342255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7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884619-48B6-7A8F-7A61-C52FA1CD5562}"/>
              </a:ext>
            </a:extLst>
          </p:cNvPr>
          <p:cNvSpPr txBox="1"/>
          <p:nvPr/>
        </p:nvSpPr>
        <p:spPr>
          <a:xfrm>
            <a:off x="950767" y="1298291"/>
            <a:ext cx="72978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Family </a:t>
            </a:r>
            <a:r>
              <a:rPr lang="ko-KR" altLang="en-US" b="1" dirty="0"/>
              <a:t>작성 후 최종 검토사항</a:t>
            </a:r>
            <a:endParaRPr lang="en-US" altLang="ko-KR" b="1" dirty="0"/>
          </a:p>
        </p:txBody>
      </p:sp>
      <p:sp>
        <p:nvSpPr>
          <p:cNvPr id="17" name="슬라이드 번호 개체 틀 16">
            <a:extLst>
              <a:ext uri="{FF2B5EF4-FFF2-40B4-BE49-F238E27FC236}">
                <a16:creationId xmlns:a16="http://schemas.microsoft.com/office/drawing/2014/main" id="{491A2B83-6DD0-5250-ECC8-A2A32AD1E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63CCDC-09F0-5168-BEC3-021735DC5657}"/>
              </a:ext>
            </a:extLst>
          </p:cNvPr>
          <p:cNvSpPr txBox="1"/>
          <p:nvPr/>
        </p:nvSpPr>
        <p:spPr>
          <a:xfrm>
            <a:off x="950767" y="2100014"/>
            <a:ext cx="68038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>
                <a:solidFill>
                  <a:srgbClr val="FF0000"/>
                </a:solidFill>
              </a:rPr>
              <a:t>패밀리명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 err="1">
                <a:solidFill>
                  <a:srgbClr val="FF0000"/>
                </a:solidFill>
              </a:rPr>
              <a:t>타입명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ko-KR" altLang="en-US" dirty="0"/>
              <a:t>기준에 맞게 작성했는지 검토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라이브러리에 적합한 </a:t>
            </a:r>
            <a:r>
              <a:rPr lang="ko-KR" altLang="en-US" dirty="0">
                <a:solidFill>
                  <a:srgbClr val="FF0000"/>
                </a:solidFill>
              </a:rPr>
              <a:t>센터선</a:t>
            </a:r>
            <a:r>
              <a:rPr lang="ko-KR" altLang="en-US" dirty="0"/>
              <a:t>으로 작성했는지 검토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>
                <a:solidFill>
                  <a:srgbClr val="FF0000"/>
                </a:solidFill>
              </a:rPr>
              <a:t>Family Category </a:t>
            </a:r>
            <a:r>
              <a:rPr lang="ko-KR" altLang="en-US" dirty="0"/>
              <a:t>검토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객체 </a:t>
            </a:r>
            <a:r>
              <a:rPr lang="en-US" altLang="ko-KR" dirty="0">
                <a:solidFill>
                  <a:srgbClr val="FF0000"/>
                </a:solidFill>
              </a:rPr>
              <a:t>Visibility: Fine</a:t>
            </a:r>
            <a:r>
              <a:rPr lang="ko-KR" altLang="en-US" dirty="0"/>
              <a:t>으로 설정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재질 입력 검토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>
                <a:solidFill>
                  <a:srgbClr val="FF0000"/>
                </a:solidFill>
              </a:rPr>
              <a:t>Work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Plane-Based, Always Vertical </a:t>
            </a:r>
            <a:r>
              <a:rPr lang="ko-KR" altLang="en-US" dirty="0"/>
              <a:t>체크</a:t>
            </a:r>
            <a:endParaRPr lang="en-US" altLang="ko-KR" dirty="0"/>
          </a:p>
          <a:p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367065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63CDA67-A0EA-C69B-B07C-E5F4450A28D6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923A914-8415-0A0D-1213-3D0B9E10F67C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92A64D-14F9-3BD0-7638-F72230FBB19C}"/>
              </a:ext>
            </a:extLst>
          </p:cNvPr>
          <p:cNvSpPr txBox="1"/>
          <p:nvPr/>
        </p:nvSpPr>
        <p:spPr>
          <a:xfrm>
            <a:off x="3708400" y="2523123"/>
            <a:ext cx="7273636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Revit</a:t>
            </a:r>
            <a:r>
              <a:rPr lang="ko-KR" altLang="en-US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과 </a:t>
            </a:r>
            <a:r>
              <a:rPr lang="en-US" altLang="ko-KR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CAD</a:t>
            </a:r>
            <a:r>
              <a:rPr lang="ko-KR" altLang="en-US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를</a:t>
            </a:r>
            <a:r>
              <a:rPr lang="en-US" altLang="ko-KR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 link</a:t>
            </a:r>
            <a:r>
              <a:rPr lang="ko-KR" altLang="en-US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로 불러오기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3057A6B1-0391-9E86-C055-E435FF4D4304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22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5</a:t>
            </a:r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2971E2-6FB1-F8F9-1CBB-7944C4D003AD}"/>
              </a:ext>
            </a:extLst>
          </p:cNvPr>
          <p:cNvSpPr txBox="1"/>
          <p:nvPr/>
        </p:nvSpPr>
        <p:spPr>
          <a:xfrm>
            <a:off x="641350" y="2523123"/>
            <a:ext cx="2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95000"/>
                  </a:schemeClr>
                </a:solidFill>
              </a:rPr>
              <a:t>링크 파일 불러오기</a:t>
            </a:r>
            <a:endParaRPr lang="ko-KR" altLang="en-US" sz="16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DB11E8F-A3CF-2325-10DA-604180DDF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20743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3BD1B29-8A62-01B9-96B7-1900D3475187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412C20C-A1A4-7AAD-F4E0-C18F29FD93CA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B41EBF-AD61-E2F0-B5E5-C045851AA8A8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링크 파일 불러오기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C96E6A-CADA-F5A0-3672-88BB9F8505D8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>
                <a:solidFill>
                  <a:srgbClr val="FFD774"/>
                </a:solidFill>
                <a:latin typeface="Malgun Gothic" panose="020B0503020000020004" pitchFamily="50" charset="-127"/>
              </a:rPr>
              <a:t>링크 목적과 좌표 기준을 먼저 확인합니다</a:t>
            </a:r>
            <a:r>
              <a:rPr lang="en-US" altLang="ko-KR" sz="1100">
                <a:solidFill>
                  <a:srgbClr val="FFD774"/>
                </a:solidFill>
                <a:latin typeface="Malgun Gothic" panose="020B0503020000020004" pitchFamily="50" charset="-127"/>
              </a:rPr>
              <a:t>.</a:t>
            </a:r>
            <a:endParaRPr lang="ko-KR" altLang="en-US" sz="1100">
              <a:solidFill>
                <a:srgbClr val="FFD77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DC79FD2-6A7A-ED49-4F6B-CF2CEA28305F}"/>
              </a:ext>
            </a:extLst>
          </p:cNvPr>
          <p:cNvSpPr/>
          <p:nvPr/>
        </p:nvSpPr>
        <p:spPr>
          <a:xfrm>
            <a:off x="457200" y="1069945"/>
            <a:ext cx="5334000" cy="4498751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Auto - Center to Center (</a:t>
            </a:r>
            <a:r>
              <a:rPr lang="ko-KR" altLang="en-US" dirty="0"/>
              <a:t>자동 </a:t>
            </a:r>
            <a:r>
              <a:rPr lang="en-US" altLang="ko-KR" dirty="0"/>
              <a:t>- </a:t>
            </a:r>
            <a:r>
              <a:rPr lang="ko-KR" altLang="en-US" dirty="0"/>
              <a:t>중심 대 중심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8CB43D-9E21-E95B-6AEB-34A84854260B}"/>
              </a:ext>
            </a:extLst>
          </p:cNvPr>
          <p:cNvSpPr txBox="1"/>
          <p:nvPr/>
        </p:nvSpPr>
        <p:spPr>
          <a:xfrm>
            <a:off x="685800" y="1176635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Revit </a:t>
            </a:r>
            <a:r>
              <a:rPr lang="ko-KR" altLang="en-US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링크</a:t>
            </a:r>
            <a:r>
              <a:rPr lang="en-US" altLang="ko-KR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모델 참조</a:t>
            </a:r>
            <a:r>
              <a:rPr lang="en-US" altLang="ko-KR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)</a:t>
            </a:r>
            <a:endParaRPr lang="ko-KR" altLang="en-US" b="1" dirty="0">
              <a:solidFill>
                <a:srgbClr val="CC4700"/>
              </a:solidFill>
              <a:latin typeface="Malgun Gothic" panose="020B0503020000020004" pitchFamily="50" charset="-127"/>
            </a:endParaRPr>
          </a:p>
          <a:p>
            <a:endParaRPr lang="ko-KR" altLang="en-US" b="1" dirty="0">
              <a:solidFill>
                <a:srgbClr val="CC47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7E28377-D4C7-1885-83CA-BDA17AE120D2}"/>
              </a:ext>
            </a:extLst>
          </p:cNvPr>
          <p:cNvSpPr/>
          <p:nvPr/>
        </p:nvSpPr>
        <p:spPr>
          <a:xfrm>
            <a:off x="685800" y="1633835"/>
            <a:ext cx="48768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F9EA54-3D4D-2BAB-DFF6-0A1B26B990ED}"/>
              </a:ext>
            </a:extLst>
          </p:cNvPr>
          <p:cNvSpPr/>
          <p:nvPr/>
        </p:nvSpPr>
        <p:spPr>
          <a:xfrm>
            <a:off x="6223000" y="1069945"/>
            <a:ext cx="5334000" cy="4498751"/>
          </a:xfrm>
          <a:prstGeom prst="rect">
            <a:avLst/>
          </a:prstGeom>
          <a:solidFill>
            <a:srgbClr val="FFFFFF"/>
          </a:solidFill>
          <a:ln w="15875">
            <a:solidFill>
              <a:srgbClr val="EFA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B64752-1A6F-6457-8601-71C231ECDF36}"/>
              </a:ext>
            </a:extLst>
          </p:cNvPr>
          <p:cNvSpPr txBox="1"/>
          <p:nvPr/>
        </p:nvSpPr>
        <p:spPr>
          <a:xfrm>
            <a:off x="6451600" y="1176635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CAD </a:t>
            </a:r>
            <a:r>
              <a:rPr lang="ko-KR" altLang="en-US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링크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F51EB4A-EEF6-478D-6E25-51649235A070}"/>
              </a:ext>
            </a:extLst>
          </p:cNvPr>
          <p:cNvSpPr/>
          <p:nvPr/>
        </p:nvSpPr>
        <p:spPr>
          <a:xfrm>
            <a:off x="6451600" y="1633835"/>
            <a:ext cx="48768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9264DE-02BC-511D-8A03-CAF99D16FB87}"/>
              </a:ext>
            </a:extLst>
          </p:cNvPr>
          <p:cNvSpPr txBox="1"/>
          <p:nvPr/>
        </p:nvSpPr>
        <p:spPr>
          <a:xfrm>
            <a:off x="6451600" y="1786234"/>
            <a:ext cx="4770582" cy="1508761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sz="1400" b="1" dirty="0" err="1">
                <a:solidFill>
                  <a:srgbClr val="6B4724"/>
                </a:solidFill>
                <a:latin typeface="Malgun Gothic" panose="020B0503020000020004" pitchFamily="50" charset="-127"/>
              </a:rPr>
              <a:t>캐드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1400" b="1" dirty="0" err="1">
                <a:solidFill>
                  <a:srgbClr val="6B4724"/>
                </a:solidFill>
                <a:latin typeface="Malgun Gothic" panose="020B0503020000020004" pitchFamily="50" charset="-127"/>
              </a:rPr>
              <a:t>wblock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으로 저장하여 </a:t>
            </a: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link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하기</a:t>
            </a: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링크 될 </a:t>
            </a:r>
            <a:r>
              <a:rPr lang="ko-KR" altLang="en-US" sz="1400" b="1" dirty="0" err="1">
                <a:solidFill>
                  <a:srgbClr val="6B4724"/>
                </a:solidFill>
                <a:latin typeface="Malgun Gothic" panose="020B0503020000020004" pitchFamily="50" charset="-127"/>
              </a:rPr>
              <a:t>캐드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 파일명은 </a:t>
            </a:r>
            <a:r>
              <a:rPr lang="en-US" altLang="ko-KR" sz="1400" b="1" dirty="0" err="1">
                <a:solidFill>
                  <a:srgbClr val="6B4724"/>
                </a:solidFill>
                <a:latin typeface="Malgun Gothic" panose="020B0503020000020004" pitchFamily="50" charset="-127"/>
              </a:rPr>
              <a:t>revison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구분 가능하게 하기</a:t>
            </a: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>
              <a:spcAft>
                <a:spcPts val="400"/>
              </a:spcAft>
            </a:pP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    (ex.</a:t>
            </a:r>
            <a:r>
              <a:rPr lang="ko-KR" altLang="en-US" sz="1400" b="1" dirty="0" err="1">
                <a:solidFill>
                  <a:srgbClr val="6B4724"/>
                </a:solidFill>
                <a:latin typeface="Malgun Gothic" panose="020B0503020000020004" pitchFamily="50" charset="-127"/>
              </a:rPr>
              <a:t>증평역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 전등 평면도 </a:t>
            </a: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01F_260417)</a:t>
            </a:r>
            <a:endParaRPr lang="ko-KR" altLang="en-US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A81BE02-7FD0-2224-9C33-74DFE7734C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867" r="1587"/>
          <a:stretch>
            <a:fillRect/>
          </a:stretch>
        </p:blipFill>
        <p:spPr>
          <a:xfrm>
            <a:off x="685800" y="1813435"/>
            <a:ext cx="4916285" cy="96949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9DD6B19-90E2-90CA-C2D6-D233B68BAE3D}"/>
              </a:ext>
            </a:extLst>
          </p:cNvPr>
          <p:cNvSpPr txBox="1"/>
          <p:nvPr/>
        </p:nvSpPr>
        <p:spPr>
          <a:xfrm>
            <a:off x="685800" y="3018135"/>
            <a:ext cx="5013036" cy="2550561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>
              <a:spcAft>
                <a:spcPts val="400"/>
              </a:spcAft>
            </a:pPr>
            <a:r>
              <a:rPr lang="en-US" altLang="ko-KR" sz="1400" b="1" dirty="0">
                <a:solidFill>
                  <a:srgbClr val="6B4724"/>
                </a:solidFill>
              </a:rPr>
              <a:t>Internal Origin to Internal Origin: </a:t>
            </a:r>
          </a:p>
          <a:p>
            <a:pPr>
              <a:spcAft>
                <a:spcPts val="400"/>
              </a:spcAft>
            </a:pPr>
            <a:r>
              <a:rPr lang="ko-KR" altLang="en-US" sz="1400" b="1" dirty="0">
                <a:solidFill>
                  <a:srgbClr val="FF0000"/>
                </a:solidFill>
              </a:rPr>
              <a:t>내부 원점 </a:t>
            </a:r>
            <a:r>
              <a:rPr lang="ko-KR" altLang="en-US" sz="1400" b="1" dirty="0">
                <a:solidFill>
                  <a:srgbClr val="6B4724"/>
                </a:solidFill>
              </a:rPr>
              <a:t>기준</a:t>
            </a:r>
            <a:r>
              <a:rPr lang="en-US" altLang="ko-KR" sz="1400" b="1" dirty="0">
                <a:solidFill>
                  <a:srgbClr val="6B4724"/>
                </a:solidFill>
              </a:rPr>
              <a:t>(0,0,0)</a:t>
            </a:r>
          </a:p>
          <a:p>
            <a:pPr>
              <a:spcAft>
                <a:spcPts val="400"/>
              </a:spcAft>
            </a:pPr>
            <a:endParaRPr lang="en-US" altLang="ko-KR" sz="1400" b="1" dirty="0">
              <a:solidFill>
                <a:srgbClr val="6B4724"/>
              </a:solidFill>
            </a:endParaRPr>
          </a:p>
          <a:p>
            <a:pPr>
              <a:spcAft>
                <a:spcPts val="400"/>
              </a:spcAft>
            </a:pPr>
            <a:r>
              <a:rPr lang="en-US" altLang="ko-KR" sz="1400" b="1" dirty="0">
                <a:solidFill>
                  <a:srgbClr val="6B4724"/>
                </a:solidFill>
              </a:rPr>
              <a:t>By Shared Coordinates: </a:t>
            </a:r>
          </a:p>
          <a:p>
            <a:pPr>
              <a:spcAft>
                <a:spcPts val="400"/>
              </a:spcAft>
            </a:pPr>
            <a:r>
              <a:rPr lang="ko-KR" altLang="en-US" sz="1400" b="1" dirty="0">
                <a:solidFill>
                  <a:srgbClr val="6B4724"/>
                </a:solidFill>
              </a:rPr>
              <a:t>두 파일이 </a:t>
            </a:r>
            <a:r>
              <a:rPr lang="ko-KR" altLang="en-US" sz="1400" b="1" dirty="0">
                <a:solidFill>
                  <a:srgbClr val="FF0000"/>
                </a:solidFill>
              </a:rPr>
              <a:t>공유하고 있는 대지 좌표</a:t>
            </a:r>
            <a:r>
              <a:rPr lang="en-US" altLang="ko-KR" sz="1400" b="1" dirty="0">
                <a:solidFill>
                  <a:srgbClr val="6B4724"/>
                </a:solidFill>
              </a:rPr>
              <a:t>(</a:t>
            </a:r>
            <a:r>
              <a:rPr lang="ko-KR" altLang="en-US" sz="1400" b="1" dirty="0">
                <a:solidFill>
                  <a:srgbClr val="6B4724"/>
                </a:solidFill>
              </a:rPr>
              <a:t>위도</a:t>
            </a:r>
            <a:r>
              <a:rPr lang="en-US" altLang="ko-KR" sz="1400" b="1" dirty="0">
                <a:solidFill>
                  <a:srgbClr val="6B4724"/>
                </a:solidFill>
              </a:rPr>
              <a:t>, </a:t>
            </a:r>
            <a:r>
              <a:rPr lang="ko-KR" altLang="en-US" sz="1400" b="1" dirty="0">
                <a:solidFill>
                  <a:srgbClr val="6B4724"/>
                </a:solidFill>
              </a:rPr>
              <a:t>경도 및 실제 방위</a:t>
            </a:r>
            <a:r>
              <a:rPr lang="en-US" altLang="ko-KR" sz="1400" b="1" dirty="0">
                <a:solidFill>
                  <a:srgbClr val="6B4724"/>
                </a:solidFill>
              </a:rPr>
              <a:t>)</a:t>
            </a:r>
            <a:r>
              <a:rPr lang="ko-KR" altLang="en-US" sz="1400" b="1" dirty="0">
                <a:solidFill>
                  <a:srgbClr val="6B4724"/>
                </a:solidFill>
              </a:rPr>
              <a:t>를 기준으로 배치합니다</a:t>
            </a:r>
            <a:r>
              <a:rPr lang="en-US" altLang="ko-KR" sz="1400" b="1" dirty="0">
                <a:solidFill>
                  <a:srgbClr val="6B4724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>
              <a:spcAft>
                <a:spcPts val="400"/>
              </a:spcAft>
            </a:pPr>
            <a:r>
              <a:rPr lang="en-US" altLang="ko-KR" sz="1400" b="1" dirty="0">
                <a:solidFill>
                  <a:srgbClr val="6B4724"/>
                </a:solidFill>
              </a:rPr>
              <a:t>Project Base Point to Project Base Point: </a:t>
            </a:r>
          </a:p>
          <a:p>
            <a:pPr>
              <a:spcAft>
                <a:spcPts val="400"/>
              </a:spcAft>
            </a:pPr>
            <a:r>
              <a:rPr lang="ko-KR" altLang="en-US" sz="1400" b="1" dirty="0">
                <a:solidFill>
                  <a:srgbClr val="6B4724"/>
                </a:solidFill>
              </a:rPr>
              <a:t>프로젝트 </a:t>
            </a:r>
            <a:r>
              <a:rPr lang="ko-KR" altLang="en-US" sz="1400" b="1" dirty="0">
                <a:solidFill>
                  <a:srgbClr val="FF0000"/>
                </a:solidFill>
              </a:rPr>
              <a:t>내부 기준점</a:t>
            </a:r>
            <a:r>
              <a:rPr lang="en-US" altLang="ko-KR" sz="1400" b="1" dirty="0">
                <a:solidFill>
                  <a:srgbClr val="6B4724"/>
                </a:solidFill>
              </a:rPr>
              <a:t>,</a:t>
            </a:r>
            <a:r>
              <a:rPr lang="ko-KR" altLang="en-US" sz="1400" b="1" dirty="0">
                <a:solidFill>
                  <a:srgbClr val="6B4724"/>
                </a:solidFill>
              </a:rPr>
              <a:t> 타 분야들과 합의 된 프로젝트 내부의 기준점을 정했을 경우</a:t>
            </a:r>
            <a:endParaRPr lang="ko-KR" altLang="en-US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5D51452-656B-9B96-1B5B-14AD72FA1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58E5E37-50C5-2B24-E29A-4987243EF6A6}"/>
              </a:ext>
            </a:extLst>
          </p:cNvPr>
          <p:cNvSpPr/>
          <p:nvPr/>
        </p:nvSpPr>
        <p:spPr>
          <a:xfrm>
            <a:off x="457200" y="5670295"/>
            <a:ext cx="11099800" cy="783845"/>
          </a:xfrm>
          <a:prstGeom prst="rect">
            <a:avLst/>
          </a:prstGeom>
          <a:solidFill>
            <a:srgbClr val="FFFFFF"/>
          </a:solidFill>
          <a:ln w="15875">
            <a:solidFill>
              <a:srgbClr val="EFA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400"/>
              </a:spcAft>
            </a:pPr>
            <a:r>
              <a:rPr lang="en-US" altLang="ko-KR" sz="1200" b="1" dirty="0">
                <a:solidFill>
                  <a:srgbClr val="FF0000"/>
                </a:solidFill>
                <a:latin typeface="Malgun Gothic" panose="020B0503020000020004" pitchFamily="50" charset="-127"/>
              </a:rPr>
              <a:t>-</a:t>
            </a:r>
            <a:r>
              <a:rPr lang="ko-KR" altLang="en-US" sz="1200" b="1" dirty="0">
                <a:solidFill>
                  <a:srgbClr val="FF0000"/>
                </a:solidFill>
                <a:latin typeface="Malgun Gothic" panose="020B0503020000020004" pitchFamily="50" charset="-127"/>
              </a:rPr>
              <a:t>링크로 불러와야 </a:t>
            </a:r>
            <a:r>
              <a:rPr lang="en-US" altLang="ko-KR" sz="1200" b="1" dirty="0">
                <a:solidFill>
                  <a:srgbClr val="FF0000"/>
                </a:solidFill>
                <a:latin typeface="Malgun Gothic" panose="020B0503020000020004" pitchFamily="50" charset="-127"/>
              </a:rPr>
              <a:t>MANAGE</a:t>
            </a:r>
            <a:r>
              <a:rPr lang="ko-KR" altLang="en-US" sz="1200" b="1" dirty="0">
                <a:solidFill>
                  <a:srgbClr val="FF0000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rgbClr val="FF0000"/>
                </a:solidFill>
                <a:latin typeface="Malgun Gothic" panose="020B0503020000020004" pitchFamily="50" charset="-127"/>
              </a:rPr>
              <a:t>LINK</a:t>
            </a:r>
            <a:r>
              <a:rPr lang="ko-KR" altLang="en-US" sz="1200" b="1" dirty="0">
                <a:solidFill>
                  <a:srgbClr val="FF0000"/>
                </a:solidFill>
                <a:latin typeface="Malgun Gothic" panose="020B0503020000020004" pitchFamily="50" charset="-127"/>
              </a:rPr>
              <a:t>에서 </a:t>
            </a:r>
            <a:endParaRPr lang="en-US" altLang="ko-KR" sz="1200" b="1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>
              <a:spcAft>
                <a:spcPts val="400"/>
              </a:spcAft>
            </a:pPr>
            <a:r>
              <a:rPr lang="en-US" altLang="ko-KR" sz="1200" b="1" dirty="0">
                <a:solidFill>
                  <a:srgbClr val="FF0000"/>
                </a:solidFill>
                <a:latin typeface="Malgun Gothic" panose="020B0503020000020004" pitchFamily="50" charset="-127"/>
              </a:rPr>
              <a:t> IMPORT</a:t>
            </a:r>
            <a:r>
              <a:rPr lang="ko-KR" altLang="en-US" sz="1200" b="1" dirty="0">
                <a:solidFill>
                  <a:srgbClr val="FF0000"/>
                </a:solidFill>
                <a:latin typeface="Malgun Gothic" panose="020B0503020000020004" pitchFamily="50" charset="-127"/>
              </a:rPr>
              <a:t>된 전체 파일 파악할 수 있음</a:t>
            </a:r>
            <a:r>
              <a:rPr lang="en-US" altLang="ko-KR" sz="1200" b="1" dirty="0">
                <a:solidFill>
                  <a:srgbClr val="FF0000"/>
                </a:solidFill>
                <a:latin typeface="Malgun Gothic" panose="020B0503020000020004" pitchFamily="50" charset="-127"/>
              </a:rPr>
              <a:t>(CAD</a:t>
            </a:r>
            <a:r>
              <a:rPr lang="ko-KR" altLang="en-US" sz="1200" b="1" dirty="0">
                <a:solidFill>
                  <a:srgbClr val="FF0000"/>
                </a:solidFill>
                <a:latin typeface="Malgun Gothic" panose="020B0503020000020004" pitchFamily="50" charset="-127"/>
              </a:rPr>
              <a:t> 파일 </a:t>
            </a:r>
            <a:r>
              <a:rPr lang="en-US" altLang="ko-KR" sz="1200" b="1" dirty="0">
                <a:solidFill>
                  <a:srgbClr val="FF0000"/>
                </a:solidFill>
                <a:latin typeface="Malgun Gothic" panose="020B0503020000020004" pitchFamily="50" charset="-127"/>
              </a:rPr>
              <a:t>INSERT</a:t>
            </a:r>
            <a:r>
              <a:rPr lang="ko-KR" altLang="en-US" sz="1200" b="1" dirty="0">
                <a:solidFill>
                  <a:srgbClr val="FF0000"/>
                </a:solidFill>
                <a:latin typeface="Malgun Gothic" panose="020B0503020000020004" pitchFamily="50" charset="-127"/>
              </a:rPr>
              <a:t>금지</a:t>
            </a:r>
            <a:r>
              <a:rPr lang="en-US" altLang="ko-KR" sz="1200" b="1" dirty="0">
                <a:solidFill>
                  <a:srgbClr val="FF0000"/>
                </a:solidFill>
                <a:latin typeface="Malgun Gothic" panose="020B050302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635417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84A8F62-5C82-A347-C2A6-EB0974A4BCA1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0803929-9EC0-310E-2E32-2C1A6649CCDE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AB56313-A452-2C1A-B194-EC3833D8E083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22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6</a:t>
            </a:r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68C9AD-AA6A-B8FD-E864-79B8C2F30977}"/>
              </a:ext>
            </a:extLst>
          </p:cNvPr>
          <p:cNvSpPr txBox="1"/>
          <p:nvPr/>
        </p:nvSpPr>
        <p:spPr>
          <a:xfrm>
            <a:off x="641350" y="2523123"/>
            <a:ext cx="2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95000"/>
                  </a:schemeClr>
                </a:solidFill>
              </a:rPr>
              <a:t>트레이 작성</a:t>
            </a:r>
            <a:endParaRPr lang="ko-KR" altLang="en-US" sz="16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0B9C945-FF76-C67D-A87C-3AF8B819D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1476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58F7B6F-0596-5FB0-AA1A-9EA208F4639F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7646769-A4A8-3866-903A-52603B34E2C0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CA0CF5-4C28-6E25-9152-869CDA81B0C6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트레이 작성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EAF805-9D55-47AE-4D38-7E79556872B7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>
                <a:solidFill>
                  <a:srgbClr val="FFD774"/>
                </a:solidFill>
                <a:latin typeface="Malgun Gothic" panose="020B0503020000020004" pitchFamily="50" charset="-127"/>
              </a:rPr>
              <a:t>타입 설정 후 경로를 따라 작성하고 연결 상태를 점검합니다</a:t>
            </a:r>
            <a:r>
              <a:rPr lang="en-US" altLang="ko-KR" sz="1100">
                <a:solidFill>
                  <a:srgbClr val="FFD774"/>
                </a:solidFill>
                <a:latin typeface="Malgun Gothic" panose="020B0503020000020004" pitchFamily="50" charset="-127"/>
              </a:rPr>
              <a:t>.</a:t>
            </a:r>
            <a:endParaRPr lang="ko-KR" altLang="en-US" sz="1100">
              <a:solidFill>
                <a:srgbClr val="FFD77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6452D71-836A-9A0E-8C9F-1F68C8052C27}"/>
              </a:ext>
            </a:extLst>
          </p:cNvPr>
          <p:cNvSpPr/>
          <p:nvPr/>
        </p:nvSpPr>
        <p:spPr>
          <a:xfrm>
            <a:off x="457200" y="1473200"/>
            <a:ext cx="5334000" cy="3987800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73AD59-05C8-EC53-B371-4BE56B5348BE}"/>
              </a:ext>
            </a:extLst>
          </p:cNvPr>
          <p:cNvSpPr txBox="1"/>
          <p:nvPr/>
        </p:nvSpPr>
        <p:spPr>
          <a:xfrm>
            <a:off x="685800" y="1676400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ko-KR" altLang="en-US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작성 순서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6E0E2D2-1C10-362C-94DD-D31D4823E12E}"/>
              </a:ext>
            </a:extLst>
          </p:cNvPr>
          <p:cNvSpPr/>
          <p:nvPr/>
        </p:nvSpPr>
        <p:spPr>
          <a:xfrm>
            <a:off x="685800" y="2133600"/>
            <a:ext cx="48768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64928A-DDC0-ABEE-92F0-862718CBA719}"/>
              </a:ext>
            </a:extLst>
          </p:cNvPr>
          <p:cNvSpPr txBox="1"/>
          <p:nvPr/>
        </p:nvSpPr>
        <p:spPr>
          <a:xfrm>
            <a:off x="685800" y="2285999"/>
            <a:ext cx="5013036" cy="2322945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시스템 탭에서 트레이 선택</a:t>
            </a: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endParaRPr lang="ko-KR" altLang="en-US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폭과 높이 규격 지정</a:t>
            </a: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없을 경우 추가</a:t>
            </a: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건축전기 케이블 작성 시 드래그 금지</a:t>
            </a: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,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 경사 생길 수 있음</a:t>
            </a: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연결 부속 정상 여부 확인</a:t>
            </a: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(Analyze)</a:t>
            </a:r>
            <a:endParaRPr lang="ko-KR" altLang="en-US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endParaRPr lang="ko-KR" altLang="en-US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9BA201-39A7-181D-E2C5-AB0028D34617}"/>
              </a:ext>
            </a:extLst>
          </p:cNvPr>
          <p:cNvSpPr txBox="1"/>
          <p:nvPr/>
        </p:nvSpPr>
        <p:spPr>
          <a:xfrm>
            <a:off x="5927436" y="2184401"/>
            <a:ext cx="5987474" cy="3492004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>
              <a:spcAft>
                <a:spcPts val="400"/>
              </a:spcAft>
            </a:pPr>
            <a:r>
              <a:rPr lang="ko-KR" altLang="en-US" sz="1400" b="1" dirty="0">
                <a:solidFill>
                  <a:srgbClr val="6B4724"/>
                </a:solidFill>
                <a:highlight>
                  <a:srgbClr val="FFFF00"/>
                </a:highlight>
                <a:latin typeface="Malgun Gothic" panose="020B0503020000020004" pitchFamily="50" charset="-127"/>
              </a:rPr>
              <a:t>케이블 트레이 명칭 기준</a:t>
            </a:r>
            <a:endParaRPr lang="en-US" altLang="ko-KR" sz="1400" b="1" dirty="0">
              <a:solidFill>
                <a:srgbClr val="6B4724"/>
              </a:solidFill>
              <a:highlight>
                <a:srgbClr val="FFFF00"/>
              </a:highlight>
              <a:latin typeface="Malgun Gothic" panose="020B0503020000020004" pitchFamily="50" charset="-127"/>
            </a:endParaRPr>
          </a:p>
          <a:p>
            <a:pPr>
              <a:spcAft>
                <a:spcPts val="400"/>
              </a:spcAft>
            </a:pP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케이블 트레이</a:t>
            </a: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>
              <a:spcAft>
                <a:spcPts val="400"/>
              </a:spcAft>
            </a:pP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      - </a:t>
            </a:r>
            <a:r>
              <a:rPr lang="en-US" altLang="ko-KR" sz="1400" dirty="0">
                <a:solidFill>
                  <a:srgbClr val="6B4724"/>
                </a:solidFill>
                <a:latin typeface="Malgun Gothic" panose="020B0503020000020004" pitchFamily="50" charset="-127"/>
              </a:rPr>
              <a:t>CABLE TRAY_LADDER_W/O COVER, AL </a:t>
            </a:r>
          </a:p>
          <a:p>
            <a:pPr>
              <a:spcAft>
                <a:spcPts val="400"/>
              </a:spcAft>
            </a:pP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1400" b="1" dirty="0" err="1">
                <a:solidFill>
                  <a:srgbClr val="6B4724"/>
                </a:solidFill>
                <a:latin typeface="Malgun Gothic" panose="020B0503020000020004" pitchFamily="50" charset="-127"/>
              </a:rPr>
              <a:t>피팅류</a:t>
            </a: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: 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742950" lvl="1" indent="-285750">
              <a:spcAft>
                <a:spcPts val="400"/>
              </a:spcAft>
              <a:buFontTx/>
              <a:buChar char="-"/>
            </a:pPr>
            <a:r>
              <a:rPr lang="en-US" altLang="ko-KR" sz="1400" dirty="0">
                <a:solidFill>
                  <a:srgbClr val="6B4724"/>
                </a:solidFill>
                <a:latin typeface="Malgun Gothic" panose="020B0503020000020004" pitchFamily="50" charset="-127"/>
              </a:rPr>
              <a:t>Family: BEND_CABLE TRAY_SOLID_W/ COVER_H_GALV</a:t>
            </a:r>
          </a:p>
          <a:p>
            <a:pPr marL="742950" lvl="1" indent="-285750">
              <a:spcAft>
                <a:spcPts val="400"/>
              </a:spcAft>
              <a:buFontTx/>
              <a:buChar char="-"/>
            </a:pPr>
            <a:r>
              <a:rPr lang="en-US" altLang="ko-KR" sz="1400" dirty="0">
                <a:solidFill>
                  <a:srgbClr val="6B4724"/>
                </a:solidFill>
                <a:latin typeface="Malgun Gothic" panose="020B0503020000020004" pitchFamily="50" charset="-127"/>
              </a:rPr>
              <a:t>Type: BEND_CABLE TRAY_SOLID_W/ COVER_H_GALV (R300)</a:t>
            </a:r>
          </a:p>
          <a:p>
            <a:pPr marL="742950" lvl="1" indent="-285750">
              <a:spcAft>
                <a:spcPts val="400"/>
              </a:spcAft>
              <a:buFontTx/>
              <a:buChar char="-"/>
            </a:pPr>
            <a:endParaRPr lang="en-US" altLang="ko-KR" sz="1400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742950" lvl="1" indent="-285750">
              <a:spcAft>
                <a:spcPts val="400"/>
              </a:spcAft>
              <a:buFontTx/>
              <a:buChar char="-"/>
            </a:pPr>
            <a:r>
              <a:rPr lang="en-US" altLang="ko-KR" sz="1400" dirty="0">
                <a:solidFill>
                  <a:srgbClr val="6B4724"/>
                </a:solidFill>
                <a:latin typeface="Malgun Gothic" panose="020B0503020000020004" pitchFamily="50" charset="-127"/>
              </a:rPr>
              <a:t>Family: CROSS_CABLE TRAY_LADDER_W/ COVER_H_GALV</a:t>
            </a:r>
          </a:p>
          <a:p>
            <a:pPr marL="742950" lvl="1" indent="-285750">
              <a:spcAft>
                <a:spcPts val="400"/>
              </a:spcAft>
              <a:buFontTx/>
              <a:buChar char="-"/>
            </a:pPr>
            <a:r>
              <a:rPr lang="en-US" altLang="ko-KR" sz="1400" dirty="0">
                <a:solidFill>
                  <a:srgbClr val="6B4724"/>
                </a:solidFill>
                <a:latin typeface="Malgun Gothic" panose="020B0503020000020004" pitchFamily="50" charset="-127"/>
              </a:rPr>
              <a:t>Type: CROSS_CABLE TRAY_LADDER_W/ COVER_H_GALV (R300)</a:t>
            </a:r>
          </a:p>
          <a:p>
            <a:pPr marL="742950" lvl="1" indent="-285750">
              <a:spcAft>
                <a:spcPts val="400"/>
              </a:spcAft>
              <a:buFontTx/>
              <a:buChar char="-"/>
            </a:pPr>
            <a:endParaRPr lang="en-US" altLang="ko-KR" sz="1400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lvl="1">
              <a:spcAft>
                <a:spcPts val="400"/>
              </a:spcAft>
            </a:pPr>
            <a:endParaRPr lang="en-US" altLang="ko-KR" sz="1400" dirty="0">
              <a:solidFill>
                <a:srgbClr val="6B47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8F7FF61B-F09C-1EE0-6119-72FBF5E66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7204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E87B26A-64E2-F777-3FD6-24094AB4FB0A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1D39E1B-0DC5-EC67-A1D1-351F0DE6FDBE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2DC32F-223C-AEE0-B1D6-1C32EFD9751D}"/>
              </a:ext>
            </a:extLst>
          </p:cNvPr>
          <p:cNvSpPr txBox="1"/>
          <p:nvPr/>
        </p:nvSpPr>
        <p:spPr>
          <a:xfrm>
            <a:off x="3708400" y="2498095"/>
            <a:ext cx="6604000" cy="1009794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</a:rPr>
              <a:t>1. Filter </a:t>
            </a:r>
            <a:r>
              <a:rPr lang="ko-KR" altLang="en-US" sz="2000" b="1" dirty="0">
                <a:solidFill>
                  <a:srgbClr val="CC4700"/>
                </a:solidFill>
              </a:rPr>
              <a:t>생성</a:t>
            </a:r>
            <a:endParaRPr lang="en-US" altLang="ko-KR" sz="2000" b="1" dirty="0">
              <a:solidFill>
                <a:srgbClr val="CC4700"/>
              </a:solidFill>
            </a:endParaRPr>
          </a:p>
          <a:p>
            <a:endParaRPr lang="en-US" altLang="ko-KR" sz="2000" b="1" dirty="0">
              <a:solidFill>
                <a:srgbClr val="CC4700"/>
              </a:solidFill>
            </a:endParaRPr>
          </a:p>
          <a:p>
            <a:r>
              <a:rPr lang="en-US" altLang="ko-KR" sz="2000" b="1" dirty="0">
                <a:solidFill>
                  <a:srgbClr val="CC4700"/>
                </a:solidFill>
              </a:rPr>
              <a:t>2. View Template </a:t>
            </a:r>
            <a:r>
              <a:rPr lang="ko-KR" altLang="en-US" sz="2000" b="1" dirty="0">
                <a:solidFill>
                  <a:srgbClr val="CC4700"/>
                </a:solidFill>
              </a:rPr>
              <a:t>생성</a:t>
            </a:r>
            <a:endParaRPr lang="en-US" altLang="ko-KR" sz="2000" b="1" dirty="0">
              <a:solidFill>
                <a:srgbClr val="CC4700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CE911968-F831-6783-817E-C120599E10F1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22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7</a:t>
            </a:r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5CD9EA-9146-6090-AF90-702D72D03874}"/>
              </a:ext>
            </a:extLst>
          </p:cNvPr>
          <p:cNvSpPr txBox="1"/>
          <p:nvPr/>
        </p:nvSpPr>
        <p:spPr>
          <a:xfrm>
            <a:off x="641350" y="2523123"/>
            <a:ext cx="2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95000"/>
                  </a:schemeClr>
                </a:solidFill>
              </a:rPr>
              <a:t>가시성 설정</a:t>
            </a:r>
            <a:endParaRPr lang="ko-KR" altLang="en-US" sz="16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8C500BE-4248-D51E-966D-30B8FEDB1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3985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4EF330F-034A-6333-11D5-0557F650C9F5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3FBEA23-6783-A645-54FD-C158FD931E45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C3A1BF-ED25-275C-495D-9ABC7A1AFE03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가시성 설정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B649D9-D142-B875-89F2-0DE8348FF3C1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표현 제어와 검토 효율을 높이는 기본 설정입니다</a:t>
            </a:r>
            <a:r>
              <a:rPr lang="en-US" altLang="ko-KR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.</a:t>
            </a:r>
            <a:endParaRPr lang="ko-KR" altLang="en-US" sz="1100" dirty="0">
              <a:solidFill>
                <a:srgbClr val="FFD77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06C524D-072C-6642-9C3E-A18E15BD6E66}"/>
              </a:ext>
            </a:extLst>
          </p:cNvPr>
          <p:cNvSpPr/>
          <p:nvPr/>
        </p:nvSpPr>
        <p:spPr>
          <a:xfrm>
            <a:off x="457200" y="1473200"/>
            <a:ext cx="5334000" cy="3987800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78AD3F-A6A7-51E0-8208-859D6E5BAC10}"/>
              </a:ext>
            </a:extLst>
          </p:cNvPr>
          <p:cNvSpPr txBox="1"/>
          <p:nvPr/>
        </p:nvSpPr>
        <p:spPr>
          <a:xfrm>
            <a:off x="685800" y="1676400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주요 기능</a:t>
            </a:r>
            <a:r>
              <a:rPr lang="en-US" altLang="ko-KR" sz="16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(</a:t>
            </a:r>
            <a:r>
              <a:rPr lang="en-US" altLang="ko-KR" sz="1600" b="1" dirty="0" err="1">
                <a:solidFill>
                  <a:srgbClr val="CC4700"/>
                </a:solidFill>
                <a:latin typeface="Malgun Gothic" panose="020B0503020000020004" pitchFamily="50" charset="-127"/>
              </a:rPr>
              <a:t>vv</a:t>
            </a:r>
            <a:r>
              <a:rPr lang="en-US" altLang="ko-KR" sz="16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)</a:t>
            </a:r>
            <a:endParaRPr lang="ko-KR" altLang="en-US" sz="1600" b="1" dirty="0">
              <a:solidFill>
                <a:srgbClr val="CC47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67C4F31-2584-5011-5BE2-F7E3BD1E0C0A}"/>
              </a:ext>
            </a:extLst>
          </p:cNvPr>
          <p:cNvSpPr/>
          <p:nvPr/>
        </p:nvSpPr>
        <p:spPr>
          <a:xfrm>
            <a:off x="685800" y="2133600"/>
            <a:ext cx="48768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8B26B0-FF87-8428-5D64-F6BFE55FB141}"/>
              </a:ext>
            </a:extLst>
          </p:cNvPr>
          <p:cNvSpPr txBox="1"/>
          <p:nvPr/>
        </p:nvSpPr>
        <p:spPr>
          <a:xfrm>
            <a:off x="685800" y="2286000"/>
            <a:ext cx="4876800" cy="1537855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Filter: 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원하는 객체 쉽게 구별 가능함</a:t>
            </a: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ko-KR" altLang="en-US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View Template: 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뷰 템플릿 적용으로 뷰 설정 간편화</a:t>
            </a: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View Range</a:t>
            </a:r>
          </a:p>
          <a:p>
            <a:pPr>
              <a:spcAft>
                <a:spcPts val="400"/>
              </a:spcAft>
            </a:pPr>
            <a:endParaRPr lang="ko-KR" altLang="en-US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E23677FD-0048-2290-0643-E881124B2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49427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AF424A-0539-A1D9-EBFB-18AF372CB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4D22353-258E-1F2C-E12A-4B68B13C6EB8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74CE76C-59FA-4726-58B9-AD8289E02950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8DCFFD-2E30-4B57-668D-C8F948DF6206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가시성 </a:t>
            </a:r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설정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38BC2A4-6B52-580C-F5F7-4891BBF8ACE6}"/>
              </a:ext>
            </a:extLst>
          </p:cNvPr>
          <p:cNvSpPr/>
          <p:nvPr/>
        </p:nvSpPr>
        <p:spPr>
          <a:xfrm>
            <a:off x="558800" y="1342255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0BAABA-F46B-F086-AEF1-901C7D52248F}"/>
              </a:ext>
            </a:extLst>
          </p:cNvPr>
          <p:cNvSpPr txBox="1"/>
          <p:nvPr/>
        </p:nvSpPr>
        <p:spPr>
          <a:xfrm>
            <a:off x="950767" y="1298291"/>
            <a:ext cx="64567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ko-KR" b="1" dirty="0">
                <a:latin typeface="Malgun Gothic" panose="020B0503020000020004" pitchFamily="50" charset="-127"/>
              </a:rPr>
              <a:t>Filter(VV)</a:t>
            </a:r>
          </a:p>
        </p:txBody>
      </p:sp>
      <p:sp>
        <p:nvSpPr>
          <p:cNvPr id="17" name="슬라이드 번호 개체 틀 16">
            <a:extLst>
              <a:ext uri="{FF2B5EF4-FFF2-40B4-BE49-F238E27FC236}">
                <a16:creationId xmlns:a16="http://schemas.microsoft.com/office/drawing/2014/main" id="{9B5C91CD-38A3-EA3A-FAFF-BC435207E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34</a:t>
            </a:fld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A45AB531-6A6E-35FB-1E4A-BA489B2BE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767" y="1783080"/>
            <a:ext cx="6265032" cy="4533557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3CD8A8B9-38EF-5D6A-187B-18FA61DEB410}"/>
              </a:ext>
            </a:extLst>
          </p:cNvPr>
          <p:cNvSpPr/>
          <p:nvPr/>
        </p:nvSpPr>
        <p:spPr>
          <a:xfrm>
            <a:off x="4444871" y="1992949"/>
            <a:ext cx="346585" cy="2199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제목 1">
            <a:extLst>
              <a:ext uri="{FF2B5EF4-FFF2-40B4-BE49-F238E27FC236}">
                <a16:creationId xmlns:a16="http://schemas.microsoft.com/office/drawing/2014/main" id="{BE3903D9-BC95-EE27-5A17-3865D4F2F0EE}"/>
              </a:ext>
            </a:extLst>
          </p:cNvPr>
          <p:cNvSpPr txBox="1">
            <a:spLocks/>
          </p:cNvSpPr>
          <p:nvPr/>
        </p:nvSpPr>
        <p:spPr>
          <a:xfrm>
            <a:off x="4249653" y="1667623"/>
            <a:ext cx="441815" cy="32532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35992" tIns="46790" rIns="35992" bIns="4679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6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5pPr>
            <a:lvl6pPr marL="457098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6pPr>
            <a:lvl7pPr marL="914195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7pPr>
            <a:lvl8pPr marL="1371293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8pPr>
            <a:lvl9pPr marL="182839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9pPr>
          </a:lstStyle>
          <a:p>
            <a:pPr defTabSz="914400" latinLnBrk="0"/>
            <a:r>
              <a:rPr lang="ko-KR" altLang="en-US" sz="1500" dirty="0">
                <a:solidFill>
                  <a:srgbClr val="FF0000"/>
                </a:solidFill>
              </a:rPr>
              <a:t>①</a:t>
            </a:r>
            <a:endParaRPr lang="en-US" altLang="ko-KR" sz="1500" dirty="0">
              <a:solidFill>
                <a:srgbClr val="FF0000"/>
              </a:solidFill>
            </a:endParaRPr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389B8313-3AF2-B197-62DE-9BBA655DEBFF}"/>
              </a:ext>
            </a:extLst>
          </p:cNvPr>
          <p:cNvSpPr txBox="1">
            <a:spLocks/>
          </p:cNvSpPr>
          <p:nvPr/>
        </p:nvSpPr>
        <p:spPr>
          <a:xfrm>
            <a:off x="3183615" y="4990481"/>
            <a:ext cx="131155" cy="32532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35992" tIns="46790" rIns="35992" bIns="4679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6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5pPr>
            <a:lvl6pPr marL="457098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6pPr>
            <a:lvl7pPr marL="914195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7pPr>
            <a:lvl8pPr marL="1371293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8pPr>
            <a:lvl9pPr marL="182839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9pPr>
          </a:lstStyle>
          <a:p>
            <a:pPr defTabSz="914400" latinLnBrk="0"/>
            <a:r>
              <a:rPr lang="ko-KR" altLang="en-US" sz="1500" dirty="0">
                <a:solidFill>
                  <a:srgbClr val="FF0000"/>
                </a:solidFill>
              </a:rPr>
              <a:t>②</a:t>
            </a:r>
            <a:endParaRPr lang="en-US" altLang="ko-KR" sz="1500" dirty="0">
              <a:solidFill>
                <a:srgbClr val="FF0000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C8FA5CA-0245-E1EA-8B29-9DE4EA300AAC}"/>
              </a:ext>
            </a:extLst>
          </p:cNvPr>
          <p:cNvSpPr/>
          <p:nvPr/>
        </p:nvSpPr>
        <p:spPr>
          <a:xfrm>
            <a:off x="3078336" y="5301010"/>
            <a:ext cx="826152" cy="25869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제목 1">
            <a:extLst>
              <a:ext uri="{FF2B5EF4-FFF2-40B4-BE49-F238E27FC236}">
                <a16:creationId xmlns:a16="http://schemas.microsoft.com/office/drawing/2014/main" id="{8016AADB-3F1B-1A77-5445-A755845E70BB}"/>
              </a:ext>
            </a:extLst>
          </p:cNvPr>
          <p:cNvSpPr txBox="1">
            <a:spLocks/>
          </p:cNvSpPr>
          <p:nvPr/>
        </p:nvSpPr>
        <p:spPr>
          <a:xfrm>
            <a:off x="1196319" y="4550602"/>
            <a:ext cx="339873" cy="32532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35992" tIns="46790" rIns="35992" bIns="4679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6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5pPr>
            <a:lvl6pPr marL="457098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6pPr>
            <a:lvl7pPr marL="914195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7pPr>
            <a:lvl8pPr marL="1371293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8pPr>
            <a:lvl9pPr marL="182839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9pPr>
          </a:lstStyle>
          <a:p>
            <a:pPr defTabSz="914400" latinLnBrk="0"/>
            <a:r>
              <a:rPr lang="ko-KR" altLang="en-US" sz="1500" dirty="0">
                <a:solidFill>
                  <a:srgbClr val="FF0000"/>
                </a:solidFill>
              </a:rPr>
              <a:t>③</a:t>
            </a:r>
            <a:endParaRPr lang="en-US" altLang="ko-KR" sz="1500" dirty="0">
              <a:solidFill>
                <a:srgbClr val="FF0000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3F0A559-AC07-586A-EC6D-2FAABC74EBE0}"/>
              </a:ext>
            </a:extLst>
          </p:cNvPr>
          <p:cNvSpPr/>
          <p:nvPr/>
        </p:nvSpPr>
        <p:spPr>
          <a:xfrm>
            <a:off x="1091040" y="4861131"/>
            <a:ext cx="783480" cy="25036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72071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081E2F-21C4-3828-0C19-A9D8CF172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57DBD22-153E-DFE9-5DE2-B006E67B21E3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DEB956A-0E98-BC1D-74B4-402A2F998122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E0F0F6-13DF-47FF-1E39-26806E767C27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가시성 </a:t>
            </a:r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설정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A26A4B90-3F24-055E-494C-ACC6AC170EBC}"/>
              </a:ext>
            </a:extLst>
          </p:cNvPr>
          <p:cNvSpPr/>
          <p:nvPr/>
        </p:nvSpPr>
        <p:spPr>
          <a:xfrm>
            <a:off x="558800" y="1342255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4A6ECA-390F-4FD3-B1AD-2719B95267AB}"/>
              </a:ext>
            </a:extLst>
          </p:cNvPr>
          <p:cNvSpPr txBox="1"/>
          <p:nvPr/>
        </p:nvSpPr>
        <p:spPr>
          <a:xfrm>
            <a:off x="950767" y="1298291"/>
            <a:ext cx="64567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ko-KR" b="1" dirty="0">
                <a:latin typeface="Malgun Gothic" panose="020B0503020000020004" pitchFamily="50" charset="-127"/>
              </a:rPr>
              <a:t>View Template(</a:t>
            </a:r>
            <a:r>
              <a:rPr lang="ko-KR" altLang="en-US" b="1" dirty="0" err="1">
                <a:latin typeface="Malgun Gothic" panose="020B0503020000020004" pitchFamily="50" charset="-127"/>
              </a:rPr>
              <a:t>설정값</a:t>
            </a:r>
            <a:r>
              <a:rPr lang="ko-KR" altLang="en-US" b="1" dirty="0">
                <a:latin typeface="Malgun Gothic" panose="020B0503020000020004" pitchFamily="50" charset="-127"/>
              </a:rPr>
              <a:t> 아래 이미지와 동일하게</a:t>
            </a:r>
            <a:r>
              <a:rPr lang="en-US" altLang="ko-KR" b="1" dirty="0">
                <a:latin typeface="Malgun Gothic" panose="020B0503020000020004" pitchFamily="50" charset="-127"/>
              </a:rPr>
              <a:t>)</a:t>
            </a:r>
          </a:p>
        </p:txBody>
      </p:sp>
      <p:sp>
        <p:nvSpPr>
          <p:cNvPr id="17" name="슬라이드 번호 개체 틀 16">
            <a:extLst>
              <a:ext uri="{FF2B5EF4-FFF2-40B4-BE49-F238E27FC236}">
                <a16:creationId xmlns:a16="http://schemas.microsoft.com/office/drawing/2014/main" id="{4C7F835F-E2AF-5A71-3AEF-F22490007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35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10D397F-0AAC-E20B-67CF-4DE025E0F3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45"/>
          <a:stretch>
            <a:fillRect/>
          </a:stretch>
        </p:blipFill>
        <p:spPr>
          <a:xfrm>
            <a:off x="950766" y="1749677"/>
            <a:ext cx="5817487" cy="463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6682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500FEA-9259-83A4-A3D6-44C98238B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0212F21-E581-BAB3-4CBC-E097640D73E0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B4C9D71-365D-E315-03C2-2817D6AE793A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04C6D1-6A2A-91ED-E592-5A37594A6CCB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가시성 </a:t>
            </a:r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설정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C7B969BB-9581-73AE-F9D5-C4AC57926D92}"/>
              </a:ext>
            </a:extLst>
          </p:cNvPr>
          <p:cNvSpPr/>
          <p:nvPr/>
        </p:nvSpPr>
        <p:spPr>
          <a:xfrm>
            <a:off x="558800" y="1342255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3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B11D3C-6109-C0A0-E9B6-694EFCEDAF6B}"/>
              </a:ext>
            </a:extLst>
          </p:cNvPr>
          <p:cNvSpPr txBox="1"/>
          <p:nvPr/>
        </p:nvSpPr>
        <p:spPr>
          <a:xfrm>
            <a:off x="950767" y="1298291"/>
            <a:ext cx="64567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ko-KR" b="1" dirty="0">
                <a:latin typeface="Malgun Gothic" panose="020B0503020000020004" pitchFamily="50" charset="-127"/>
              </a:rPr>
              <a:t>View Range(VR)</a:t>
            </a:r>
          </a:p>
        </p:txBody>
      </p:sp>
      <p:sp>
        <p:nvSpPr>
          <p:cNvPr id="17" name="슬라이드 번호 개체 틀 16">
            <a:extLst>
              <a:ext uri="{FF2B5EF4-FFF2-40B4-BE49-F238E27FC236}">
                <a16:creationId xmlns:a16="http://schemas.microsoft.com/office/drawing/2014/main" id="{BEEACE4F-33EA-FAC4-DE4A-A3AEB0A4D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36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9395475-ED49-0997-077D-FCD8D5D29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767" y="1919814"/>
            <a:ext cx="5003950" cy="43621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DFD4EA2-633E-9E2C-D7A4-FE95E73D421D}"/>
              </a:ext>
            </a:extLst>
          </p:cNvPr>
          <p:cNvSpPr txBox="1"/>
          <p:nvPr/>
        </p:nvSpPr>
        <p:spPr>
          <a:xfrm>
            <a:off x="6237285" y="1919814"/>
            <a:ext cx="53690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*</a:t>
            </a:r>
            <a:r>
              <a:rPr lang="ko-KR" altLang="en-US" dirty="0"/>
              <a:t>전기 객체 카테고리는 절단 기준면에 해당 없음</a:t>
            </a:r>
          </a:p>
        </p:txBody>
      </p:sp>
    </p:spTree>
    <p:extLst>
      <p:ext uri="{BB962C8B-B14F-4D97-AF65-F5344CB8AC3E}">
        <p14:creationId xmlns:p14="http://schemas.microsoft.com/office/powerpoint/2010/main" val="38872756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233A22-DD23-AB77-63A8-65F6932CA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A1D6A26-9B5F-1F75-E242-CAF9919B07C0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85EFF15-E010-F493-B23E-F397932C7A08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B76CD2-25B3-D0C9-3E84-388192E33592}"/>
              </a:ext>
            </a:extLst>
          </p:cNvPr>
          <p:cNvSpPr txBox="1"/>
          <p:nvPr/>
        </p:nvSpPr>
        <p:spPr>
          <a:xfrm>
            <a:off x="3708400" y="2523123"/>
            <a:ext cx="3082925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ko-KR" altLang="en-US" sz="2000" b="1">
                <a:solidFill>
                  <a:srgbClr val="CC4700"/>
                </a:solidFill>
              </a:rPr>
              <a:t>속성정보 입력하기</a:t>
            </a:r>
            <a:endParaRPr lang="en-US" altLang="ko-KR" sz="2000" b="1" dirty="0">
              <a:solidFill>
                <a:srgbClr val="CC47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C1D1C6-BC6E-2F9C-E5B9-D39F34C6A6D9}"/>
              </a:ext>
            </a:extLst>
          </p:cNvPr>
          <p:cNvSpPr txBox="1"/>
          <p:nvPr/>
        </p:nvSpPr>
        <p:spPr>
          <a:xfrm>
            <a:off x="641350" y="2523123"/>
            <a:ext cx="2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95000"/>
                  </a:schemeClr>
                </a:solidFill>
                <a:latin typeface="Malgun Gothic" panose="020B0503020000020004" pitchFamily="50" charset="-127"/>
              </a:rPr>
              <a:t>속성정보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6568F4D-B4B1-D3CB-8E13-3A33705618D5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22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8</a:t>
            </a:r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F062488-8886-C359-278E-411FD38AE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2041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F89A4C-6877-2AD8-D2C5-D93C53832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2334DF3-13C7-34C0-0980-7C6CCC8BC326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1F80BC7-AA29-5171-359B-2434F40FCBD5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C9CAF0-7378-62FE-5F56-145FC48FE553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Malgun Gothic" panose="020B0503020000020004" pitchFamily="50" charset="-127"/>
              </a:rPr>
              <a:t>속성정보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A1FDB9-F77A-1231-A6C1-BFC73EAF45AE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객체의 데이터 관리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52525A9-5BC6-2A3D-7B81-CCF5FA5982D0}"/>
              </a:ext>
            </a:extLst>
          </p:cNvPr>
          <p:cNvSpPr/>
          <p:nvPr/>
        </p:nvSpPr>
        <p:spPr>
          <a:xfrm>
            <a:off x="457200" y="1473199"/>
            <a:ext cx="11049000" cy="4422776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21B776-D281-1BEE-1A24-B8040CEDBA00}"/>
              </a:ext>
            </a:extLst>
          </p:cNvPr>
          <p:cNvSpPr txBox="1"/>
          <p:nvPr/>
        </p:nvSpPr>
        <p:spPr>
          <a:xfrm>
            <a:off x="685800" y="1676400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Parameter </a:t>
            </a:r>
            <a:r>
              <a:rPr lang="ko-KR" altLang="en-US" sz="16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종류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33627A7-FA16-5813-D676-531137145EC3}"/>
              </a:ext>
            </a:extLst>
          </p:cNvPr>
          <p:cNvSpPr/>
          <p:nvPr/>
        </p:nvSpPr>
        <p:spPr>
          <a:xfrm flipV="1">
            <a:off x="685800" y="2031999"/>
            <a:ext cx="10820400" cy="45719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CB16BCE9-02D7-B876-7A19-474830F272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2890842"/>
              </p:ext>
            </p:extLst>
          </p:nvPr>
        </p:nvGraphicFramePr>
        <p:xfrm>
          <a:off x="685798" y="2343766"/>
          <a:ext cx="10591802" cy="331599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981202">
                  <a:extLst>
                    <a:ext uri="{9D8B030D-6E8A-4147-A177-3AD203B41FA5}">
                      <a16:colId xmlns:a16="http://schemas.microsoft.com/office/drawing/2014/main" val="1591222167"/>
                    </a:ext>
                  </a:extLst>
                </a:gridCol>
                <a:gridCol w="4772025">
                  <a:extLst>
                    <a:ext uri="{9D8B030D-6E8A-4147-A177-3AD203B41FA5}">
                      <a16:colId xmlns:a16="http://schemas.microsoft.com/office/drawing/2014/main" val="3422840584"/>
                    </a:ext>
                  </a:extLst>
                </a:gridCol>
                <a:gridCol w="3838575">
                  <a:extLst>
                    <a:ext uri="{9D8B030D-6E8A-4147-A177-3AD203B41FA5}">
                      <a16:colId xmlns:a16="http://schemas.microsoft.com/office/drawing/2014/main" val="3608364053"/>
                    </a:ext>
                  </a:extLst>
                </a:gridCol>
              </a:tblGrid>
              <a:tr h="3488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/>
                        <a:t>구분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/>
                        <a:t>설명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/>
                        <a:t>특징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351433"/>
                  </a:ext>
                </a:extLst>
              </a:tr>
              <a:tr h="7417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 dirty="0"/>
                        <a:t>Project parameter</a:t>
                      </a:r>
                      <a:endParaRPr lang="ko-KR" sz="1400" b="0" dirty="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dirty="0"/>
                        <a:t>프로젝트 내 적용되는 파라미터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dirty="0"/>
                        <a:t>패밀리로 전달되지 않음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8065308"/>
                  </a:ext>
                </a:extLst>
              </a:tr>
              <a:tr h="7417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 dirty="0"/>
                        <a:t>Family parameter</a:t>
                      </a:r>
                      <a:endParaRPr lang="ko-KR" sz="1400" b="0" dirty="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dirty="0"/>
                        <a:t>개별 패밀리</a:t>
                      </a:r>
                      <a:r>
                        <a:rPr lang="en-US" altLang="ko-KR" sz="1400" dirty="0"/>
                        <a:t>(.</a:t>
                      </a:r>
                      <a:r>
                        <a:rPr lang="en-US" altLang="ko-KR" sz="1400" dirty="0" err="1"/>
                        <a:t>rfa</a:t>
                      </a:r>
                      <a:r>
                        <a:rPr lang="en-US" altLang="ko-KR" sz="1400" dirty="0"/>
                        <a:t>) </a:t>
                      </a:r>
                      <a:r>
                        <a:rPr lang="ko-KR" altLang="en-US" sz="1400" dirty="0"/>
                        <a:t>내에서 정의된 파라미터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dirty="0"/>
                        <a:t>일람표</a:t>
                      </a:r>
                      <a:r>
                        <a:rPr lang="en-US" altLang="ko-KR" sz="1400" dirty="0"/>
                        <a:t>(Schedule) </a:t>
                      </a:r>
                      <a:r>
                        <a:rPr lang="ko-KR" altLang="en-US" sz="1400" dirty="0"/>
                        <a:t>추출 어려움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7313588"/>
                  </a:ext>
                </a:extLst>
              </a:tr>
              <a:tr h="7417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 dirty="0"/>
                        <a:t>Shared parameter</a:t>
                      </a:r>
                      <a:endParaRPr lang="ko-KR" sz="1400" b="0" dirty="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dirty="0"/>
                        <a:t>외부 텍스트 파일</a:t>
                      </a:r>
                      <a:r>
                        <a:rPr lang="en-US" altLang="ko-KR" sz="1400" dirty="0"/>
                        <a:t>(.txt)</a:t>
                      </a:r>
                      <a:r>
                        <a:rPr lang="ko-KR" altLang="en-US" sz="1400" dirty="0"/>
                        <a:t>에 저장되어 공유되는 파라미터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일람표</a:t>
                      </a:r>
                      <a:r>
                        <a:rPr lang="en-US" altLang="ko-KR" sz="1400" dirty="0"/>
                        <a:t>(Schedule)</a:t>
                      </a:r>
                      <a:r>
                        <a:rPr lang="ko-KR" altLang="en-US" sz="1400" dirty="0"/>
                        <a:t> 및 태그 필요시 사용</a:t>
                      </a:r>
                      <a:endParaRPr lang="en-US" altLang="ko-KR" sz="1400" dirty="0"/>
                    </a:p>
                    <a:p>
                      <a:pPr algn="l">
                        <a:buNone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모든 프로젝트와 패밀리에서 동일하게 인식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5075664"/>
                  </a:ext>
                </a:extLst>
              </a:tr>
              <a:tr h="7417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 dirty="0"/>
                        <a:t>System parameter</a:t>
                      </a:r>
                      <a:endParaRPr lang="ko-KR" altLang="en-US" sz="1400" b="0" dirty="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400" dirty="0"/>
                        <a:t>Revit </a:t>
                      </a:r>
                      <a:r>
                        <a:rPr lang="ko-KR" altLang="en-US" sz="1400" dirty="0"/>
                        <a:t>소프트웨어에 기본 내장된 파라미터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400" dirty="0"/>
                        <a:t>삭제 불가능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2268361"/>
                  </a:ext>
                </a:extLst>
              </a:tr>
            </a:tbl>
          </a:graphicData>
        </a:graphic>
      </p:graphicFrame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91821E3-5992-B9F8-5CF3-72F4B210B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6727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54BF2B-2445-B6D1-5988-540869AD2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23CF7843-87B0-5AF9-CE6F-5D6FD2B522A2}"/>
              </a:ext>
            </a:extLst>
          </p:cNvPr>
          <p:cNvSpPr/>
          <p:nvPr/>
        </p:nvSpPr>
        <p:spPr>
          <a:xfrm>
            <a:off x="457200" y="1473199"/>
            <a:ext cx="11049000" cy="4422776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93A94F1-B0B9-54FE-A07A-D312CBEBE821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3714F49-EA37-5785-7B19-FA90020E1AB0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B177B0-930F-863E-47D5-818BAB2FF91B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Malgun Gothic" panose="020B0503020000020004" pitchFamily="50" charset="-127"/>
              </a:rPr>
              <a:t>속성정보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3B980D-C983-7E1D-4029-18AA3E049E41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객체의 데이터 관리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39F67B-2B98-D9E7-570D-4ED8804354B0}"/>
              </a:ext>
            </a:extLst>
          </p:cNvPr>
          <p:cNvSpPr txBox="1"/>
          <p:nvPr/>
        </p:nvSpPr>
        <p:spPr>
          <a:xfrm>
            <a:off x="685800" y="1676400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Parameter </a:t>
            </a:r>
            <a:r>
              <a:rPr lang="ko-KR" altLang="en-US" sz="16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개념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8129ADF-2F71-D8EB-E768-B613ED42FB35}"/>
              </a:ext>
            </a:extLst>
          </p:cNvPr>
          <p:cNvSpPr/>
          <p:nvPr/>
        </p:nvSpPr>
        <p:spPr>
          <a:xfrm flipV="1">
            <a:off x="685800" y="2031999"/>
            <a:ext cx="10820400" cy="45719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4693B66F-04C0-98BE-099B-F827E76F66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6581500"/>
              </p:ext>
            </p:extLst>
          </p:nvPr>
        </p:nvGraphicFramePr>
        <p:xfrm>
          <a:off x="685800" y="2331719"/>
          <a:ext cx="10411461" cy="305205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993467">
                  <a:extLst>
                    <a:ext uri="{9D8B030D-6E8A-4147-A177-3AD203B41FA5}">
                      <a16:colId xmlns:a16="http://schemas.microsoft.com/office/drawing/2014/main" val="1591222167"/>
                    </a:ext>
                  </a:extLst>
                </a:gridCol>
                <a:gridCol w="2817433">
                  <a:extLst>
                    <a:ext uri="{9D8B030D-6E8A-4147-A177-3AD203B41FA5}">
                      <a16:colId xmlns:a16="http://schemas.microsoft.com/office/drawing/2014/main" val="3422840584"/>
                    </a:ext>
                  </a:extLst>
                </a:gridCol>
                <a:gridCol w="1733687">
                  <a:extLst>
                    <a:ext uri="{9D8B030D-6E8A-4147-A177-3AD203B41FA5}">
                      <a16:colId xmlns:a16="http://schemas.microsoft.com/office/drawing/2014/main" val="3608364053"/>
                    </a:ext>
                  </a:extLst>
                </a:gridCol>
                <a:gridCol w="1933437">
                  <a:extLst>
                    <a:ext uri="{9D8B030D-6E8A-4147-A177-3AD203B41FA5}">
                      <a16:colId xmlns:a16="http://schemas.microsoft.com/office/drawing/2014/main" val="2539076256"/>
                    </a:ext>
                  </a:extLst>
                </a:gridCol>
                <a:gridCol w="1933437">
                  <a:extLst>
                    <a:ext uri="{9D8B030D-6E8A-4147-A177-3AD203B41FA5}">
                      <a16:colId xmlns:a16="http://schemas.microsoft.com/office/drawing/2014/main" val="3081931663"/>
                    </a:ext>
                  </a:extLst>
                </a:gridCol>
              </a:tblGrid>
              <a:tr h="3972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dirty="0"/>
                        <a:t>매개변수 종류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dirty="0"/>
                        <a:t>저장되는 위치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dirty="0"/>
                        <a:t>일람표(Schedule) 표시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dirty="0"/>
                        <a:t>태그(</a:t>
                      </a:r>
                      <a:r>
                        <a:rPr lang="ko-KR" sz="1400" dirty="0" err="1"/>
                        <a:t>Tag</a:t>
                      </a:r>
                      <a:r>
                        <a:rPr lang="ko-KR" sz="1400" dirty="0"/>
                        <a:t>) 표시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/>
                        <a:t>IFC DB </a:t>
                      </a:r>
                      <a:r>
                        <a:rPr lang="ko-KR" altLang="en-US" sz="1400" dirty="0"/>
                        <a:t>연계</a:t>
                      </a:r>
                      <a:endParaRPr lang="ko-KR" sz="1400" dirty="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9351433"/>
                  </a:ext>
                </a:extLst>
              </a:tr>
              <a:tr h="8446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 dirty="0"/>
                        <a:t>Project parameter</a:t>
                      </a:r>
                      <a:endParaRPr lang="ko-KR" sz="1400" b="0" dirty="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dirty="0"/>
                        <a:t>해당 프로젝트 파일 (</a:t>
                      </a:r>
                      <a:r>
                        <a:rPr lang="ko-KR" sz="1400" dirty="0"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ko-KR" sz="1400" dirty="0" err="1">
                          <a:latin typeface="Courier New" panose="02070309020205020404" pitchFamily="49" charset="0"/>
                        </a:rPr>
                        <a:t>rvt</a:t>
                      </a:r>
                      <a:r>
                        <a:rPr lang="ko-KR" sz="1400" dirty="0"/>
                        <a:t>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b="1"/>
                        <a:t>O</a:t>
                      </a:r>
                      <a:endParaRPr lang="ko-KR" sz="140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dirty="0" err="1"/>
                        <a:t>X</a:t>
                      </a:r>
                      <a:endParaRPr lang="ko-KR" sz="1400" dirty="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/>
                        <a:t>제한적</a:t>
                      </a:r>
                      <a:endParaRPr lang="ko-KR" sz="1400" dirty="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8065308"/>
                  </a:ext>
                </a:extLst>
              </a:tr>
              <a:tr h="8446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 dirty="0"/>
                        <a:t>Family parameter</a:t>
                      </a:r>
                      <a:endParaRPr lang="ko-KR" sz="1400" b="0" dirty="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dirty="0"/>
                        <a:t>해당 패밀리 파일 (</a:t>
                      </a:r>
                      <a:r>
                        <a:rPr lang="ko-KR" sz="1400" dirty="0"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ko-KR" sz="1400" dirty="0" err="1">
                          <a:latin typeface="Courier New" panose="02070309020205020404" pitchFamily="49" charset="0"/>
                        </a:rPr>
                        <a:t>rfa</a:t>
                      </a:r>
                      <a:r>
                        <a:rPr lang="ko-KR" sz="1400" dirty="0"/>
                        <a:t>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dirty="0" err="1"/>
                        <a:t>X</a:t>
                      </a:r>
                      <a:endParaRPr lang="ko-KR" sz="1400" dirty="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dirty="0" err="1"/>
                        <a:t>X</a:t>
                      </a:r>
                      <a:endParaRPr lang="ko-KR" sz="1400" dirty="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400" dirty="0" err="1"/>
                        <a:t>X</a:t>
                      </a:r>
                      <a:endParaRPr lang="ko-KR" altLang="ko-KR" sz="1400" dirty="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7313588"/>
                  </a:ext>
                </a:extLst>
              </a:tr>
              <a:tr h="8446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 dirty="0"/>
                        <a:t>Shared parameter</a:t>
                      </a:r>
                      <a:endParaRPr lang="ko-KR" sz="1400" b="0" dirty="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/>
                        <a:t>외부 텍스트 파일 (</a:t>
                      </a:r>
                      <a:r>
                        <a:rPr lang="ko-KR" sz="1400">
                          <a:latin typeface="Courier New" panose="02070309020205020404" pitchFamily="49" charset="0"/>
                        </a:rPr>
                        <a:t>.txt</a:t>
                      </a:r>
                      <a:r>
                        <a:rPr lang="ko-KR" sz="1400"/>
                        <a:t>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b="1" dirty="0" err="1"/>
                        <a:t>O</a:t>
                      </a:r>
                      <a:endParaRPr lang="ko-KR" sz="1400" dirty="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b="1" dirty="0" err="1"/>
                        <a:t>O</a:t>
                      </a:r>
                      <a:endParaRPr lang="ko-KR" sz="1400" dirty="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400" b="1" dirty="0" err="1"/>
                        <a:t>O</a:t>
                      </a:r>
                      <a:endParaRPr lang="ko-KR" altLang="ko-KR" sz="1400" dirty="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5075664"/>
                  </a:ext>
                </a:extLst>
              </a:tr>
            </a:tbl>
          </a:graphicData>
        </a:graphic>
      </p:graphicFrame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D9F5962-320F-0B10-1172-5F1369238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2248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531D42-15F7-D8BE-A213-012DF4D85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B6C472B-3DD2-0725-FF5B-EA1E52F711BF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7DA35B8-B362-2591-77B6-F28BE212DF26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70BF6A-F444-7B96-A4F1-40EE41CB16B2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속성정보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DAA190D-4F4E-E802-4367-A61B47012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D288D7-65A0-7282-42D6-D08A2746D96C}"/>
              </a:ext>
            </a:extLst>
          </p:cNvPr>
          <p:cNvSpPr txBox="1"/>
          <p:nvPr/>
        </p:nvSpPr>
        <p:spPr>
          <a:xfrm>
            <a:off x="899386" y="1288525"/>
            <a:ext cx="57774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 Project parameter</a:t>
            </a:r>
            <a:r>
              <a:rPr lang="ko-KR" altLang="en-US" sz="2000" b="1" dirty="0"/>
              <a:t> 입력</a:t>
            </a:r>
            <a:endParaRPr lang="en-US" altLang="ko-KR" sz="2000" b="1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4100EF2F-F147-2A17-AB33-07902E135B58}"/>
              </a:ext>
            </a:extLst>
          </p:cNvPr>
          <p:cNvSpPr/>
          <p:nvPr/>
        </p:nvSpPr>
        <p:spPr>
          <a:xfrm>
            <a:off x="558798" y="1328211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2778FE72-8255-17C1-313C-36ABD23F0028}"/>
              </a:ext>
            </a:extLst>
          </p:cNvPr>
          <p:cNvSpPr/>
          <p:nvPr/>
        </p:nvSpPr>
        <p:spPr>
          <a:xfrm>
            <a:off x="558797" y="2021999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48C892-A5CA-074A-A160-A19AD58002B8}"/>
              </a:ext>
            </a:extLst>
          </p:cNvPr>
          <p:cNvSpPr txBox="1"/>
          <p:nvPr/>
        </p:nvSpPr>
        <p:spPr>
          <a:xfrm>
            <a:off x="958850" y="1980982"/>
            <a:ext cx="57774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Shared parameter </a:t>
            </a:r>
            <a:r>
              <a:rPr lang="ko-KR" altLang="en-US" sz="2000" b="1" dirty="0"/>
              <a:t>입력</a:t>
            </a:r>
            <a:endParaRPr lang="en-US" altLang="ko-KR" sz="20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ECA3F4-AB0F-DA9D-6F8C-9E765E290AC7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객체의 데이터 관리</a:t>
            </a:r>
          </a:p>
        </p:txBody>
      </p:sp>
    </p:spTree>
    <p:extLst>
      <p:ext uri="{BB962C8B-B14F-4D97-AF65-F5344CB8AC3E}">
        <p14:creationId xmlns:p14="http://schemas.microsoft.com/office/powerpoint/2010/main" val="9896384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C2A7CD-FDE2-1CF4-CC5B-ABED44C96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160C19E-C658-3FC8-EBDA-8E3C6CB268F3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D2A8054-DC0A-CF7A-E238-4B5B431CECD5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7C7179-C575-1295-7BE6-7A6476E152E9}"/>
              </a:ext>
            </a:extLst>
          </p:cNvPr>
          <p:cNvSpPr txBox="1"/>
          <p:nvPr/>
        </p:nvSpPr>
        <p:spPr>
          <a:xfrm>
            <a:off x="3708400" y="2523123"/>
            <a:ext cx="6604000" cy="1241858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</a:rPr>
              <a:t>1. Schedule</a:t>
            </a:r>
            <a:r>
              <a:rPr lang="ko-KR" altLang="en-US" sz="2000" b="1" dirty="0">
                <a:solidFill>
                  <a:srgbClr val="CC4700"/>
                </a:solidFill>
              </a:rPr>
              <a:t>작성</a:t>
            </a:r>
            <a:endParaRPr lang="en-US" altLang="ko-KR" sz="2000" b="1" dirty="0">
              <a:solidFill>
                <a:srgbClr val="CC4700"/>
              </a:solidFill>
            </a:endParaRPr>
          </a:p>
          <a:p>
            <a:endParaRPr lang="en-US" altLang="ko-KR" sz="2000" b="1" dirty="0">
              <a:solidFill>
                <a:srgbClr val="CC4700"/>
              </a:solidFill>
            </a:endParaRPr>
          </a:p>
          <a:p>
            <a:r>
              <a:rPr lang="en-US" altLang="ko-KR" sz="2000" b="1" dirty="0">
                <a:solidFill>
                  <a:srgbClr val="CC4700"/>
                </a:solidFill>
              </a:rPr>
              <a:t>2. </a:t>
            </a:r>
            <a:r>
              <a:rPr lang="ko-KR" altLang="en-US" sz="2000" b="1" dirty="0">
                <a:solidFill>
                  <a:srgbClr val="CC4700"/>
                </a:solidFill>
              </a:rPr>
              <a:t>케이블 길이 추출</a:t>
            </a:r>
            <a:endParaRPr lang="en-US" altLang="ko-KR" sz="2000" b="1" dirty="0">
              <a:solidFill>
                <a:srgbClr val="CC4700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5F26372F-7E41-4CAE-BE93-4E5E2842F13F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22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9</a:t>
            </a:r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EF44E5-6B25-4D82-9B0E-31FEB2536B10}"/>
              </a:ext>
            </a:extLst>
          </p:cNvPr>
          <p:cNvSpPr txBox="1"/>
          <p:nvPr/>
        </p:nvSpPr>
        <p:spPr>
          <a:xfrm>
            <a:off x="641350" y="2523123"/>
            <a:ext cx="2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95000"/>
                  </a:schemeClr>
                </a:solidFill>
              </a:rPr>
              <a:t>물량 산출</a:t>
            </a:r>
            <a:endParaRPr lang="ko-KR" altLang="en-US" sz="16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33C2BD7-ACF4-7207-7723-97FF2B371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861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B4C9B6-57E7-1174-DF40-C90247DB4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2940D04-E921-1D35-3060-C7B87BDC0657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65944C0-AE39-F9B4-690B-FD941C402BA4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A5DC65-2406-DB1E-4DE1-A873E4443187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물량 산출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5DF8EA18-02EC-E4CC-C8EA-4D9DCB8E1263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D197C7-FBC3-FFBE-B072-C0E13DCB68B2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</a:rPr>
              <a:t>Schedule </a:t>
            </a:r>
            <a:r>
              <a:rPr lang="ko-KR" altLang="en-US" sz="2000" b="1" dirty="0">
                <a:solidFill>
                  <a:srgbClr val="CC4700"/>
                </a:solidFill>
              </a:rPr>
              <a:t>추출</a:t>
            </a:r>
            <a:endParaRPr lang="en-US" altLang="ko-KR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E213C4-558A-71F8-5F02-B166F58619D3}"/>
              </a:ext>
            </a:extLst>
          </p:cNvPr>
          <p:cNvSpPr txBox="1"/>
          <p:nvPr/>
        </p:nvSpPr>
        <p:spPr>
          <a:xfrm>
            <a:off x="843684" y="1826936"/>
            <a:ext cx="57048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수량 산출</a:t>
            </a:r>
            <a:endParaRPr lang="en-US" altLang="ko-KR" dirty="0"/>
          </a:p>
          <a:p>
            <a:r>
              <a:rPr lang="ko-KR" altLang="en-US" dirty="0"/>
              <a:t> 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속성값 확인</a:t>
            </a:r>
            <a:r>
              <a:rPr lang="en-US" altLang="ko-KR" dirty="0"/>
              <a:t>(ex. </a:t>
            </a:r>
            <a:r>
              <a:rPr lang="ko-KR" altLang="en-US" dirty="0"/>
              <a:t>트레이 </a:t>
            </a:r>
            <a:r>
              <a:rPr lang="en-US" altLang="ko-KR" dirty="0"/>
              <a:t>length, width, height) 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575A5CD-1694-DABD-6B97-74F672BDBBD6}"/>
              </a:ext>
            </a:extLst>
          </p:cNvPr>
          <p:cNvSpPr/>
          <p:nvPr/>
        </p:nvSpPr>
        <p:spPr>
          <a:xfrm>
            <a:off x="525607" y="3812992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072519-1C37-D8B9-51FB-A7BC96BDF2E9}"/>
              </a:ext>
            </a:extLst>
          </p:cNvPr>
          <p:cNvSpPr txBox="1"/>
          <p:nvPr/>
        </p:nvSpPr>
        <p:spPr>
          <a:xfrm>
            <a:off x="917574" y="3787364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rgbClr val="CC4700"/>
                </a:solidFill>
              </a:rPr>
              <a:t>트레이</a:t>
            </a:r>
            <a:r>
              <a:rPr lang="en-US" altLang="ko-KR" sz="2000" b="1" dirty="0">
                <a:solidFill>
                  <a:srgbClr val="CC4700"/>
                </a:solidFill>
              </a:rPr>
              <a:t>, </a:t>
            </a:r>
            <a:r>
              <a:rPr lang="ko-KR" altLang="en-US" sz="2000" b="1" dirty="0">
                <a:solidFill>
                  <a:srgbClr val="CC4700"/>
                </a:solidFill>
              </a:rPr>
              <a:t>조명 물량 산출</a:t>
            </a:r>
            <a:endParaRPr lang="en-US" altLang="ko-KR" sz="2000" b="1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9D55DDA-29AB-2D55-9EFA-B7264C0EC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45723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03810B-DCF3-32E0-2F7D-0CC3E2BC9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4FB8D21-6F41-B514-E196-0C021BD588D8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780E76D-C7A7-F62D-6182-15B8FCF89F8F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3E28DE-12A9-B114-D349-E90F25604DB3}"/>
              </a:ext>
            </a:extLst>
          </p:cNvPr>
          <p:cNvSpPr txBox="1"/>
          <p:nvPr/>
        </p:nvSpPr>
        <p:spPr>
          <a:xfrm>
            <a:off x="3708400" y="2497093"/>
            <a:ext cx="6604000" cy="192534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marL="457200" indent="-457200">
              <a:buAutoNum type="arabicPeriod"/>
            </a:pPr>
            <a:r>
              <a:rPr lang="en-US" altLang="ko-KR" sz="2000" b="1" dirty="0">
                <a:solidFill>
                  <a:srgbClr val="CC4700"/>
                </a:solidFill>
              </a:rPr>
              <a:t>NWC, NWF, NWD</a:t>
            </a:r>
          </a:p>
          <a:p>
            <a:pPr marL="457200" indent="-457200">
              <a:buAutoNum type="arabicPeriod"/>
            </a:pPr>
            <a:endParaRPr lang="en-US" altLang="ko-KR" sz="2000" b="1" dirty="0">
              <a:solidFill>
                <a:srgbClr val="CC4700"/>
              </a:solidFill>
            </a:endParaRPr>
          </a:p>
          <a:p>
            <a:pPr marL="457200" indent="-457200">
              <a:buAutoNum type="arabicPeriod"/>
            </a:pPr>
            <a:r>
              <a:rPr lang="en-US" altLang="ko-KR" sz="2000" b="1" dirty="0">
                <a:solidFill>
                  <a:srgbClr val="CC4700"/>
                </a:solidFill>
              </a:rPr>
              <a:t>IFC</a:t>
            </a:r>
          </a:p>
          <a:p>
            <a:pPr marL="457200" indent="-457200">
              <a:buAutoNum type="arabicPeriod"/>
            </a:pPr>
            <a:endParaRPr lang="en-US" altLang="ko-KR" sz="2000" b="1" dirty="0">
              <a:solidFill>
                <a:srgbClr val="CC4700"/>
              </a:solidFill>
            </a:endParaRPr>
          </a:p>
          <a:p>
            <a:pPr marL="457200" indent="-457200">
              <a:buAutoNum type="arabicPeriod"/>
            </a:pPr>
            <a:r>
              <a:rPr lang="ko-KR" altLang="en-US" sz="2000" b="1" dirty="0">
                <a:solidFill>
                  <a:srgbClr val="CC4700"/>
                </a:solidFill>
              </a:rPr>
              <a:t>파일정리</a:t>
            </a:r>
            <a:endParaRPr lang="en-US" altLang="ko-KR" sz="2000" b="1" dirty="0">
              <a:solidFill>
                <a:srgbClr val="CC4700"/>
              </a:solidFill>
            </a:endParaRPr>
          </a:p>
          <a:p>
            <a:pPr marL="457200" indent="-457200">
              <a:buAutoNum type="arabicPeriod"/>
            </a:pPr>
            <a:endParaRPr lang="en-US" altLang="ko-KR" sz="2000" b="1" dirty="0">
              <a:solidFill>
                <a:srgbClr val="CC4700"/>
              </a:solidFill>
            </a:endParaRPr>
          </a:p>
          <a:p>
            <a:pPr marL="457200" indent="-457200">
              <a:buAutoNum type="arabicPeriod"/>
            </a:pPr>
            <a:endParaRPr lang="en-US" altLang="ko-KR" sz="2000" b="1" dirty="0">
              <a:solidFill>
                <a:srgbClr val="CC47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29C845-DA44-702A-4E3D-4B17154AA9F9}"/>
              </a:ext>
            </a:extLst>
          </p:cNvPr>
          <p:cNvSpPr txBox="1"/>
          <p:nvPr/>
        </p:nvSpPr>
        <p:spPr>
          <a:xfrm>
            <a:off x="641350" y="2523123"/>
            <a:ext cx="2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95000"/>
                  </a:schemeClr>
                </a:solidFill>
              </a:rPr>
              <a:t>납품 파일 추출</a:t>
            </a:r>
            <a:endParaRPr lang="ko-KR" altLang="en-US" sz="16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E68946C-086D-B77C-6A11-7C8692AE0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DA8BE4FF-C06D-D4AC-C541-A54148C565CA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6A4324-FC10-F66A-9CFF-395566F3B637}"/>
              </a:ext>
            </a:extLst>
          </p:cNvPr>
          <p:cNvSpPr txBox="1"/>
          <p:nvPr/>
        </p:nvSpPr>
        <p:spPr>
          <a:xfrm>
            <a:off x="212768" y="2498095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10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66577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88FAA8-0C87-4388-1797-B07205993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23E7E33-3A25-D562-16C4-F05609A7D26D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9DB5B26-38F2-EE4D-52FF-F2F7830695F5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6C4EC6-8DF4-225F-281C-2E39FA7733CB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latinLnBrk="0"/>
            <a:r>
              <a:rPr lang="en-US" altLang="ko-KR" sz="2400" b="1" dirty="0">
                <a:solidFill>
                  <a:schemeClr val="bg1"/>
                </a:solidFill>
              </a:rPr>
              <a:t>Navisworks Exporters </a:t>
            </a:r>
            <a:r>
              <a:rPr lang="ko-KR" altLang="en-US" sz="2400" b="1" dirty="0">
                <a:solidFill>
                  <a:schemeClr val="bg1"/>
                </a:solidFill>
              </a:rPr>
              <a:t>설치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2135821-9ABD-6201-4E09-28605FF4D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074" y="1717830"/>
            <a:ext cx="7549726" cy="376841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D213F25B-BBAA-040A-C636-A8C34516F979}"/>
              </a:ext>
            </a:extLst>
          </p:cNvPr>
          <p:cNvSpPr/>
          <p:nvPr/>
        </p:nvSpPr>
        <p:spPr>
          <a:xfrm>
            <a:off x="4310671" y="3255165"/>
            <a:ext cx="2212890" cy="17066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제목 1">
            <a:extLst>
              <a:ext uri="{FF2B5EF4-FFF2-40B4-BE49-F238E27FC236}">
                <a16:creationId xmlns:a16="http://schemas.microsoft.com/office/drawing/2014/main" id="{F210EAFA-87B3-A810-DDC6-5A56D543B84A}"/>
              </a:ext>
            </a:extLst>
          </p:cNvPr>
          <p:cNvSpPr txBox="1">
            <a:spLocks/>
          </p:cNvSpPr>
          <p:nvPr/>
        </p:nvSpPr>
        <p:spPr>
          <a:xfrm>
            <a:off x="4022639" y="3177835"/>
            <a:ext cx="253106" cy="32532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35992" tIns="46790" rIns="35992" bIns="4679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6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5pPr>
            <a:lvl6pPr marL="457098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6pPr>
            <a:lvl7pPr marL="914195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7pPr>
            <a:lvl8pPr marL="1371293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8pPr>
            <a:lvl9pPr marL="182839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9pPr>
          </a:lstStyle>
          <a:p>
            <a:pPr latinLnBrk="0"/>
            <a:r>
              <a:rPr lang="ko-KR" altLang="en-US" sz="1500" dirty="0">
                <a:solidFill>
                  <a:srgbClr val="FF0000"/>
                </a:solidFill>
              </a:rPr>
              <a:t>①</a:t>
            </a:r>
            <a:endParaRPr lang="en-US" altLang="ko-KR" sz="1500" dirty="0">
              <a:solidFill>
                <a:srgbClr val="FF0000"/>
              </a:solidFill>
            </a:endParaRPr>
          </a:p>
        </p:txBody>
      </p:sp>
      <p:sp>
        <p:nvSpPr>
          <p:cNvPr id="18" name="제목 1">
            <a:extLst>
              <a:ext uri="{FF2B5EF4-FFF2-40B4-BE49-F238E27FC236}">
                <a16:creationId xmlns:a16="http://schemas.microsoft.com/office/drawing/2014/main" id="{639CDFB1-1829-96E1-B7CF-E295BE04236E}"/>
              </a:ext>
            </a:extLst>
          </p:cNvPr>
          <p:cNvSpPr txBox="1">
            <a:spLocks/>
          </p:cNvSpPr>
          <p:nvPr/>
        </p:nvSpPr>
        <p:spPr>
          <a:xfrm>
            <a:off x="664319" y="1172502"/>
            <a:ext cx="7768481" cy="32532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35992" tIns="46790" rIns="35992" bIns="4679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6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5pPr>
            <a:lvl6pPr marL="457098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6pPr>
            <a:lvl7pPr marL="914195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7pPr>
            <a:lvl8pPr marL="1371293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8pPr>
            <a:lvl9pPr marL="182839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9pPr>
          </a:lstStyle>
          <a:p>
            <a:pPr marL="342900" indent="-342900" latinLnBrk="0">
              <a:buFont typeface="Wingdings" panose="05000000000000000000" pitchFamily="2" charset="2"/>
              <a:buChar char="ü"/>
            </a:pPr>
            <a:r>
              <a:rPr lang="en-US" altLang="ko-KR" sz="1500" dirty="0"/>
              <a:t>Navisworks Exporters </a:t>
            </a:r>
            <a:r>
              <a:rPr lang="ko-KR" altLang="en-US" sz="1500" dirty="0"/>
              <a:t>설치 진행</a:t>
            </a:r>
            <a:r>
              <a:rPr lang="en-US" altLang="ko-KR" sz="1500" dirty="0"/>
              <a:t>(</a:t>
            </a:r>
            <a:r>
              <a:rPr lang="ko-KR" altLang="en-US" sz="1500" dirty="0"/>
              <a:t>설치된 </a:t>
            </a:r>
            <a:r>
              <a:rPr lang="ko-KR" altLang="en-US" sz="1500" dirty="0" err="1"/>
              <a:t>레빗</a:t>
            </a:r>
            <a:r>
              <a:rPr lang="ko-KR" altLang="en-US" sz="1500" dirty="0"/>
              <a:t> 버전으로 설치</a:t>
            </a:r>
            <a:r>
              <a:rPr lang="en-US" altLang="ko-KR" sz="1500" dirty="0"/>
              <a:t>)</a:t>
            </a:r>
            <a:r>
              <a:rPr lang="ko-KR" altLang="en-US" sz="1500" dirty="0"/>
              <a:t> </a:t>
            </a:r>
            <a:endParaRPr lang="en-US" altLang="ko-KR" sz="1500" dirty="0"/>
          </a:p>
        </p:txBody>
      </p:sp>
      <p:sp>
        <p:nvSpPr>
          <p:cNvPr id="19" name="제목 1">
            <a:extLst>
              <a:ext uri="{FF2B5EF4-FFF2-40B4-BE49-F238E27FC236}">
                <a16:creationId xmlns:a16="http://schemas.microsoft.com/office/drawing/2014/main" id="{D3BBA69B-8F8E-2B9B-EC34-D1640E5113AA}"/>
              </a:ext>
            </a:extLst>
          </p:cNvPr>
          <p:cNvSpPr txBox="1">
            <a:spLocks/>
          </p:cNvSpPr>
          <p:nvPr/>
        </p:nvSpPr>
        <p:spPr>
          <a:xfrm>
            <a:off x="2150431" y="5574330"/>
            <a:ext cx="5688632" cy="32532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35992" tIns="46790" rIns="35992" bIns="4679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6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5pPr>
            <a:lvl6pPr marL="457098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6pPr>
            <a:lvl7pPr marL="914195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7pPr>
            <a:lvl8pPr marL="1371293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8pPr>
            <a:lvl9pPr marL="182839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9pPr>
          </a:lstStyle>
          <a:p>
            <a:pPr latinLnBrk="0"/>
            <a:r>
              <a:rPr lang="en-US" altLang="ko-KR" sz="15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https://www.autodesk.co.kr/products/navisworks/3d-viewers</a:t>
            </a:r>
            <a:endParaRPr lang="en-US" altLang="ko-KR" sz="1500" dirty="0"/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A23409A3-7105-5907-B34D-5633E169667F}"/>
              </a:ext>
            </a:extLst>
          </p:cNvPr>
          <p:cNvSpPr txBox="1">
            <a:spLocks/>
          </p:cNvSpPr>
          <p:nvPr/>
        </p:nvSpPr>
        <p:spPr>
          <a:xfrm>
            <a:off x="1031961" y="5573011"/>
            <a:ext cx="1118471" cy="32532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35992" tIns="46790" rIns="35992" bIns="4679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6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5pPr>
            <a:lvl6pPr marL="457098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6pPr>
            <a:lvl7pPr marL="914195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7pPr>
            <a:lvl8pPr marL="1371293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8pPr>
            <a:lvl9pPr marL="182839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9pPr>
          </a:lstStyle>
          <a:p>
            <a:pPr latinLnBrk="0"/>
            <a:r>
              <a:rPr lang="en-US" altLang="ko-KR" sz="1500" dirty="0"/>
              <a:t>* </a:t>
            </a:r>
            <a:r>
              <a:rPr lang="ko-KR" altLang="en-US" sz="1500" dirty="0"/>
              <a:t>설치 주소</a:t>
            </a:r>
            <a:endParaRPr lang="en-US" altLang="ko-KR" sz="15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81F3A56-A812-B9FC-4CFA-F25B5FF57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93753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D0BA2C-4B64-3D6A-661B-29A22715E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DE63C5E-6CDA-1D4D-2E89-D13C2E067DD5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69AA1C9-670E-9103-2083-3FA732BF227B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554929-322C-96C6-D8A5-025306F7FD08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납품 파일 추출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9E6329C-E736-14BA-624D-E2BD2F9E60B0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1EB0634-4008-07ED-C581-18372BF74D62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</a:rPr>
              <a:t>NWC, NWF, NWD</a:t>
            </a:r>
            <a:r>
              <a:rPr lang="en-US" altLang="ko-KR" sz="2000" b="1" dirty="0"/>
              <a:t> 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738EDE-0219-A905-A8CC-1009B8E0D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45</a:t>
            </a:fld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BEC6EAA6-7BD3-6BFE-A03A-2D520EA93DA1}"/>
              </a:ext>
            </a:extLst>
          </p:cNvPr>
          <p:cNvCxnSpPr>
            <a:cxnSpLocks/>
          </p:cNvCxnSpPr>
          <p:nvPr/>
        </p:nvCxnSpPr>
        <p:spPr>
          <a:xfrm>
            <a:off x="5372097" y="3505200"/>
            <a:ext cx="0" cy="381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67970933-F2DD-BD9E-ED17-E62B34212940}"/>
              </a:ext>
            </a:extLst>
          </p:cNvPr>
          <p:cNvGrpSpPr/>
          <p:nvPr/>
        </p:nvGrpSpPr>
        <p:grpSpPr>
          <a:xfrm>
            <a:off x="3857634" y="1809967"/>
            <a:ext cx="3019404" cy="1323600"/>
            <a:chOff x="3857634" y="1621978"/>
            <a:chExt cx="3019404" cy="132360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71BD1CE-BBE7-EAE5-9A9D-289ACA625C23}"/>
                </a:ext>
              </a:extLst>
            </p:cNvPr>
            <p:cNvSpPr txBox="1"/>
            <p:nvPr/>
          </p:nvSpPr>
          <p:spPr>
            <a:xfrm>
              <a:off x="3857634" y="2022248"/>
              <a:ext cx="3019404" cy="9233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ko-KR" altLang="ko-KR" dirty="0" err="1"/>
                <a:t>건축.rvt</a:t>
              </a:r>
              <a:r>
                <a:rPr lang="ko-KR" altLang="ko-KR" dirty="0"/>
                <a:t> </a:t>
              </a:r>
              <a:r>
                <a:rPr lang="en-US" altLang="ko-KR" dirty="0"/>
                <a:t>            </a:t>
              </a:r>
              <a:r>
                <a:rPr lang="ko-KR" altLang="ko-KR" dirty="0" err="1"/>
                <a:t>건축.nwc</a:t>
              </a:r>
              <a:r>
                <a:rPr lang="en-US" altLang="ko-KR" dirty="0"/>
                <a:t>     </a:t>
              </a:r>
              <a:br>
                <a:rPr lang="ko-KR" altLang="ko-KR" dirty="0"/>
              </a:br>
              <a:r>
                <a:rPr lang="ko-KR" altLang="ko-KR" dirty="0" err="1"/>
                <a:t>구조.rvt</a:t>
              </a:r>
              <a:r>
                <a:rPr lang="ko-KR" altLang="ko-KR" dirty="0"/>
                <a:t> </a:t>
              </a:r>
              <a:r>
                <a:rPr lang="en-US" altLang="ko-KR" dirty="0"/>
                <a:t>            </a:t>
              </a:r>
              <a:r>
                <a:rPr lang="ko-KR" altLang="ko-KR" dirty="0" err="1"/>
                <a:t>구조.nwc</a:t>
              </a:r>
              <a:br>
                <a:rPr lang="ko-KR" altLang="ko-KR" dirty="0"/>
              </a:br>
              <a:r>
                <a:rPr lang="ko-KR" altLang="ko-KR" dirty="0" err="1"/>
                <a:t>전기.rvt</a:t>
              </a:r>
              <a:r>
                <a:rPr lang="ko-KR" altLang="ko-KR" dirty="0"/>
                <a:t> </a:t>
              </a:r>
              <a:r>
                <a:rPr lang="en-US" altLang="ko-KR" dirty="0"/>
                <a:t>            </a:t>
              </a:r>
              <a:r>
                <a:rPr lang="ko-KR" altLang="ko-KR" dirty="0" err="1"/>
                <a:t>전기.nwc</a:t>
              </a:r>
              <a:r>
                <a:rPr lang="en-US" altLang="ko-KR" dirty="0"/>
                <a:t>  </a:t>
              </a:r>
              <a:endParaRPr lang="ko-KR" altLang="en-US" dirty="0"/>
            </a:p>
          </p:txBody>
        </p: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22A0FCB0-C310-FCA0-BB65-D2FF755A7E79}"/>
                </a:ext>
              </a:extLst>
            </p:cNvPr>
            <p:cNvCxnSpPr>
              <a:cxnSpLocks/>
            </p:cNvCxnSpPr>
            <p:nvPr/>
          </p:nvCxnSpPr>
          <p:spPr>
            <a:xfrm>
              <a:off x="5143500" y="2459621"/>
              <a:ext cx="447675" cy="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4310FE0-150D-B879-D30A-8705C878F4EB}"/>
                </a:ext>
              </a:extLst>
            </p:cNvPr>
            <p:cNvSpPr txBox="1"/>
            <p:nvPr/>
          </p:nvSpPr>
          <p:spPr>
            <a:xfrm>
              <a:off x="4920527" y="1621978"/>
              <a:ext cx="89361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2000" b="1" dirty="0">
                  <a:solidFill>
                    <a:srgbClr val="CC4700"/>
                  </a:solidFill>
                </a:rPr>
                <a:t>NWC</a:t>
              </a:r>
              <a:endParaRPr lang="en-US" altLang="ko-KR" sz="2000" b="1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057D8A77-24D8-5E8E-95BB-9F8BC20CCAEB}"/>
              </a:ext>
            </a:extLst>
          </p:cNvPr>
          <p:cNvSpPr txBox="1"/>
          <p:nvPr/>
        </p:nvSpPr>
        <p:spPr>
          <a:xfrm>
            <a:off x="4625974" y="3991035"/>
            <a:ext cx="148272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CC4700"/>
                </a:solidFill>
              </a:rPr>
              <a:t>NWF</a:t>
            </a:r>
          </a:p>
          <a:p>
            <a:pPr algn="ctr"/>
            <a:r>
              <a:rPr lang="ko-KR" altLang="ko-KR" b="1" dirty="0"/>
              <a:t>통합검토</a:t>
            </a:r>
            <a:endParaRPr lang="en-US" altLang="ko-KR" b="1" dirty="0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3C59E1CE-3171-C74A-9E1F-042B4FF57CE3}"/>
              </a:ext>
            </a:extLst>
          </p:cNvPr>
          <p:cNvCxnSpPr>
            <a:cxnSpLocks/>
          </p:cNvCxnSpPr>
          <p:nvPr/>
        </p:nvCxnSpPr>
        <p:spPr>
          <a:xfrm>
            <a:off x="5367336" y="4981575"/>
            <a:ext cx="0" cy="381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539F8BD-9397-DC00-97BB-982525017043}"/>
              </a:ext>
            </a:extLst>
          </p:cNvPr>
          <p:cNvSpPr txBox="1"/>
          <p:nvPr/>
        </p:nvSpPr>
        <p:spPr>
          <a:xfrm>
            <a:off x="4613275" y="5605046"/>
            <a:ext cx="148272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CC4700"/>
                </a:solidFill>
              </a:rPr>
              <a:t>NWD</a:t>
            </a:r>
          </a:p>
          <a:p>
            <a:pPr algn="ctr"/>
            <a:r>
              <a:rPr lang="ko-KR" altLang="en-US" b="1" dirty="0"/>
              <a:t>최종본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10988058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1DFC29-371E-5171-579C-0C18C4578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44616BF-50C5-1B61-0DAC-6D5EF7967E94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B096A06-CD08-D9B7-D9FC-8155075894F9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8B26F2-5181-CC3C-2901-3AB68A4F4093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납품 파일 추출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77195AC3-4815-C62E-C6FC-CDB4C2BBE885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DD54482-CC36-72CB-AF89-B92C8A2AB04F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</a:rPr>
              <a:t>NWC, NWF, NWD</a:t>
            </a:r>
            <a:r>
              <a:rPr lang="en-US" altLang="ko-KR" sz="2000" b="1" dirty="0"/>
              <a:t> 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263B5C8-6E28-E78E-D20E-619DA6B20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46</a:t>
            </a:fld>
            <a:endParaRPr lang="ko-KR" altLang="en-US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08FC86E5-5AE7-2113-2784-EA8E1B37A4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72464"/>
              </p:ext>
            </p:extLst>
          </p:nvPr>
        </p:nvGraphicFramePr>
        <p:xfrm>
          <a:off x="843684" y="2180402"/>
          <a:ext cx="10411462" cy="2931163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842366">
                  <a:extLst>
                    <a:ext uri="{9D8B030D-6E8A-4147-A177-3AD203B41FA5}">
                      <a16:colId xmlns:a16="http://schemas.microsoft.com/office/drawing/2014/main" val="1591222167"/>
                    </a:ext>
                  </a:extLst>
                </a:gridCol>
                <a:gridCol w="2724150">
                  <a:extLst>
                    <a:ext uri="{9D8B030D-6E8A-4147-A177-3AD203B41FA5}">
                      <a16:colId xmlns:a16="http://schemas.microsoft.com/office/drawing/2014/main" val="3422840584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3608364053"/>
                    </a:ext>
                  </a:extLst>
                </a:gridCol>
                <a:gridCol w="3025546">
                  <a:extLst>
                    <a:ext uri="{9D8B030D-6E8A-4147-A177-3AD203B41FA5}">
                      <a16:colId xmlns:a16="http://schemas.microsoft.com/office/drawing/2014/main" val="2539076256"/>
                    </a:ext>
                  </a:extLst>
                </a:gridCol>
              </a:tblGrid>
              <a:tr h="3972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/>
                        <a:t>구</a:t>
                      </a:r>
                      <a:r>
                        <a:rPr lang="ko-KR" sz="1400" b="1" dirty="0"/>
                        <a:t>분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b="1"/>
                        <a:t>역할</a:t>
                      </a:r>
                      <a:endParaRPr lang="ko-KR" sz="1400" b="1" dirty="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ko-KR" sz="1400" b="1"/>
                        <a:t>실제 데이터</a:t>
                      </a:r>
                      <a:endParaRPr lang="ko-KR" altLang="ko-KR" sz="1400" b="1" dirty="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ko-KR" sz="1400" b="1" dirty="0"/>
                        <a:t>원본 수정 시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9351433"/>
                  </a:ext>
                </a:extLst>
              </a:tr>
              <a:tr h="8446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ko-KR" sz="1400" dirty="0"/>
                        <a:t>NWC (캐시)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b="0" dirty="0"/>
                        <a:t>원본을 가볍게 변환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400" b="0" dirty="0"/>
                        <a:t>포함 (가벼운 </a:t>
                      </a:r>
                      <a:r>
                        <a:rPr lang="ko-KR" altLang="ko-KR" sz="1400" b="0" dirty="0" err="1"/>
                        <a:t>메쉬</a:t>
                      </a:r>
                      <a:r>
                        <a:rPr lang="ko-KR" altLang="ko-KR" sz="1400" b="0" dirty="0"/>
                        <a:t>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ko-KR" sz="1400" b="0" dirty="0"/>
                        <a:t>다시 내보내야 함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8065308"/>
                  </a:ext>
                </a:extLst>
              </a:tr>
              <a:tr h="8446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ko-KR" sz="1400" dirty="0"/>
                        <a:t>NWF (작업 파일)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ko-KR" sz="1400" b="0" dirty="0"/>
                        <a:t>실시간 협업 및 링크 작업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b="0" dirty="0"/>
                        <a:t>없음 (링크 주소만 가짐)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ko-KR" sz="1400" b="0" dirty="0"/>
                        <a:t>자동으로 업데이트됨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7313588"/>
                  </a:ext>
                </a:extLst>
              </a:tr>
              <a:tr h="8446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ko-KR" sz="1400" dirty="0"/>
                        <a:t>NWD (배포 파일)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ko-KR" sz="1400" b="0" dirty="0"/>
                        <a:t>최종 결과물 백업 및 납품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ko-KR" sz="1400" dirty="0"/>
                        <a:t>포함 (모든 데이터 통합)</a:t>
                      </a:r>
                      <a:endParaRPr lang="ko-KR" altLang="ko-KR" sz="1400" b="0" dirty="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400" b="0" dirty="0"/>
                        <a:t>업데이트 안 됨 (새로 저장해야 함)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50756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35104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D57527-4980-FE07-BC29-54BE0BADF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9CFAA85-E588-4149-85D2-A32B809B7CEF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4B3C42F-588D-F2AD-5511-DF14B79ACBBE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D70232-6001-94E4-D189-3422911A6D4D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납품 파일 추출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8E4242-DA8F-EFAB-1814-49C960C00A71}"/>
              </a:ext>
            </a:extLst>
          </p:cNvPr>
          <p:cNvSpPr txBox="1"/>
          <p:nvPr/>
        </p:nvSpPr>
        <p:spPr>
          <a:xfrm>
            <a:off x="945283" y="1700462"/>
            <a:ext cx="97042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b="1" dirty="0"/>
              <a:t>NWC</a:t>
            </a:r>
            <a:r>
              <a:rPr lang="en-US" altLang="ko-KR" dirty="0"/>
              <a:t> (Navisworks Cache) </a:t>
            </a:r>
          </a:p>
          <a:p>
            <a:r>
              <a:rPr lang="en-US" altLang="ko-KR" dirty="0"/>
              <a:t>    </a:t>
            </a:r>
            <a:r>
              <a:rPr lang="en-US" altLang="ko-KR" sz="1400" dirty="0"/>
              <a:t>- NWC</a:t>
            </a:r>
            <a:r>
              <a:rPr lang="ko-KR" altLang="en-US" sz="1400" dirty="0"/>
              <a:t>파일 내에서는 객체 수정 불가</a:t>
            </a:r>
            <a:endParaRPr lang="en-US" altLang="ko-KR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9CDB70-0601-3247-F087-46A5B4A3D5D3}"/>
              </a:ext>
            </a:extLst>
          </p:cNvPr>
          <p:cNvSpPr txBox="1"/>
          <p:nvPr/>
        </p:nvSpPr>
        <p:spPr>
          <a:xfrm>
            <a:off x="1521402" y="2766170"/>
            <a:ext cx="641609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n-US" altLang="ko-KR" sz="1400" dirty="0"/>
              <a:t>EXPORT</a:t>
            </a:r>
            <a:r>
              <a:rPr lang="ko-KR" altLang="en-US" sz="1400" dirty="0"/>
              <a:t>시 </a:t>
            </a:r>
            <a:r>
              <a:rPr lang="en-US" altLang="ko-KR" sz="1400" dirty="0"/>
              <a:t>Detail Level</a:t>
            </a:r>
          </a:p>
          <a:p>
            <a:pPr marL="342900" indent="-342900">
              <a:buFont typeface="+mj-lt"/>
              <a:buAutoNum type="arabicParenR"/>
            </a:pPr>
            <a:endParaRPr lang="en-US" altLang="ko-KR" sz="1400" dirty="0"/>
          </a:p>
          <a:p>
            <a:pPr marL="342900" indent="-342900">
              <a:buFont typeface="+mj-lt"/>
              <a:buAutoNum type="arabicParenR"/>
            </a:pPr>
            <a:endParaRPr lang="en-US" altLang="ko-KR" sz="1400" dirty="0"/>
          </a:p>
          <a:p>
            <a:pPr marL="342900" indent="-342900">
              <a:buFont typeface="+mj-lt"/>
              <a:buAutoNum type="arabicParenR"/>
            </a:pPr>
            <a:endParaRPr lang="en-US" altLang="ko-KR" sz="1400" dirty="0"/>
          </a:p>
          <a:p>
            <a:pPr marL="342900" indent="-342900">
              <a:buFont typeface="+mj-lt"/>
              <a:buAutoNum type="arabicParenR"/>
            </a:pPr>
            <a:endParaRPr lang="en-US" altLang="ko-KR" sz="1400" dirty="0"/>
          </a:p>
          <a:p>
            <a:pPr marL="342900" indent="-342900">
              <a:buFont typeface="+mj-lt"/>
              <a:buAutoNum type="arabicParenR"/>
            </a:pPr>
            <a:endParaRPr lang="en-US" altLang="ko-KR" sz="1400" dirty="0"/>
          </a:p>
          <a:p>
            <a:pPr marL="342900" indent="-342900">
              <a:buFont typeface="+mj-lt"/>
              <a:buAutoNum type="arabicParenR"/>
            </a:pPr>
            <a:endParaRPr lang="en-US" altLang="ko-KR" sz="1400" dirty="0"/>
          </a:p>
          <a:p>
            <a:pPr marL="342900" indent="-342900">
              <a:buFont typeface="+mj-lt"/>
              <a:buAutoNum type="arabicParenR"/>
            </a:pPr>
            <a:endParaRPr lang="en-US" altLang="ko-KR" sz="1400" dirty="0"/>
          </a:p>
          <a:p>
            <a:pPr marL="342900" indent="-342900">
              <a:buFont typeface="+mj-lt"/>
              <a:buAutoNum type="arabicParenR"/>
            </a:pPr>
            <a:r>
              <a:rPr lang="en-US" altLang="ko-KR" sz="1400" dirty="0" err="1"/>
              <a:t>vv</a:t>
            </a:r>
            <a:r>
              <a:rPr lang="ko-KR" altLang="en-US" sz="1400" dirty="0"/>
              <a:t> 눌러서 </a:t>
            </a:r>
            <a:r>
              <a:rPr lang="en-US" altLang="ko-KR" sz="1400" dirty="0"/>
              <a:t>Model Categories </a:t>
            </a:r>
            <a:r>
              <a:rPr lang="ko-KR" altLang="en-US" sz="1400" dirty="0"/>
              <a:t>제외 나머지 탭들 비활성화</a:t>
            </a:r>
            <a:endParaRPr lang="en-US" altLang="ko-KR" sz="140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1A60DA9-90CB-A425-B5C1-9EE5CDC2B4CD}"/>
              </a:ext>
            </a:extLst>
          </p:cNvPr>
          <p:cNvGrpSpPr/>
          <p:nvPr/>
        </p:nvGrpSpPr>
        <p:grpSpPr>
          <a:xfrm>
            <a:off x="1997096" y="4841178"/>
            <a:ext cx="3377317" cy="2016822"/>
            <a:chOff x="1997096" y="4584603"/>
            <a:chExt cx="3377317" cy="2016822"/>
          </a:xfrm>
        </p:grpSpPr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735D8C47-F9D3-C138-0A55-0A20D7D23B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250" b="17992"/>
            <a:stretch>
              <a:fillRect/>
            </a:stretch>
          </p:blipFill>
          <p:spPr>
            <a:xfrm>
              <a:off x="1997096" y="4584603"/>
              <a:ext cx="3377317" cy="2016822"/>
            </a:xfrm>
            <a:prstGeom prst="rect">
              <a:avLst/>
            </a:prstGeom>
          </p:spPr>
        </p:pic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53EAD6F9-AFB5-94E8-7A55-CB549C432552}"/>
                </a:ext>
              </a:extLst>
            </p:cNvPr>
            <p:cNvSpPr/>
            <p:nvPr/>
          </p:nvSpPr>
          <p:spPr>
            <a:xfrm>
              <a:off x="2353635" y="4687200"/>
              <a:ext cx="1909140" cy="114369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289710FE-7366-7063-0227-5F88DAD555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0863064"/>
              </p:ext>
            </p:extLst>
          </p:nvPr>
        </p:nvGraphicFramePr>
        <p:xfrm>
          <a:off x="1997096" y="3168203"/>
          <a:ext cx="2961268" cy="111081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953212">
                  <a:extLst>
                    <a:ext uri="{9D8B030D-6E8A-4147-A177-3AD203B41FA5}">
                      <a16:colId xmlns:a16="http://schemas.microsoft.com/office/drawing/2014/main" val="1591222167"/>
                    </a:ext>
                  </a:extLst>
                </a:gridCol>
                <a:gridCol w="2008056">
                  <a:extLst>
                    <a:ext uri="{9D8B030D-6E8A-4147-A177-3AD203B41FA5}">
                      <a16:colId xmlns:a16="http://schemas.microsoft.com/office/drawing/2014/main" val="3422840584"/>
                    </a:ext>
                  </a:extLst>
                </a:gridCol>
              </a:tblGrid>
              <a:tr h="2464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dirty="0"/>
                        <a:t>구분</a:t>
                      </a:r>
                    </a:p>
                  </a:txBody>
                  <a:tcPr marL="60981" marR="60981" marT="30491" marB="30491"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dirty="0"/>
                        <a:t>Detail Level</a:t>
                      </a:r>
                      <a:endParaRPr lang="ko-KR" altLang="en-US" sz="1200" dirty="0"/>
                    </a:p>
                  </a:txBody>
                  <a:tcPr marL="60981" marR="60981" marT="30491" marB="30491"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351433"/>
                  </a:ext>
                </a:extLst>
              </a:tr>
              <a:tr h="4321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 dirty="0"/>
                        <a:t>Cable tray</a:t>
                      </a:r>
                      <a:endParaRPr lang="ko-KR" altLang="en-US" sz="1400" b="0" dirty="0"/>
                    </a:p>
                  </a:txBody>
                  <a:tcPr marL="60981" marR="60981" marT="30491" marB="30491"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 dirty="0"/>
                        <a:t>medium</a:t>
                      </a:r>
                      <a:endParaRPr lang="ko-KR" altLang="en-US" sz="1400" b="0" dirty="0"/>
                    </a:p>
                  </a:txBody>
                  <a:tcPr marL="60981" marR="60981" marT="30491" marB="30491"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8065308"/>
                  </a:ext>
                </a:extLst>
              </a:tr>
              <a:tr h="4321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dirty="0"/>
                        <a:t>나머지 객체</a:t>
                      </a:r>
                    </a:p>
                  </a:txBody>
                  <a:tcPr marL="60981" marR="60981" marT="30491" marB="30491"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dirty="0"/>
                        <a:t>fine</a:t>
                      </a:r>
                    </a:p>
                  </a:txBody>
                  <a:tcPr marL="60981" marR="60981" marT="30491" marB="30491"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7313588"/>
                  </a:ext>
                </a:extLst>
              </a:tr>
            </a:tbl>
          </a:graphicData>
        </a:graphic>
      </p:graphicFrame>
      <p:sp>
        <p:nvSpPr>
          <p:cNvPr id="40" name="타원 39">
            <a:extLst>
              <a:ext uri="{FF2B5EF4-FFF2-40B4-BE49-F238E27FC236}">
                <a16:creationId xmlns:a16="http://schemas.microsoft.com/office/drawing/2014/main" id="{35E10EC7-B8A9-5F27-9980-2A0E5F0DA8CE}"/>
              </a:ext>
            </a:extLst>
          </p:cNvPr>
          <p:cNvSpPr/>
          <p:nvPr/>
        </p:nvSpPr>
        <p:spPr>
          <a:xfrm>
            <a:off x="561398" y="1195093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3EB9159-21AE-EE7B-BB69-47B7E447C895}"/>
              </a:ext>
            </a:extLst>
          </p:cNvPr>
          <p:cNvSpPr txBox="1"/>
          <p:nvPr/>
        </p:nvSpPr>
        <p:spPr>
          <a:xfrm>
            <a:off x="953364" y="1138535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</a:rPr>
              <a:t>NWC, NWF, NWD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4499C3A-84AB-4279-9A63-1D51BD446666}"/>
              </a:ext>
            </a:extLst>
          </p:cNvPr>
          <p:cNvSpPr txBox="1"/>
          <p:nvPr/>
        </p:nvSpPr>
        <p:spPr>
          <a:xfrm>
            <a:off x="1288473" y="2505521"/>
            <a:ext cx="64160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sz="1400" b="1" dirty="0"/>
              <a:t>NWC </a:t>
            </a:r>
            <a:r>
              <a:rPr lang="ko-KR" altLang="en-US" sz="1400" b="1" dirty="0" err="1"/>
              <a:t>추출시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REVIT </a:t>
            </a:r>
            <a:r>
              <a:rPr lang="ko-KR" altLang="en-US" sz="1400" b="1" dirty="0" err="1"/>
              <a:t>설정값</a:t>
            </a:r>
            <a:endParaRPr lang="en-US" altLang="ko-KR" sz="1400" b="1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10A532-94F4-74CD-AEDE-02C7F1375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7701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791542-7353-6736-B4C1-E0E626E26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>
            <a:extLst>
              <a:ext uri="{FF2B5EF4-FFF2-40B4-BE49-F238E27FC236}">
                <a16:creationId xmlns:a16="http://schemas.microsoft.com/office/drawing/2014/main" id="{80BF3749-4449-E5CF-989C-A041591ACF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4296" y="1902225"/>
            <a:ext cx="2967246" cy="245998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75A7FBF-59AF-B74B-A7C5-327867903D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6144" y="1939269"/>
            <a:ext cx="3594115" cy="2949989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25F0CAF7-BA12-24FF-C203-41B1D8B02F17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865D7DA-96CC-DD96-DD57-EB4ADDE4ADBF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73D0DE-A162-EB6E-51BD-FDE35B1F5C97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납품 파일 추출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4098D0-8B01-BECD-8861-2085823CC9B1}"/>
              </a:ext>
            </a:extLst>
          </p:cNvPr>
          <p:cNvSpPr txBox="1"/>
          <p:nvPr/>
        </p:nvSpPr>
        <p:spPr>
          <a:xfrm>
            <a:off x="739754" y="1264691"/>
            <a:ext cx="64160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US" altLang="ko-KR" sz="1400" b="1" dirty="0"/>
              <a:t>NWC </a:t>
            </a:r>
            <a:r>
              <a:rPr lang="ko-KR" altLang="en-US" sz="1400" b="1" dirty="0" err="1"/>
              <a:t>추출시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Navisworks</a:t>
            </a:r>
            <a:r>
              <a:rPr lang="ko-KR" altLang="en-US" sz="1400" b="1" dirty="0"/>
              <a:t> </a:t>
            </a:r>
            <a:r>
              <a:rPr lang="ko-KR" altLang="en-US" sz="1400" b="1" dirty="0" err="1"/>
              <a:t>설정값</a:t>
            </a:r>
            <a:endParaRPr lang="en-US" altLang="ko-KR" sz="1400" b="1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8FFBBD0-128F-A44E-A3E1-A485AEABA7E6}"/>
              </a:ext>
            </a:extLst>
          </p:cNvPr>
          <p:cNvGrpSpPr/>
          <p:nvPr/>
        </p:nvGrpSpPr>
        <p:grpSpPr>
          <a:xfrm>
            <a:off x="1012804" y="1791656"/>
            <a:ext cx="10883344" cy="4334209"/>
            <a:chOff x="1022329" y="2112773"/>
            <a:chExt cx="10883344" cy="4334209"/>
          </a:xfrm>
        </p:grpSpPr>
        <p:sp>
          <p:nvSpPr>
            <p:cNvPr id="8" name="제목 1">
              <a:extLst>
                <a:ext uri="{FF2B5EF4-FFF2-40B4-BE49-F238E27FC236}">
                  <a16:creationId xmlns:a16="http://schemas.microsoft.com/office/drawing/2014/main" id="{8744AAA2-1763-025D-D7D4-E152C5290DC9}"/>
                </a:ext>
              </a:extLst>
            </p:cNvPr>
            <p:cNvSpPr txBox="1">
              <a:spLocks/>
            </p:cNvSpPr>
            <p:nvPr/>
          </p:nvSpPr>
          <p:spPr>
            <a:xfrm>
              <a:off x="5410921" y="5383324"/>
              <a:ext cx="6477181" cy="101782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square" lIns="35992" tIns="46790" rIns="35992" bIns="46790" anchor="t"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lang="ko-KR" altLang="en-US" sz="16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Arial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5pPr>
              <a:lvl6pPr marL="457098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6pPr>
              <a:lvl7pPr marL="914195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7pPr>
              <a:lvl8pPr marL="1371293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8pPr>
              <a:lvl9pPr marL="1828390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9pPr>
            </a:lstStyle>
            <a:p>
              <a:pPr marL="342900" indent="-342900" defTabSz="914400" latinLnBrk="0">
                <a:buAutoNum type="arabicParenR"/>
              </a:pPr>
              <a:r>
                <a:rPr lang="en-US" altLang="ko-KR" sz="1500" b="0" dirty="0"/>
                <a:t>Navisworks Tool </a:t>
              </a:r>
              <a:r>
                <a:rPr lang="ko-KR" altLang="en-US" sz="1500" b="0" dirty="0"/>
                <a:t>실행</a:t>
              </a:r>
              <a:endParaRPr lang="en-US" altLang="ko-KR" sz="1500" b="0" dirty="0"/>
            </a:p>
            <a:p>
              <a:pPr marL="342900" indent="-342900" defTabSz="914400" latinLnBrk="0">
                <a:buAutoNum type="arabicParenR"/>
              </a:pPr>
              <a:r>
                <a:rPr lang="en-US" altLang="ko-KR" sz="1500" b="0" dirty="0"/>
                <a:t>Settings </a:t>
              </a:r>
              <a:r>
                <a:rPr lang="ko-KR" altLang="en-US" sz="1500" b="0" dirty="0"/>
                <a:t>창 설정</a:t>
              </a:r>
              <a:endParaRPr lang="en-US" altLang="ko-KR" sz="1500" b="0" dirty="0"/>
            </a:p>
            <a:p>
              <a:pPr marL="342900" indent="-342900" defTabSz="914400" latinLnBrk="0">
                <a:buAutoNum type="arabicParenR"/>
              </a:pPr>
              <a:r>
                <a:rPr lang="ko-KR" altLang="en-US" sz="1500" b="0" dirty="0"/>
                <a:t>그림과 같이 동일한 설정 </a:t>
              </a:r>
              <a:endParaRPr lang="en-US" altLang="ko-KR" sz="1500" b="0" dirty="0"/>
            </a:p>
            <a:p>
              <a:pPr marL="342900" indent="-342900" defTabSz="914400" latinLnBrk="0">
                <a:buAutoNum type="arabicParenR"/>
              </a:pPr>
              <a:r>
                <a:rPr lang="ko-KR" altLang="en-US" sz="1500" b="0" dirty="0"/>
                <a:t>해당 사항 체크 필요 </a:t>
              </a:r>
              <a:r>
                <a:rPr lang="en-US" altLang="ko-KR" sz="1500" b="0" dirty="0"/>
                <a:t>(</a:t>
              </a:r>
              <a:r>
                <a:rPr lang="ko-KR" altLang="en-US" sz="1500" b="0" dirty="0"/>
                <a:t>공동 작업 및 </a:t>
              </a:r>
              <a:r>
                <a:rPr lang="ko-KR" altLang="en-US" sz="1500" b="0" dirty="0" err="1"/>
                <a:t>확인시</a:t>
              </a:r>
              <a:r>
                <a:rPr lang="ko-KR" altLang="en-US" sz="1500" b="0" dirty="0"/>
                <a:t> 필요항목</a:t>
              </a:r>
              <a:r>
                <a:rPr lang="en-US" altLang="ko-KR" sz="1500" b="0" dirty="0"/>
                <a:t>)</a:t>
              </a:r>
              <a:r>
                <a:rPr lang="ko-KR" altLang="en-US" sz="1500" b="0" dirty="0"/>
                <a:t> </a:t>
              </a:r>
              <a:endParaRPr lang="en-US" altLang="ko-KR" sz="1500" b="0" dirty="0"/>
            </a:p>
          </p:txBody>
        </p: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E565AC8C-DE59-C235-A686-5BA700406E3A}"/>
                </a:ext>
              </a:extLst>
            </p:cNvPr>
            <p:cNvGrpSpPr/>
            <p:nvPr/>
          </p:nvGrpSpPr>
          <p:grpSpPr>
            <a:xfrm>
              <a:off x="1022329" y="2194595"/>
              <a:ext cx="3916840" cy="1435296"/>
              <a:chOff x="1022329" y="2194595"/>
              <a:chExt cx="3916840" cy="1435296"/>
            </a:xfrm>
          </p:grpSpPr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8BD6A2A0-F06C-0B51-EB30-A9F600C41C4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t="17421"/>
              <a:stretch/>
            </p:blipFill>
            <p:spPr>
              <a:xfrm>
                <a:off x="1022329" y="2194595"/>
                <a:ext cx="3916840" cy="1435296"/>
              </a:xfrm>
              <a:prstGeom prst="rect">
                <a:avLst/>
              </a:prstGeom>
            </p:spPr>
          </p:pic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59EA6537-9425-79E2-8DA6-6BADA53E107D}"/>
                  </a:ext>
                </a:extLst>
              </p:cNvPr>
              <p:cNvSpPr/>
              <p:nvPr/>
            </p:nvSpPr>
            <p:spPr>
              <a:xfrm>
                <a:off x="1572253" y="2919146"/>
                <a:ext cx="829202" cy="224055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3" name="제목 1">
                <a:extLst>
                  <a:ext uri="{FF2B5EF4-FFF2-40B4-BE49-F238E27FC236}">
                    <a16:creationId xmlns:a16="http://schemas.microsoft.com/office/drawing/2014/main" id="{C5061374-86F2-214B-EBD4-77D07C16825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53231" y="2855974"/>
                <a:ext cx="238929" cy="325326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square" lIns="35992" tIns="46790" rIns="35992" bIns="46790" anchor="t">
                <a:spAutoFit/>
              </a:bodyPr>
              <a:lstStyle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lang="ko-KR" altLang="en-US" sz="1600" b="1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Arial" pitchFamily="34" charset="0"/>
                  </a:defRPr>
                </a:lvl1pPr>
                <a:lvl2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2pPr>
                <a:lvl3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3pPr>
                <a:lvl4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4pPr>
                <a:lvl5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5pPr>
                <a:lvl6pPr marL="457098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6pPr>
                <a:lvl7pPr marL="914195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7pPr>
                <a:lvl8pPr marL="1371293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8pPr>
                <a:lvl9pPr marL="1828390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9pPr>
              </a:lstStyle>
              <a:p>
                <a:pPr defTabSz="914400" latinLnBrk="0"/>
                <a:r>
                  <a:rPr lang="ko-KR" altLang="en-US" sz="1500" dirty="0">
                    <a:solidFill>
                      <a:srgbClr val="FF0000"/>
                    </a:solidFill>
                  </a:rPr>
                  <a:t>①</a:t>
                </a:r>
                <a:endParaRPr lang="en-US" altLang="ko-KR" sz="15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2548CC3A-DCB6-81C6-6085-6D97E0B50C0E}"/>
                </a:ext>
              </a:extLst>
            </p:cNvPr>
            <p:cNvGrpSpPr/>
            <p:nvPr/>
          </p:nvGrpSpPr>
          <p:grpSpPr>
            <a:xfrm>
              <a:off x="1052455" y="3663435"/>
              <a:ext cx="4237250" cy="2783547"/>
              <a:chOff x="1645262" y="4113402"/>
              <a:chExt cx="3935260" cy="2585163"/>
            </a:xfrm>
          </p:grpSpPr>
          <p:pic>
            <p:nvPicPr>
              <p:cNvPr id="14" name="그림 13">
                <a:extLst>
                  <a:ext uri="{FF2B5EF4-FFF2-40B4-BE49-F238E27FC236}">
                    <a16:creationId xmlns:a16="http://schemas.microsoft.com/office/drawing/2014/main" id="{20863D75-185A-5178-8922-B556762C6E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45262" y="4113402"/>
                <a:ext cx="3935260" cy="2585163"/>
              </a:xfrm>
              <a:prstGeom prst="rect">
                <a:avLst/>
              </a:prstGeom>
            </p:spPr>
          </p:pic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00F693FE-5BC7-8D43-6C8A-C7DB0BCFDE76}"/>
                  </a:ext>
                </a:extLst>
              </p:cNvPr>
              <p:cNvSpPr/>
              <p:nvPr/>
            </p:nvSpPr>
            <p:spPr>
              <a:xfrm>
                <a:off x="2238757" y="6508682"/>
                <a:ext cx="1354187" cy="120718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6" name="제목 1">
                <a:extLst>
                  <a:ext uri="{FF2B5EF4-FFF2-40B4-BE49-F238E27FC236}">
                    <a16:creationId xmlns:a16="http://schemas.microsoft.com/office/drawing/2014/main" id="{612AA23B-A208-9975-0E2A-8B6E36E1FBE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27723" y="6183356"/>
                <a:ext cx="211034" cy="325326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square" lIns="35992" tIns="46790" rIns="35992" bIns="46790" anchor="t">
                <a:spAutoFit/>
              </a:bodyPr>
              <a:lstStyle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lang="ko-KR" altLang="en-US" sz="1600" b="1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Arial" pitchFamily="34" charset="0"/>
                  </a:defRPr>
                </a:lvl1pPr>
                <a:lvl2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2pPr>
                <a:lvl3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3pPr>
                <a:lvl4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4pPr>
                <a:lvl5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5pPr>
                <a:lvl6pPr marL="457098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6pPr>
                <a:lvl7pPr marL="914195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7pPr>
                <a:lvl8pPr marL="1371293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8pPr>
                <a:lvl9pPr marL="1828390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9pPr>
              </a:lstStyle>
              <a:p>
                <a:pPr defTabSz="914400" latinLnBrk="0"/>
                <a:r>
                  <a:rPr lang="ko-KR" altLang="en-US" sz="1500" dirty="0">
                    <a:solidFill>
                      <a:srgbClr val="FF0000"/>
                    </a:solidFill>
                  </a:rPr>
                  <a:t>②</a:t>
                </a:r>
                <a:endParaRPr lang="en-US" altLang="ko-KR" sz="150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EB9AB29-367D-13CC-B1DF-DE226EB29CE3}"/>
                </a:ext>
              </a:extLst>
            </p:cNvPr>
            <p:cNvSpPr/>
            <p:nvPr/>
          </p:nvSpPr>
          <p:spPr>
            <a:xfrm>
              <a:off x="5289706" y="2223342"/>
              <a:ext cx="3463929" cy="298703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9" name="제목 1">
              <a:extLst>
                <a:ext uri="{FF2B5EF4-FFF2-40B4-BE49-F238E27FC236}">
                  <a16:creationId xmlns:a16="http://schemas.microsoft.com/office/drawing/2014/main" id="{B0AB0BC6-6CB0-A144-99CC-D6D18A44F131}"/>
                </a:ext>
              </a:extLst>
            </p:cNvPr>
            <p:cNvSpPr txBox="1">
              <a:spLocks/>
            </p:cNvSpPr>
            <p:nvPr/>
          </p:nvSpPr>
          <p:spPr>
            <a:xfrm>
              <a:off x="5008920" y="2112773"/>
              <a:ext cx="211034" cy="325326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square" lIns="35992" tIns="46790" rIns="35992" bIns="46790" anchor="t"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lang="ko-KR" altLang="en-US" sz="16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Arial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5pPr>
              <a:lvl6pPr marL="457098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6pPr>
              <a:lvl7pPr marL="914195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7pPr>
              <a:lvl8pPr marL="1371293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8pPr>
              <a:lvl9pPr marL="1828390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9pPr>
            </a:lstStyle>
            <a:p>
              <a:pPr defTabSz="914400" latinLnBrk="0"/>
              <a:r>
                <a:rPr lang="ko-KR" altLang="en-US" sz="1500" dirty="0">
                  <a:solidFill>
                    <a:srgbClr val="FF0000"/>
                  </a:solidFill>
                </a:rPr>
                <a:t>③</a:t>
              </a:r>
              <a:endParaRPr lang="en-US" altLang="ko-KR" sz="1500" dirty="0">
                <a:solidFill>
                  <a:srgbClr val="FF0000"/>
                </a:solidFill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B04049F3-67A3-EB1F-64A0-A3AC47BB69C2}"/>
                </a:ext>
              </a:extLst>
            </p:cNvPr>
            <p:cNvSpPr/>
            <p:nvPr/>
          </p:nvSpPr>
          <p:spPr>
            <a:xfrm>
              <a:off x="1022329" y="2161051"/>
              <a:ext cx="10883344" cy="428593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1B69145B-DF4F-4F0F-A7BE-47AAF8666CD7}"/>
                </a:ext>
              </a:extLst>
            </p:cNvPr>
            <p:cNvGrpSpPr/>
            <p:nvPr/>
          </p:nvGrpSpPr>
          <p:grpSpPr>
            <a:xfrm>
              <a:off x="8808240" y="2227977"/>
              <a:ext cx="3042827" cy="2492395"/>
              <a:chOff x="8711932" y="2422722"/>
              <a:chExt cx="3042827" cy="2492395"/>
            </a:xfrm>
          </p:grpSpPr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CD8892A0-FC51-B158-0EB7-F517010F879D}"/>
                  </a:ext>
                </a:extLst>
              </p:cNvPr>
              <p:cNvSpPr/>
              <p:nvPr/>
            </p:nvSpPr>
            <p:spPr>
              <a:xfrm>
                <a:off x="9556381" y="3740132"/>
                <a:ext cx="1315769" cy="128275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22" name="제목 1">
                <a:extLst>
                  <a:ext uri="{FF2B5EF4-FFF2-40B4-BE49-F238E27FC236}">
                    <a16:creationId xmlns:a16="http://schemas.microsoft.com/office/drawing/2014/main" id="{EE542D24-B180-749E-A226-E60107EDE65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266767" y="3574400"/>
                <a:ext cx="231245" cy="325326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square" lIns="35992" tIns="46790" rIns="35992" bIns="46790" anchor="t">
                <a:spAutoFit/>
              </a:bodyPr>
              <a:lstStyle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lang="ko-KR" altLang="en-US" sz="1600" b="1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Arial" pitchFamily="34" charset="0"/>
                  </a:defRPr>
                </a:lvl1pPr>
                <a:lvl2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2pPr>
                <a:lvl3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3pPr>
                <a:lvl4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4pPr>
                <a:lvl5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5pPr>
                <a:lvl6pPr marL="457098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6pPr>
                <a:lvl7pPr marL="914195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7pPr>
                <a:lvl8pPr marL="1371293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8pPr>
                <a:lvl9pPr marL="1828390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9pPr>
              </a:lstStyle>
              <a:p>
                <a:pPr defTabSz="914400" latinLnBrk="0"/>
                <a:r>
                  <a:rPr lang="ko-KR" altLang="en-US" sz="1500" dirty="0">
                    <a:solidFill>
                      <a:srgbClr val="FF0000"/>
                    </a:solidFill>
                  </a:rPr>
                  <a:t>④</a:t>
                </a:r>
                <a:endParaRPr lang="en-US" altLang="ko-KR" sz="15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25D37768-3E52-F4B6-0E0B-6179EA4636FE}"/>
                  </a:ext>
                </a:extLst>
              </p:cNvPr>
              <p:cNvSpPr/>
              <p:nvPr/>
            </p:nvSpPr>
            <p:spPr>
              <a:xfrm>
                <a:off x="8711932" y="2422722"/>
                <a:ext cx="3042827" cy="2492395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2277F1D-24E1-DE06-B964-91A60CDE3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14451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E33D61-C248-4571-DBF1-A41EA7EDA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E316C19-900D-395F-A253-4E6AC0FE5DCB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3BC0541-4BCD-913C-BC5B-B46F31B9B910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F33653-0DD6-A70F-C10E-65AA67BFF591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납품 파일 추출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7D152DBA-3BFD-E7A7-BC0B-43A7F101EA1F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B6537A2-17A3-45D1-5AFA-D30073190E70}"/>
              </a:ext>
            </a:extLst>
          </p:cNvPr>
          <p:cNvSpPr txBox="1"/>
          <p:nvPr/>
        </p:nvSpPr>
        <p:spPr>
          <a:xfrm>
            <a:off x="917574" y="1353582"/>
            <a:ext cx="472584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</a:rPr>
              <a:t>NWC, NWF, NWD</a:t>
            </a:r>
          </a:p>
          <a:p>
            <a:r>
              <a:rPr lang="en-US" altLang="ko-KR" sz="2000" b="1" dirty="0"/>
              <a:t> </a:t>
            </a:r>
          </a:p>
          <a:p>
            <a:endParaRPr lang="en-US" altLang="ko-KR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6002FE-60D1-6DF8-34FC-F083E80AF45A}"/>
              </a:ext>
            </a:extLst>
          </p:cNvPr>
          <p:cNvSpPr txBox="1"/>
          <p:nvPr/>
        </p:nvSpPr>
        <p:spPr>
          <a:xfrm>
            <a:off x="843684" y="2123997"/>
            <a:ext cx="814329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b="1" dirty="0"/>
              <a:t>NWF</a:t>
            </a:r>
            <a:r>
              <a:rPr lang="en-US" altLang="ko-KR" dirty="0"/>
              <a:t> (Navisworks File)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dirty="0"/>
          </a:p>
          <a:p>
            <a:r>
              <a:rPr lang="en-US" altLang="ko-KR" sz="1400" dirty="0"/>
              <a:t>    - NWC </a:t>
            </a:r>
            <a:r>
              <a:rPr lang="ko-KR" altLang="en-US" sz="1400" dirty="0"/>
              <a:t>링크만 들고 있는 작업파일</a:t>
            </a:r>
            <a:endParaRPr lang="en-US" altLang="ko-KR" sz="1400" dirty="0"/>
          </a:p>
          <a:p>
            <a:r>
              <a:rPr lang="en-US" altLang="ko-KR" sz="1400" dirty="0"/>
              <a:t>    - NWC</a:t>
            </a:r>
            <a:r>
              <a:rPr lang="ko-KR" altLang="en-US" sz="1400" dirty="0"/>
              <a:t>와 연동 되어 있으므로 </a:t>
            </a:r>
            <a:r>
              <a:rPr lang="en-US" altLang="ko-KR" sz="1400" dirty="0"/>
              <a:t>NWC</a:t>
            </a:r>
            <a:r>
              <a:rPr lang="ko-KR" altLang="en-US" sz="1400" dirty="0"/>
              <a:t>의 위치 옮길 경우 경로 재설정 필요</a:t>
            </a:r>
            <a:endParaRPr lang="en-US" altLang="ko-KR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CB7683-4FC1-8A44-0740-A985A152764F}"/>
              </a:ext>
            </a:extLst>
          </p:cNvPr>
          <p:cNvSpPr txBox="1"/>
          <p:nvPr/>
        </p:nvSpPr>
        <p:spPr>
          <a:xfrm>
            <a:off x="843684" y="3426720"/>
            <a:ext cx="398289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b="1" dirty="0"/>
              <a:t>NWD</a:t>
            </a:r>
          </a:p>
          <a:p>
            <a:r>
              <a:rPr lang="en-US" altLang="ko-KR" sz="1400" dirty="0"/>
              <a:t>  </a:t>
            </a:r>
          </a:p>
          <a:p>
            <a:r>
              <a:rPr lang="en-US" altLang="ko-KR" sz="1400" dirty="0"/>
              <a:t>   - </a:t>
            </a:r>
            <a:r>
              <a:rPr lang="ko-KR" altLang="en-US" sz="1400" dirty="0"/>
              <a:t>납품 시 </a:t>
            </a:r>
            <a:r>
              <a:rPr lang="en-US" altLang="ko-KR" sz="1400" dirty="0"/>
              <a:t>NWD </a:t>
            </a:r>
            <a:r>
              <a:rPr lang="ko-KR" altLang="en-US" sz="1400" dirty="0"/>
              <a:t>파일로 제출</a:t>
            </a:r>
            <a:r>
              <a:rPr lang="en-US" altLang="ko-KR" sz="1400" dirty="0"/>
              <a:t>, </a:t>
            </a:r>
            <a:r>
              <a:rPr lang="ko-KR" altLang="en-US" sz="1400" dirty="0"/>
              <a:t>읽기 전용 파일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C7C36FD-5B5C-EF15-0658-4CE22A36F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834898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0E8F42-FAD1-7EF3-7ED3-1ADD959EF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41AE515-3692-D97C-6EF4-F4609B5E6DFE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3124ECC-CB73-9D34-8F58-517C3F5CECF6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C858F1-E47C-A359-0DD6-E39FF53699A4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납품 파일 추출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3C65BB2-D1D6-195A-40CB-81D7F171CBE4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7722365-D0ED-BB92-A10F-1A027B68E8F2}"/>
              </a:ext>
            </a:extLst>
          </p:cNvPr>
          <p:cNvSpPr txBox="1"/>
          <p:nvPr/>
        </p:nvSpPr>
        <p:spPr>
          <a:xfrm>
            <a:off x="917574" y="1353582"/>
            <a:ext cx="47258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</a:rPr>
              <a:t>IFC</a:t>
            </a:r>
            <a:r>
              <a:rPr lang="en-US" altLang="ko-KR" sz="2000" b="1" dirty="0"/>
              <a:t> </a:t>
            </a:r>
          </a:p>
          <a:p>
            <a:endParaRPr lang="en-US" altLang="ko-KR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D4B236-9AE7-1ADC-95F3-577BA94BBC20}"/>
              </a:ext>
            </a:extLst>
          </p:cNvPr>
          <p:cNvSpPr txBox="1"/>
          <p:nvPr/>
        </p:nvSpPr>
        <p:spPr>
          <a:xfrm>
            <a:off x="843684" y="1938358"/>
            <a:ext cx="5704899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1. IFC</a:t>
            </a:r>
            <a:r>
              <a:rPr lang="en-US" altLang="ko-KR" dirty="0"/>
              <a:t> (Industry Foundation Classes)</a:t>
            </a:r>
          </a:p>
          <a:p>
            <a:r>
              <a:rPr lang="en-US" altLang="ko-KR" dirty="0"/>
              <a:t>    </a:t>
            </a:r>
          </a:p>
          <a:p>
            <a:r>
              <a:rPr lang="en-US" altLang="ko-KR" sz="1400" dirty="0"/>
              <a:t>    - BIM </a:t>
            </a:r>
            <a:r>
              <a:rPr lang="ko-KR" altLang="en-US" sz="1400" dirty="0"/>
              <a:t>표준 교환 포맷</a:t>
            </a:r>
            <a:r>
              <a:rPr lang="en-US" altLang="ko-KR" sz="1400" dirty="0"/>
              <a:t>, </a:t>
            </a:r>
            <a:r>
              <a:rPr lang="ko-KR" altLang="en-US" sz="1400" dirty="0"/>
              <a:t>타 프로그램과 호환성이 높음</a:t>
            </a:r>
            <a:endParaRPr lang="en-US" altLang="ko-KR" sz="1400" dirty="0"/>
          </a:p>
          <a:p>
            <a:r>
              <a:rPr lang="en-US" altLang="ko-KR" sz="1400" dirty="0"/>
              <a:t>    - </a:t>
            </a:r>
            <a:r>
              <a:rPr lang="en-US" altLang="ko-KR" dirty="0" err="1"/>
              <a:t>ifc</a:t>
            </a:r>
            <a:r>
              <a:rPr lang="en-US" altLang="ko-KR" dirty="0"/>
              <a:t> class mapping</a:t>
            </a:r>
            <a:r>
              <a:rPr lang="en-US" altLang="ko-KR" sz="1400" dirty="0"/>
              <a:t> </a:t>
            </a:r>
            <a:r>
              <a:rPr lang="ko-KR" altLang="en-US" sz="1400" dirty="0"/>
              <a:t>필요</a:t>
            </a:r>
            <a:endParaRPr lang="en-US" altLang="ko-KR" sz="1400" dirty="0"/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7DE4ACFD-6C31-CDDE-D4CD-B77D82019E81}"/>
              </a:ext>
            </a:extLst>
          </p:cNvPr>
          <p:cNvGraphicFramePr>
            <a:graphicFrameLocks noGrp="1"/>
          </p:cNvGraphicFramePr>
          <p:nvPr/>
        </p:nvGraphicFramePr>
        <p:xfrm>
          <a:off x="843684" y="5658147"/>
          <a:ext cx="5338620" cy="771082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334655">
                  <a:extLst>
                    <a:ext uri="{9D8B030D-6E8A-4147-A177-3AD203B41FA5}">
                      <a16:colId xmlns:a16="http://schemas.microsoft.com/office/drawing/2014/main" val="2378669056"/>
                    </a:ext>
                  </a:extLst>
                </a:gridCol>
                <a:gridCol w="1334655">
                  <a:extLst>
                    <a:ext uri="{9D8B030D-6E8A-4147-A177-3AD203B41FA5}">
                      <a16:colId xmlns:a16="http://schemas.microsoft.com/office/drawing/2014/main" val="1974494224"/>
                    </a:ext>
                  </a:extLst>
                </a:gridCol>
                <a:gridCol w="1334655">
                  <a:extLst>
                    <a:ext uri="{9D8B030D-6E8A-4147-A177-3AD203B41FA5}">
                      <a16:colId xmlns:a16="http://schemas.microsoft.com/office/drawing/2014/main" val="797855479"/>
                    </a:ext>
                  </a:extLst>
                </a:gridCol>
                <a:gridCol w="1334655">
                  <a:extLst>
                    <a:ext uri="{9D8B030D-6E8A-4147-A177-3AD203B41FA5}">
                      <a16:colId xmlns:a16="http://schemas.microsoft.com/office/drawing/2014/main" val="4167254402"/>
                    </a:ext>
                  </a:extLst>
                </a:gridCol>
              </a:tblGrid>
              <a:tr h="3855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NWC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NWF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NWD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IFC</a:t>
                      </a:r>
                      <a:endParaRPr lang="ko-KR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93601"/>
                  </a:ext>
                </a:extLst>
              </a:tr>
              <a:tr h="3855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캐시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작업파일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제출용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표준호환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178180"/>
                  </a:ext>
                </a:extLst>
              </a:tr>
            </a:tbl>
          </a:graphicData>
        </a:graphic>
      </p:graphicFrame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4C4DD45-4BFA-ACD8-395D-0F9959D2A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024777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6F1DC4-9F56-2D29-4B91-3A67FA259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127804E-7EA4-CCCC-197B-771D3B32A782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F0701DA-6F80-E40E-4E9B-F6D39BD56612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D50EEB-0788-F2F7-6C61-14672F0597EE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납품 파일 추출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C14950E0-3646-5732-3149-567EF6BD0714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B0A954C-8BE0-738C-AA4F-0E292671149C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</a:rPr>
              <a:t>IFC</a:t>
            </a:r>
            <a:r>
              <a:rPr lang="en-US" altLang="ko-KR" sz="2000" b="1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A73F89-BA33-9326-F1C9-9A5300299280}"/>
              </a:ext>
            </a:extLst>
          </p:cNvPr>
          <p:cNvSpPr txBox="1"/>
          <p:nvPr/>
        </p:nvSpPr>
        <p:spPr>
          <a:xfrm>
            <a:off x="843684" y="1938358"/>
            <a:ext cx="91197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2. IFC CLASS Mapping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459762D6-583D-6AC4-B989-783FCF6E6E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205052"/>
              </p:ext>
            </p:extLst>
          </p:nvPr>
        </p:nvGraphicFramePr>
        <p:xfrm>
          <a:off x="1198542" y="2502594"/>
          <a:ext cx="8889752" cy="3246101"/>
        </p:xfrm>
        <a:graphic>
          <a:graphicData uri="http://schemas.openxmlformats.org/drawingml/2006/table">
            <a:tbl>
              <a:tblPr/>
              <a:tblGrid>
                <a:gridCol w="3487634">
                  <a:extLst>
                    <a:ext uri="{9D8B030D-6E8A-4147-A177-3AD203B41FA5}">
                      <a16:colId xmlns:a16="http://schemas.microsoft.com/office/drawing/2014/main" val="3376921678"/>
                    </a:ext>
                  </a:extLst>
                </a:gridCol>
                <a:gridCol w="2656536">
                  <a:extLst>
                    <a:ext uri="{9D8B030D-6E8A-4147-A177-3AD203B41FA5}">
                      <a16:colId xmlns:a16="http://schemas.microsoft.com/office/drawing/2014/main" val="2618293138"/>
                    </a:ext>
                  </a:extLst>
                </a:gridCol>
                <a:gridCol w="2745582">
                  <a:extLst>
                    <a:ext uri="{9D8B030D-6E8A-4147-A177-3AD203B41FA5}">
                      <a16:colId xmlns:a16="http://schemas.microsoft.com/office/drawing/2014/main" val="245566669"/>
                    </a:ext>
                  </a:extLst>
                </a:gridCol>
              </a:tblGrid>
              <a:tr h="36249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Revit Category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IfcExportAs</a:t>
                      </a:r>
                      <a:r>
                        <a:rPr lang="en-US" sz="15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(IFC2x3)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IfcExportAs</a:t>
                      </a:r>
                      <a:r>
                        <a:rPr lang="en-US" sz="15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(IFC4)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6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599455"/>
                  </a:ext>
                </a:extLst>
              </a:tr>
              <a:tr h="41194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Cable Tray Fittings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IfcCableCarrierFittingType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IfcCableCarrierFitting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611998"/>
                  </a:ext>
                </a:extLst>
              </a:tr>
              <a:tr h="41194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Cable Trays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IfcCableCarrierSegmentType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IfcCableCarrierSegment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7225938"/>
                  </a:ext>
                </a:extLst>
              </a:tr>
              <a:tr h="41194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Conduit Fittings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IfcCableCarrierFittingType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IfcCableCarrierFitting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376299"/>
                  </a:ext>
                </a:extLst>
              </a:tr>
              <a:tr h="41194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Conduits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IfcCableCarrierSegmentType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IfcCableCarrierSegment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807670"/>
                  </a:ext>
                </a:extLst>
              </a:tr>
              <a:tr h="41194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Electrical Equipment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IfcBuildingElementProxy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IfcBuildingElementProxy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707898"/>
                  </a:ext>
                </a:extLst>
              </a:tr>
              <a:tr h="41194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Electrical Fixtures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IfcBuildingElementProxy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IfcBuildingElementProxy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77171"/>
                  </a:ext>
                </a:extLst>
              </a:tr>
              <a:tr h="41194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Lighting Devices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IfcBuildingElementProxy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IfcBuildingElementProxy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83095"/>
                  </a:ext>
                </a:extLst>
              </a:tr>
            </a:tbl>
          </a:graphicData>
        </a:graphic>
      </p:graphicFrame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BDE3C7C3-ECEA-9C11-9259-64EB50539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26869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19EEA4-51EB-156B-2FE5-357098A6B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77A02E2-15E6-9DB4-00E7-2880F2895825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D182F52-ADD8-1AB4-F00C-F3F63F70B771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5FB26B-95F6-7B11-22F2-3CC34E74824E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납품 파일 추출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8B986CA6-A19D-086B-9C1B-30524D72E7E8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154D72B-35CD-46D0-A1D8-3F0793021343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</a:rPr>
              <a:t>IFC</a:t>
            </a:r>
            <a:r>
              <a:rPr lang="en-US" altLang="ko-KR" sz="2000" b="1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7E7D8A-62CB-9723-434B-8B7021E821E4}"/>
              </a:ext>
            </a:extLst>
          </p:cNvPr>
          <p:cNvSpPr txBox="1"/>
          <p:nvPr/>
        </p:nvSpPr>
        <p:spPr>
          <a:xfrm>
            <a:off x="843684" y="1938358"/>
            <a:ext cx="57048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3. IFC </a:t>
            </a:r>
            <a:r>
              <a:rPr lang="ko-KR" altLang="en-US" b="1" dirty="0"/>
              <a:t>추출 </a:t>
            </a:r>
            <a:r>
              <a:rPr lang="ko-KR" altLang="en-US" b="1" dirty="0" err="1"/>
              <a:t>설정값</a:t>
            </a:r>
            <a:r>
              <a:rPr lang="ko-KR" altLang="en-US" b="1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설정 값은 추후 변경 될 수 있음</a:t>
            </a:r>
            <a:r>
              <a:rPr lang="en-US" altLang="ko-KR" dirty="0"/>
              <a:t>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537378B-8423-FBAC-5DBC-B44679BF9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955" y="2460223"/>
            <a:ext cx="6253987" cy="19375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7381C31-0C1E-3E7E-7FD2-069E8204BD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" y="4691847"/>
            <a:ext cx="4410384" cy="193755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DE4D0DC-352E-FF13-8C5F-F96C9A489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52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19075EE-CF90-A419-13D5-34D981614C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969" y="2423828"/>
            <a:ext cx="3667556" cy="23022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D6E2DC2-4F8D-CEAC-E6D2-E8A8A6286D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2744" y="2401330"/>
            <a:ext cx="4990870" cy="31612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B5F346A2-41A3-48F1-9DD3-DFFBE300A3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9446" y="4575709"/>
            <a:ext cx="3769155" cy="20817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B17A141B-D791-CDDE-A45A-F0A76F10D1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0413" y="4677035"/>
            <a:ext cx="2743201" cy="20761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448742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977DEF-B8A5-A6C2-EF3B-6D67F0476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DC4394E-B50F-4C1D-0C82-B890C179BAF1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3724BA3-D549-B2C8-429A-849E1774A44A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18C69A-CC35-3986-B79F-EBB09FFAB284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납품 파일 추출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3117453-6CCE-003D-5A59-A3DFCD6ACC2D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3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13BA6E-846B-D993-47E6-6DE939E966DF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rgbClr val="CC4700"/>
                </a:solidFill>
              </a:rPr>
              <a:t>파일정리</a:t>
            </a:r>
            <a:endParaRPr lang="en-US" altLang="ko-KR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AF254A-5DAE-DE87-10B1-645E42643587}"/>
              </a:ext>
            </a:extLst>
          </p:cNvPr>
          <p:cNvSpPr txBox="1"/>
          <p:nvPr/>
        </p:nvSpPr>
        <p:spPr>
          <a:xfrm>
            <a:off x="843684" y="1956830"/>
            <a:ext cx="794933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400" dirty="0"/>
              <a:t>3d view </a:t>
            </a:r>
            <a:r>
              <a:rPr lang="ko-KR" altLang="en-US" sz="1400" dirty="0"/>
              <a:t>제외 </a:t>
            </a:r>
            <a:r>
              <a:rPr lang="ko-KR" altLang="en-US" sz="1400" dirty="0" err="1"/>
              <a:t>작업뷰들</a:t>
            </a:r>
            <a:r>
              <a:rPr lang="ko-KR" altLang="en-US" sz="1400" dirty="0"/>
              <a:t> 전체 삭제</a:t>
            </a:r>
            <a:r>
              <a:rPr lang="en-US" altLang="ko-KR" sz="1400" dirty="0"/>
              <a:t>(</a:t>
            </a:r>
            <a:r>
              <a:rPr lang="ko-KR" altLang="en-US" sz="1400" dirty="0"/>
              <a:t>수행계획서에 따라 변동 될 수 있음</a:t>
            </a:r>
            <a:r>
              <a:rPr lang="en-US" altLang="ko-KR" sz="1400" dirty="0"/>
              <a:t>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dirty="0"/>
              <a:t>패밀리명 중복 및 기준과 상이한지 확인</a:t>
            </a: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dirty="0"/>
              <a:t>미사용 패밀리 삭제</a:t>
            </a: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dirty="0"/>
              <a:t>링크 파일 삭제</a:t>
            </a: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dirty="0"/>
              <a:t>필터 삭제</a:t>
            </a:r>
            <a:endParaRPr lang="en-US" altLang="ko-KR" sz="14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8A36566-33B5-F137-D2F2-EF5C2D9CE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853978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6FC3CD-C320-AE3D-4267-B803DDB97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C994C81-2790-CBF0-01DD-ED86001D7047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FA85972-6CE7-7B09-D800-C11318B9930A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7A2412-FA40-7764-24B6-BB8034307DE9}"/>
              </a:ext>
            </a:extLst>
          </p:cNvPr>
          <p:cNvSpPr txBox="1"/>
          <p:nvPr/>
        </p:nvSpPr>
        <p:spPr>
          <a:xfrm>
            <a:off x="3708400" y="2523123"/>
            <a:ext cx="6604000" cy="2448927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marL="457200" indent="-457200">
              <a:buAutoNum type="arabicPeriod"/>
            </a:pPr>
            <a:r>
              <a:rPr lang="ko-KR" altLang="en-US" sz="2000" b="1" dirty="0">
                <a:solidFill>
                  <a:srgbClr val="CC4700"/>
                </a:solidFill>
              </a:rPr>
              <a:t>간섭 세팅</a:t>
            </a:r>
            <a:endParaRPr lang="en-US" altLang="ko-KR" sz="2000" b="1" dirty="0">
              <a:solidFill>
                <a:srgbClr val="CC4700"/>
              </a:solidFill>
            </a:endParaRPr>
          </a:p>
          <a:p>
            <a:pPr marL="457200" indent="-457200">
              <a:buAutoNum type="arabicPeriod"/>
            </a:pPr>
            <a:endParaRPr lang="en-US" altLang="ko-KR" sz="2000" b="1" dirty="0">
              <a:solidFill>
                <a:srgbClr val="CC4700"/>
              </a:solidFill>
            </a:endParaRPr>
          </a:p>
          <a:p>
            <a:pPr marL="457200" indent="-457200">
              <a:buAutoNum type="arabicPeriod"/>
            </a:pPr>
            <a:r>
              <a:rPr lang="ko-KR" altLang="en-US" sz="2000" b="1" dirty="0">
                <a:solidFill>
                  <a:srgbClr val="CC4700"/>
                </a:solidFill>
              </a:rPr>
              <a:t>간섭 검토</a:t>
            </a:r>
            <a:endParaRPr lang="en-US" altLang="ko-KR" sz="2000" b="1" dirty="0">
              <a:solidFill>
                <a:srgbClr val="CC4700"/>
              </a:solidFill>
            </a:endParaRPr>
          </a:p>
          <a:p>
            <a:pPr marL="457200" indent="-457200">
              <a:buAutoNum type="arabicPeriod"/>
            </a:pPr>
            <a:endParaRPr lang="en-US" altLang="ko-KR" sz="2000" b="1" dirty="0">
              <a:solidFill>
                <a:srgbClr val="CC4700"/>
              </a:solidFill>
            </a:endParaRPr>
          </a:p>
          <a:p>
            <a:pPr marL="457200" indent="-457200">
              <a:buAutoNum type="arabicPeriod"/>
            </a:pPr>
            <a:r>
              <a:rPr lang="ko-KR" altLang="en-US" sz="2000" b="1" dirty="0" err="1">
                <a:solidFill>
                  <a:srgbClr val="CC4700"/>
                </a:solidFill>
              </a:rPr>
              <a:t>관측점</a:t>
            </a:r>
            <a:r>
              <a:rPr lang="ko-KR" altLang="en-US" sz="2000" b="1" dirty="0">
                <a:solidFill>
                  <a:srgbClr val="CC4700"/>
                </a:solidFill>
              </a:rPr>
              <a:t> 작성</a:t>
            </a:r>
            <a:endParaRPr lang="en-US" altLang="ko-KR" sz="2000" b="1" dirty="0">
              <a:solidFill>
                <a:srgbClr val="CC4700"/>
              </a:solidFill>
            </a:endParaRPr>
          </a:p>
          <a:p>
            <a:pPr marL="457200" indent="-457200">
              <a:buAutoNum type="arabicPeriod"/>
            </a:pPr>
            <a:endParaRPr lang="en-US" altLang="ko-KR" sz="2000" b="1" dirty="0">
              <a:solidFill>
                <a:srgbClr val="CC4700"/>
              </a:solidFill>
            </a:endParaRPr>
          </a:p>
          <a:p>
            <a:pPr marL="457200" indent="-457200">
              <a:buAutoNum type="arabicPeriod"/>
            </a:pPr>
            <a:r>
              <a:rPr lang="ko-KR" altLang="en-US" sz="2000" b="1" dirty="0">
                <a:solidFill>
                  <a:srgbClr val="CC4700"/>
                </a:solidFill>
              </a:rPr>
              <a:t>단면처리 도구 사용</a:t>
            </a:r>
            <a:endParaRPr lang="en-US" altLang="ko-KR" sz="2000" b="1" dirty="0">
              <a:solidFill>
                <a:srgbClr val="CC47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047F4-99BE-15BE-2EE1-05D1BE3F1B75}"/>
              </a:ext>
            </a:extLst>
          </p:cNvPr>
          <p:cNvSpPr txBox="1"/>
          <p:nvPr/>
        </p:nvSpPr>
        <p:spPr>
          <a:xfrm>
            <a:off x="641350" y="2523123"/>
            <a:ext cx="2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600" b="1" dirty="0">
                <a:solidFill>
                  <a:schemeClr val="bg1"/>
                </a:solidFill>
              </a:rPr>
              <a:t>간섭검토</a:t>
            </a:r>
            <a:endParaRPr lang="ko-KR" altLang="en-US" sz="1600" b="1" dirty="0">
              <a:solidFill>
                <a:schemeClr val="bg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EE56625-8C20-6F73-0A46-C4BF458FD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54</a:t>
            </a:fld>
            <a:endParaRPr lang="ko-KR" altLang="en-US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683B5614-DF1A-B894-E728-4E311C4633F7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97209B-3C26-CAC4-B062-385F6B53895A}"/>
              </a:ext>
            </a:extLst>
          </p:cNvPr>
          <p:cNvSpPr txBox="1"/>
          <p:nvPr/>
        </p:nvSpPr>
        <p:spPr>
          <a:xfrm>
            <a:off x="212768" y="2498095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11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379275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964E6664-EA28-FCD0-6559-3BF0AE3AC076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7B94E4E-D892-D303-F837-8DD04D049F89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19BB1C-0AB2-9B0D-8AF8-D6165EA1F0D3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간섭검토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A602D026-550D-C49D-DC3A-F557F972C57C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B36525-3232-60E8-A998-243505D713BD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rgbClr val="CC4700"/>
                </a:solidFill>
              </a:rPr>
              <a:t>간섭검토</a:t>
            </a:r>
            <a:endParaRPr lang="en-US" altLang="ko-KR" sz="2000" b="1" dirty="0">
              <a:solidFill>
                <a:srgbClr val="CC47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5FC791-FA49-1457-4A30-1D031A3BE257}"/>
              </a:ext>
            </a:extLst>
          </p:cNvPr>
          <p:cNvSpPr txBox="1"/>
          <p:nvPr/>
        </p:nvSpPr>
        <p:spPr>
          <a:xfrm>
            <a:off x="843684" y="1872178"/>
            <a:ext cx="51362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95350" eaLnBrk="0" latinLnBrk="0" hangingPunct="0">
              <a:spcBef>
                <a:spcPts val="600"/>
              </a:spcBef>
              <a:buClr>
                <a:srgbClr val="000066"/>
              </a:buClr>
              <a:buSzPct val="100000"/>
            </a:pPr>
            <a:r>
              <a:rPr kumimoji="1" lang="en-US" altLang="ko-KR" sz="1400" b="1" dirty="0">
                <a:latin typeface="맑은 고딕" pitchFamily="50" charset="-127"/>
                <a:cs typeface="Tahoma" pitchFamily="34" charset="0"/>
              </a:rPr>
              <a:t>1. </a:t>
            </a:r>
            <a:r>
              <a:rPr kumimoji="1" lang="ko-KR" altLang="en-US" sz="1400" b="1" dirty="0">
                <a:latin typeface="맑은 고딕" pitchFamily="50" charset="-127"/>
                <a:cs typeface="Tahoma" pitchFamily="34" charset="0"/>
              </a:rPr>
              <a:t>간섭 검토 진행</a:t>
            </a:r>
            <a:endParaRPr kumimoji="1" lang="en-US" altLang="ko-KR" sz="1400" b="1" dirty="0">
              <a:latin typeface="맑은 고딕" pitchFamily="50" charset="-127"/>
              <a:cs typeface="Tahoma" pitchFamily="34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097225-E7B8-FF5E-A802-639401CFC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55</a:t>
            </a:fld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B7F5360-EE06-89FB-6A02-B4FAAFE84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574" y="2290503"/>
            <a:ext cx="7541128" cy="4330959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A3F2EB1C-DF4F-334F-4DB1-1BE9C2990726}"/>
              </a:ext>
            </a:extLst>
          </p:cNvPr>
          <p:cNvSpPr/>
          <p:nvPr/>
        </p:nvSpPr>
        <p:spPr>
          <a:xfrm>
            <a:off x="5245038" y="2519843"/>
            <a:ext cx="283272" cy="36940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320F55-CE08-E6E6-D629-01BDD2EEEA45}"/>
              </a:ext>
            </a:extLst>
          </p:cNvPr>
          <p:cNvSpPr txBox="1"/>
          <p:nvPr/>
        </p:nvSpPr>
        <p:spPr bwMode="auto">
          <a:xfrm>
            <a:off x="4961766" y="2322101"/>
            <a:ext cx="28327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kumimoji="1" lang="en-US" altLang="ko-KR" sz="12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①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33A0F32-F49F-2FEF-724A-2A3A5D8F72F3}"/>
              </a:ext>
            </a:extLst>
          </p:cNvPr>
          <p:cNvSpPr txBox="1"/>
          <p:nvPr/>
        </p:nvSpPr>
        <p:spPr bwMode="auto">
          <a:xfrm>
            <a:off x="3921384" y="4036989"/>
            <a:ext cx="246352" cy="230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kumimoji="1" lang="en-US" altLang="ko-KR" sz="12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②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8903CF8-ED6B-7D6B-7B80-20AF8A42FF3D}"/>
              </a:ext>
            </a:extLst>
          </p:cNvPr>
          <p:cNvSpPr/>
          <p:nvPr/>
        </p:nvSpPr>
        <p:spPr>
          <a:xfrm>
            <a:off x="4240711" y="4124324"/>
            <a:ext cx="462100" cy="1428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1A6BC4B-584E-7204-774A-FB8B3182527B}"/>
              </a:ext>
            </a:extLst>
          </p:cNvPr>
          <p:cNvSpPr txBox="1"/>
          <p:nvPr/>
        </p:nvSpPr>
        <p:spPr bwMode="auto">
          <a:xfrm>
            <a:off x="4211147" y="4249874"/>
            <a:ext cx="3386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kumimoji="1" lang="en-US" altLang="ko-KR" sz="12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③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2CF2301-682A-C5D5-6BD6-5DA58F11A3A5}"/>
              </a:ext>
            </a:extLst>
          </p:cNvPr>
          <p:cNvSpPr/>
          <p:nvPr/>
        </p:nvSpPr>
        <p:spPr>
          <a:xfrm>
            <a:off x="6298110" y="6181724"/>
            <a:ext cx="635137" cy="24765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993D468-373D-525F-D508-1481B7E78428}"/>
              </a:ext>
            </a:extLst>
          </p:cNvPr>
          <p:cNvSpPr txBox="1"/>
          <p:nvPr/>
        </p:nvSpPr>
        <p:spPr bwMode="auto">
          <a:xfrm>
            <a:off x="6032246" y="5943600"/>
            <a:ext cx="3386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kumimoji="1" lang="en-US" altLang="ko-KR" sz="12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④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D91DD00-D4E0-0C47-5734-0C9CEA8D243C}"/>
              </a:ext>
            </a:extLst>
          </p:cNvPr>
          <p:cNvSpPr/>
          <p:nvPr/>
        </p:nvSpPr>
        <p:spPr>
          <a:xfrm>
            <a:off x="4240711" y="4289426"/>
            <a:ext cx="4018099" cy="14753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43FC594-9214-79F4-B377-60A689C70488}"/>
              </a:ext>
            </a:extLst>
          </p:cNvPr>
          <p:cNvSpPr txBox="1"/>
          <p:nvPr/>
        </p:nvSpPr>
        <p:spPr>
          <a:xfrm>
            <a:off x="8540751" y="2290503"/>
            <a:ext cx="365125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en-US" altLang="ko-KR" sz="1400" dirty="0">
                <a:solidFill>
                  <a:srgbClr val="FF0000"/>
                </a:solidFill>
              </a:rPr>
              <a:t>Clash Detective</a:t>
            </a:r>
          </a:p>
          <a:p>
            <a:pPr marL="342900" indent="-342900">
              <a:buFont typeface="+mj-ea"/>
              <a:buAutoNum type="circleNumDbPlain"/>
            </a:pPr>
            <a:endParaRPr lang="en-US" altLang="ko-KR" sz="1400" dirty="0">
              <a:solidFill>
                <a:srgbClr val="FF0000"/>
              </a:solidFill>
            </a:endParaRPr>
          </a:p>
          <a:p>
            <a:pPr marL="342900" indent="-342900">
              <a:buFont typeface="+mj-ea"/>
              <a:buAutoNum type="circleNumDbPlain"/>
            </a:pPr>
            <a:r>
              <a:rPr lang="ko-KR" altLang="en-US" sz="1400" dirty="0">
                <a:solidFill>
                  <a:srgbClr val="FF0000"/>
                </a:solidFill>
              </a:rPr>
              <a:t>간섭 체크 항목들 테스트 추가</a:t>
            </a:r>
            <a:endParaRPr lang="en-US" altLang="ko-KR" sz="1400" dirty="0">
              <a:solidFill>
                <a:srgbClr val="FF0000"/>
              </a:solidFill>
            </a:endParaRPr>
          </a:p>
          <a:p>
            <a:pPr marL="342900" indent="-342900">
              <a:buFont typeface="+mj-ea"/>
              <a:buAutoNum type="circleNumDbPlain"/>
            </a:pPr>
            <a:endParaRPr lang="en-US" altLang="ko-KR" sz="1400" dirty="0">
              <a:solidFill>
                <a:srgbClr val="FF0000"/>
              </a:solidFill>
            </a:endParaRPr>
          </a:p>
          <a:p>
            <a:pPr marL="342900" indent="-342900">
              <a:buFont typeface="+mj-ea"/>
              <a:buAutoNum type="circleNumDbPlain"/>
            </a:pPr>
            <a:r>
              <a:rPr lang="ko-KR" altLang="en-US" sz="1400" dirty="0">
                <a:solidFill>
                  <a:srgbClr val="FF0000"/>
                </a:solidFill>
              </a:rPr>
              <a:t>선택</a:t>
            </a:r>
            <a:r>
              <a:rPr lang="en-US" altLang="ko-KR" sz="1400" dirty="0">
                <a:solidFill>
                  <a:srgbClr val="FF0000"/>
                </a:solidFill>
              </a:rPr>
              <a:t>(</a:t>
            </a:r>
            <a:r>
              <a:rPr lang="ko-KR" altLang="en-US" sz="1400" dirty="0">
                <a:solidFill>
                  <a:srgbClr val="FF0000"/>
                </a:solidFill>
              </a:rPr>
              <a:t>간섭 확인 할 카테고리들 선택</a:t>
            </a:r>
            <a:r>
              <a:rPr lang="en-US" altLang="ko-KR" sz="1400" dirty="0">
                <a:solidFill>
                  <a:srgbClr val="FF0000"/>
                </a:solidFill>
              </a:rPr>
              <a:t>)</a:t>
            </a:r>
          </a:p>
          <a:p>
            <a:pPr marL="342900" indent="-342900">
              <a:buFont typeface="+mj-ea"/>
              <a:buAutoNum type="circleNumDbPlain"/>
            </a:pPr>
            <a:endParaRPr lang="en-US" altLang="ko-KR" sz="1400" dirty="0">
              <a:solidFill>
                <a:srgbClr val="FF0000"/>
              </a:solidFill>
            </a:endParaRPr>
          </a:p>
          <a:p>
            <a:pPr marL="342900" indent="-342900">
              <a:buFont typeface="+mj-ea"/>
              <a:buAutoNum type="circleNumDbPlain"/>
            </a:pPr>
            <a:r>
              <a:rPr lang="ko-KR" altLang="en-US" sz="1400" dirty="0">
                <a:solidFill>
                  <a:srgbClr val="FF0000"/>
                </a:solidFill>
              </a:rPr>
              <a:t>테스트 진행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B64CDFD-493F-E86B-53CF-C280CF73B68E}"/>
              </a:ext>
            </a:extLst>
          </p:cNvPr>
          <p:cNvSpPr/>
          <p:nvPr/>
        </p:nvSpPr>
        <p:spPr>
          <a:xfrm>
            <a:off x="4486275" y="4283869"/>
            <a:ext cx="245436" cy="1428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2710068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229A3B-8724-6B5F-B836-9CA941094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2E7DDCD2-7CC4-E9E2-B6AB-4D771D13A320}"/>
              </a:ext>
            </a:extLst>
          </p:cNvPr>
          <p:cNvGrpSpPr/>
          <p:nvPr/>
        </p:nvGrpSpPr>
        <p:grpSpPr>
          <a:xfrm>
            <a:off x="1832269" y="2179955"/>
            <a:ext cx="5854405" cy="4304327"/>
            <a:chOff x="953090" y="1828800"/>
            <a:chExt cx="6721231" cy="494421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9C948DDB-F57C-E38C-11B2-B231AF5536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71464" y="1828800"/>
              <a:ext cx="3767299" cy="494421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4F285E78-A170-AA96-272E-6761D82E959F}"/>
                </a:ext>
              </a:extLst>
            </p:cNvPr>
            <p:cNvSpPr/>
            <p:nvPr/>
          </p:nvSpPr>
          <p:spPr>
            <a:xfrm>
              <a:off x="1271464" y="3429000"/>
              <a:ext cx="3767299" cy="229085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23C0C15-6B55-1A04-2AA0-AFAC45F9C437}"/>
                </a:ext>
              </a:extLst>
            </p:cNvPr>
            <p:cNvSpPr txBox="1"/>
            <p:nvPr/>
          </p:nvSpPr>
          <p:spPr bwMode="auto">
            <a:xfrm>
              <a:off x="953090" y="3174684"/>
              <a:ext cx="224413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kumimoji="1" lang="en-US" altLang="ko-KR" sz="1200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  <a:cs typeface="Tahoma" pitchFamily="34" charset="0"/>
                </a:rPr>
                <a:t>①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52C79EA3-C224-D10D-64F5-8BF89EECCC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32410" y="4007148"/>
              <a:ext cx="1841911" cy="704260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7DE8ECD5-4432-CBF2-6328-74E36572A6F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911720" y="3890414"/>
              <a:ext cx="920690" cy="126807"/>
            </a:xfrm>
            <a:prstGeom prst="straightConnector1">
              <a:avLst/>
            </a:prstGeom>
            <a:noFill/>
            <a:ln w="63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16D9F748-39CF-F991-45F5-4B670E345F3C}"/>
                </a:ext>
              </a:extLst>
            </p:cNvPr>
            <p:cNvSpPr/>
            <p:nvPr/>
          </p:nvSpPr>
          <p:spPr>
            <a:xfrm>
              <a:off x="1669298" y="3428218"/>
              <a:ext cx="307729" cy="18676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1A31E81F-24AC-9094-3793-669A67A07315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A1814D5-6267-A25B-A4F6-549C7552447A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0E3D06-0A5A-73E9-D2EE-A28C062CF006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간섭검토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8F63E4C0-5821-A994-3FEF-5F6439AB312F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D9416B-3489-30A5-23C3-14415D34789B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rgbClr val="CC4700"/>
                </a:solidFill>
              </a:rPr>
              <a:t>간섭검토</a:t>
            </a:r>
            <a:endParaRPr lang="en-US" altLang="ko-KR" sz="2000" b="1" dirty="0">
              <a:solidFill>
                <a:srgbClr val="CC47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EE2216-0609-C9D8-AD89-3539DEE03CEB}"/>
              </a:ext>
            </a:extLst>
          </p:cNvPr>
          <p:cNvSpPr txBox="1"/>
          <p:nvPr/>
        </p:nvSpPr>
        <p:spPr>
          <a:xfrm>
            <a:off x="843684" y="1872178"/>
            <a:ext cx="51362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95350" eaLnBrk="0" latinLnBrk="0" hangingPunct="0">
              <a:spcBef>
                <a:spcPts val="600"/>
              </a:spcBef>
              <a:buClr>
                <a:srgbClr val="000066"/>
              </a:buClr>
              <a:buSzPct val="100000"/>
            </a:pPr>
            <a:r>
              <a:rPr kumimoji="1" lang="en-US" altLang="ko-KR" sz="1400" b="1" dirty="0">
                <a:latin typeface="맑은 고딕" pitchFamily="50" charset="-127"/>
                <a:cs typeface="Tahoma" pitchFamily="34" charset="0"/>
              </a:rPr>
              <a:t>2. </a:t>
            </a:r>
            <a:r>
              <a:rPr kumimoji="1" lang="ko-KR" altLang="en-US" sz="1400" b="1" dirty="0">
                <a:latin typeface="맑은 고딕" pitchFamily="50" charset="-127"/>
                <a:cs typeface="Tahoma" pitchFamily="34" charset="0"/>
              </a:rPr>
              <a:t>간섭 항목 조건 변경</a:t>
            </a:r>
            <a:endParaRPr kumimoji="1" lang="en-US" altLang="ko-KR" sz="1400" b="1" dirty="0">
              <a:latin typeface="맑은 고딕" pitchFamily="50" charset="-127"/>
              <a:cs typeface="Tahoma" pitchFamily="34" charset="0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0DE0B18-E092-C777-1AF2-FB95C3ADE1BB}"/>
              </a:ext>
            </a:extLst>
          </p:cNvPr>
          <p:cNvGrpSpPr/>
          <p:nvPr/>
        </p:nvGrpSpPr>
        <p:grpSpPr>
          <a:xfrm>
            <a:off x="7600671" y="2150052"/>
            <a:ext cx="3684139" cy="4420610"/>
            <a:chOff x="495250" y="1357647"/>
            <a:chExt cx="4432915" cy="5319068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58187447-6764-803A-0A2E-35745D88DA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5239" y="1357647"/>
              <a:ext cx="4052926" cy="531906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4AB350F-AD46-02A6-9FE1-F49993C001E8}"/>
                </a:ext>
              </a:extLst>
            </p:cNvPr>
            <p:cNvSpPr/>
            <p:nvPr/>
          </p:nvSpPr>
          <p:spPr>
            <a:xfrm flipV="1">
              <a:off x="931068" y="5877272"/>
              <a:ext cx="2221732" cy="72008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1671E55-C287-02CD-48AB-A588252223C2}"/>
                </a:ext>
              </a:extLst>
            </p:cNvPr>
            <p:cNvSpPr txBox="1"/>
            <p:nvPr/>
          </p:nvSpPr>
          <p:spPr bwMode="auto">
            <a:xfrm>
              <a:off x="495250" y="5738772"/>
              <a:ext cx="29642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kumimoji="1" lang="en-US" altLang="ko-KR" sz="1200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  <a:cs typeface="Tahoma" pitchFamily="34" charset="0"/>
                </a:rPr>
                <a:t>②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1B30A2CD-AC60-D175-5F3D-F8A5C76B1A99}"/>
                </a:ext>
              </a:extLst>
            </p:cNvPr>
            <p:cNvSpPr/>
            <p:nvPr/>
          </p:nvSpPr>
          <p:spPr>
            <a:xfrm>
              <a:off x="1280592" y="3084684"/>
              <a:ext cx="360000" cy="1800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0AEFA7-414A-D79D-A1F1-8CDAE3071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839161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5E4169-9FD8-9E0D-5CA4-004F4995F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D36D010C-EE58-AE8B-51CF-19ADB26C2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448" y="2261105"/>
            <a:ext cx="5159552" cy="441306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25CAEF9-98F3-A9AB-BF96-3BD2B3014349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8DFCDC8-E275-0338-F413-B608D85AD429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420A5C-54E4-FFFE-2167-91EDFFB1765F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간섭검토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35A4DA11-B8AE-7054-CFC8-BA1AE29E84F4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90B454-256C-0DA5-7FD9-0FE556DBE477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rgbClr val="CC4700"/>
                </a:solidFill>
              </a:rPr>
              <a:t>간섭검토</a:t>
            </a:r>
            <a:endParaRPr lang="en-US" altLang="ko-KR" sz="2000" b="1" dirty="0">
              <a:solidFill>
                <a:srgbClr val="CC47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9F8638-AB7B-8532-2642-CAE4A51DEF33}"/>
              </a:ext>
            </a:extLst>
          </p:cNvPr>
          <p:cNvSpPr txBox="1"/>
          <p:nvPr/>
        </p:nvSpPr>
        <p:spPr>
          <a:xfrm>
            <a:off x="843684" y="1872178"/>
            <a:ext cx="51362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95350" eaLnBrk="0" latinLnBrk="0" hangingPunct="0">
              <a:spcBef>
                <a:spcPts val="600"/>
              </a:spcBef>
              <a:buClr>
                <a:srgbClr val="000066"/>
              </a:buClr>
              <a:buSzPct val="100000"/>
            </a:pPr>
            <a:r>
              <a:rPr kumimoji="1" lang="en-US" altLang="ko-KR" sz="1400" b="1" dirty="0">
                <a:latin typeface="맑은 고딕" pitchFamily="50" charset="-127"/>
                <a:cs typeface="Tahoma" pitchFamily="34" charset="0"/>
              </a:rPr>
              <a:t>3. </a:t>
            </a:r>
            <a:r>
              <a:rPr kumimoji="1" lang="ko-KR" altLang="en-US" sz="1400" b="1" dirty="0">
                <a:latin typeface="맑은 고딕" pitchFamily="50" charset="-127"/>
                <a:cs typeface="Tahoma" pitchFamily="34" charset="0"/>
              </a:rPr>
              <a:t>간섭 결과 확인 및 </a:t>
            </a:r>
            <a:r>
              <a:rPr kumimoji="1" lang="ko-KR" altLang="en-US" sz="1400" b="1" dirty="0" err="1">
                <a:latin typeface="맑은 고딕" pitchFamily="50" charset="-127"/>
                <a:cs typeface="Tahoma" pitchFamily="34" charset="0"/>
              </a:rPr>
              <a:t>관측점</a:t>
            </a:r>
            <a:r>
              <a:rPr kumimoji="1" lang="ko-KR" altLang="en-US" sz="1400" b="1" dirty="0">
                <a:latin typeface="맑은 고딕" pitchFamily="50" charset="-127"/>
                <a:cs typeface="Tahoma" pitchFamily="34" charset="0"/>
              </a:rPr>
              <a:t> 저장</a:t>
            </a:r>
            <a:endParaRPr kumimoji="1" lang="en-US" altLang="ko-KR" sz="1400" b="1" dirty="0">
              <a:latin typeface="맑은 고딕" pitchFamily="50" charset="-127"/>
              <a:cs typeface="Tahoma" pitchFamily="34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B5090C-1E5F-36A0-5C8A-E3CDF4DFC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57</a:t>
            </a:fld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D46C99F-FC1F-D4A0-EAC9-7F70D2C684CB}"/>
              </a:ext>
            </a:extLst>
          </p:cNvPr>
          <p:cNvSpPr/>
          <p:nvPr/>
        </p:nvSpPr>
        <p:spPr>
          <a:xfrm>
            <a:off x="936448" y="3734352"/>
            <a:ext cx="3711753" cy="283154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8492A0-F64A-8C7C-EB43-DC8081957E4E}"/>
              </a:ext>
            </a:extLst>
          </p:cNvPr>
          <p:cNvSpPr txBox="1"/>
          <p:nvPr/>
        </p:nvSpPr>
        <p:spPr bwMode="auto">
          <a:xfrm>
            <a:off x="584304" y="3531800"/>
            <a:ext cx="28327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kumimoji="1" lang="en-US" altLang="ko-KR" sz="12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①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BBF55D-7261-F89A-CB93-4894806FD4FB}"/>
              </a:ext>
            </a:extLst>
          </p:cNvPr>
          <p:cNvSpPr txBox="1"/>
          <p:nvPr/>
        </p:nvSpPr>
        <p:spPr bwMode="auto">
          <a:xfrm>
            <a:off x="5164872" y="4576362"/>
            <a:ext cx="28034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kumimoji="1" lang="en-US" altLang="ko-KR" sz="12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②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836AAB2-CF5E-B323-DCE1-58EFC0E44173}"/>
              </a:ext>
            </a:extLst>
          </p:cNvPr>
          <p:cNvSpPr/>
          <p:nvPr/>
        </p:nvSpPr>
        <p:spPr>
          <a:xfrm>
            <a:off x="5384695" y="4787247"/>
            <a:ext cx="525854" cy="14726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6012501-23B2-4B9D-4A77-A4940EF582AD}"/>
              </a:ext>
            </a:extLst>
          </p:cNvPr>
          <p:cNvSpPr txBox="1"/>
          <p:nvPr/>
        </p:nvSpPr>
        <p:spPr>
          <a:xfrm>
            <a:off x="6416676" y="2261105"/>
            <a:ext cx="540956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ko-KR" altLang="en-US" sz="1400" dirty="0">
                <a:solidFill>
                  <a:srgbClr val="FF0000"/>
                </a:solidFill>
              </a:rPr>
              <a:t>간섭결과 확인</a:t>
            </a:r>
            <a:endParaRPr lang="en-US" altLang="ko-KR" sz="1400" dirty="0">
              <a:solidFill>
                <a:srgbClr val="FF0000"/>
              </a:solidFill>
            </a:endParaRPr>
          </a:p>
          <a:p>
            <a:pPr marL="342900" indent="-342900">
              <a:buFont typeface="+mj-ea"/>
              <a:buAutoNum type="circleNumDbPlain"/>
            </a:pPr>
            <a:endParaRPr lang="en-US" altLang="ko-KR" sz="1400" dirty="0">
              <a:solidFill>
                <a:srgbClr val="FF0000"/>
              </a:solidFill>
            </a:endParaRPr>
          </a:p>
          <a:p>
            <a:pPr marL="342900" indent="-342900">
              <a:buFont typeface="+mj-ea"/>
              <a:buAutoNum type="circleNumDbPlain"/>
            </a:pPr>
            <a:r>
              <a:rPr lang="ko-KR" altLang="en-US" sz="1400" dirty="0">
                <a:solidFill>
                  <a:srgbClr val="FF0000"/>
                </a:solidFill>
              </a:rPr>
              <a:t>선택 한 간섭 객체만 보이게</a:t>
            </a:r>
            <a:endParaRPr lang="en-US" altLang="ko-KR" sz="1400" dirty="0">
              <a:solidFill>
                <a:srgbClr val="FF0000"/>
              </a:solidFill>
            </a:endParaRPr>
          </a:p>
          <a:p>
            <a:pPr marL="342900" indent="-342900">
              <a:buFont typeface="+mj-ea"/>
              <a:buAutoNum type="circleNumDbPlain"/>
            </a:pPr>
            <a:endParaRPr lang="en-US" altLang="ko-KR" sz="1400" dirty="0">
              <a:solidFill>
                <a:srgbClr val="FF0000"/>
              </a:solidFill>
            </a:endParaRPr>
          </a:p>
          <a:p>
            <a:pPr marL="342900" indent="-342900">
              <a:buFont typeface="+mj-ea"/>
              <a:buAutoNum type="circleNumDbPlain"/>
            </a:pPr>
            <a:r>
              <a:rPr lang="ko-KR" altLang="en-US" sz="1400" dirty="0">
                <a:solidFill>
                  <a:srgbClr val="FF0000"/>
                </a:solidFill>
              </a:rPr>
              <a:t>저장된 </a:t>
            </a:r>
            <a:r>
              <a:rPr lang="ko-KR" altLang="en-US" sz="1400" dirty="0" err="1">
                <a:solidFill>
                  <a:srgbClr val="FF0000"/>
                </a:solidFill>
              </a:rPr>
              <a:t>관측점</a:t>
            </a:r>
            <a:r>
              <a:rPr lang="ko-KR" altLang="en-US" sz="1400" dirty="0">
                <a:solidFill>
                  <a:srgbClr val="FF0000"/>
                </a:solidFill>
              </a:rPr>
              <a:t> 창에서 마우스 </a:t>
            </a:r>
            <a:r>
              <a:rPr lang="ko-KR" altLang="en-US" sz="1400" dirty="0" err="1">
                <a:solidFill>
                  <a:srgbClr val="FF0000"/>
                </a:solidFill>
              </a:rPr>
              <a:t>우클릭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en-US" altLang="ko-KR" sz="1400" dirty="0">
                <a:solidFill>
                  <a:srgbClr val="FF0000"/>
                </a:solidFill>
              </a:rPr>
              <a:t>-&gt; </a:t>
            </a:r>
            <a:r>
              <a:rPr lang="ko-KR" altLang="en-US" sz="1400" dirty="0" err="1">
                <a:solidFill>
                  <a:srgbClr val="FF0000"/>
                </a:solidFill>
              </a:rPr>
              <a:t>관측점</a:t>
            </a:r>
            <a:r>
              <a:rPr lang="ko-KR" altLang="en-US" sz="1400" dirty="0">
                <a:solidFill>
                  <a:srgbClr val="FF0000"/>
                </a:solidFill>
              </a:rPr>
              <a:t> 저장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457532DB-1E4D-8245-547F-3B45AF937F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744" y="3806777"/>
            <a:ext cx="5285762" cy="286739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E5A4D32-DD38-BA83-AF38-F067A3708A61}"/>
              </a:ext>
            </a:extLst>
          </p:cNvPr>
          <p:cNvSpPr txBox="1"/>
          <p:nvPr/>
        </p:nvSpPr>
        <p:spPr bwMode="auto">
          <a:xfrm>
            <a:off x="10509875" y="4576362"/>
            <a:ext cx="28034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kumimoji="1" lang="en-US" altLang="ko-KR" sz="12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②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544CBF3-F609-0BD2-8CCC-5DD2B35A4E5B}"/>
              </a:ext>
            </a:extLst>
          </p:cNvPr>
          <p:cNvSpPr/>
          <p:nvPr/>
        </p:nvSpPr>
        <p:spPr>
          <a:xfrm>
            <a:off x="10790215" y="4853361"/>
            <a:ext cx="569936" cy="8114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917D8F8-7AEC-BBE1-C808-D545F5677E06}"/>
              </a:ext>
            </a:extLst>
          </p:cNvPr>
          <p:cNvSpPr/>
          <p:nvPr/>
        </p:nvSpPr>
        <p:spPr>
          <a:xfrm>
            <a:off x="1561540" y="3734352"/>
            <a:ext cx="264086" cy="14484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0570301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531EED-6DCA-03B7-5A21-99EED959A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754A3D28-4404-15BD-7203-138970E36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574" y="2298441"/>
            <a:ext cx="4829983" cy="421657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5CDD7651-DDF5-4B5E-1ADB-533A2218B543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9A401C4-8F23-700F-ED93-8036EC332D61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2B23FC-5B5C-1C93-AA7C-339AE882E437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간섭검토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E18D762-5599-DB0A-8506-9AFF07F576C7}"/>
              </a:ext>
            </a:extLst>
          </p:cNvPr>
          <p:cNvSpPr/>
          <p:nvPr/>
        </p:nvSpPr>
        <p:spPr>
          <a:xfrm>
            <a:off x="1736725" y="3712406"/>
            <a:ext cx="282575" cy="18331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36B2F4-25EB-8A64-873D-C1E8BCC044FD}"/>
              </a:ext>
            </a:extLst>
          </p:cNvPr>
          <p:cNvSpPr txBox="1"/>
          <p:nvPr/>
        </p:nvSpPr>
        <p:spPr bwMode="auto">
          <a:xfrm>
            <a:off x="5979898" y="2298441"/>
            <a:ext cx="2444464" cy="40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>
            <a:spAutoFit/>
          </a:bodyPr>
          <a:lstStyle/>
          <a:p>
            <a:pPr defTabSz="895350" eaLnBrk="0" latinLnBrk="0" hangingPunct="0">
              <a:spcBef>
                <a:spcPts val="600"/>
              </a:spcBef>
              <a:buClr>
                <a:srgbClr val="000066"/>
              </a:buClr>
              <a:buSzPct val="100000"/>
            </a:pPr>
            <a:r>
              <a:rPr kumimoji="1" lang="en-US" altLang="ko-KR" sz="1200" dirty="0"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Report</a:t>
            </a:r>
            <a:r>
              <a:rPr kumimoji="1" lang="ko-KR" altLang="en-US" sz="1200" dirty="0"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에 포함 시킬</a:t>
            </a:r>
            <a:endParaRPr kumimoji="1" lang="en-US" altLang="ko-KR" sz="1200" dirty="0"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  <a:p>
            <a:pPr defTabSz="895350" eaLnBrk="0" latinLnBrk="0" hangingPunct="0">
              <a:spcBef>
                <a:spcPts val="600"/>
              </a:spcBef>
              <a:buClr>
                <a:srgbClr val="000066"/>
              </a:buClr>
              <a:buSzPct val="100000"/>
            </a:pPr>
            <a:r>
              <a:rPr kumimoji="1" lang="ko-KR" altLang="en-US" sz="1200" dirty="0"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간섭 내용</a:t>
            </a:r>
            <a:r>
              <a:rPr kumimoji="1" lang="en-US" altLang="ko-KR" sz="1200" dirty="0"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(Contents)</a:t>
            </a:r>
            <a:r>
              <a:rPr kumimoji="1" lang="ko-KR" altLang="en-US" sz="1200" dirty="0"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및 상태 선택 </a:t>
            </a:r>
            <a:endParaRPr kumimoji="1" lang="en-US" altLang="ko-KR" sz="1200" dirty="0">
              <a:latin typeface="맑은 고딕" pitchFamily="50" charset="-127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BFFB5165-73D9-0949-B336-8AEB081959F8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483A75-563E-67DB-1C25-787E0FF706F7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rgbClr val="CC4700"/>
                </a:solidFill>
              </a:rPr>
              <a:t>간섭검토</a:t>
            </a:r>
            <a:endParaRPr lang="en-US" altLang="ko-KR" sz="2000" b="1" dirty="0">
              <a:solidFill>
                <a:srgbClr val="CC47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1D2986-2361-701E-CACC-D9D86649CA40}"/>
              </a:ext>
            </a:extLst>
          </p:cNvPr>
          <p:cNvSpPr txBox="1"/>
          <p:nvPr/>
        </p:nvSpPr>
        <p:spPr>
          <a:xfrm>
            <a:off x="843684" y="1872178"/>
            <a:ext cx="51362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95350" eaLnBrk="0" latinLnBrk="0" hangingPunct="0">
              <a:spcBef>
                <a:spcPts val="600"/>
              </a:spcBef>
              <a:buClr>
                <a:srgbClr val="000066"/>
              </a:buClr>
              <a:buSzPct val="100000"/>
            </a:pPr>
            <a:r>
              <a:rPr kumimoji="1" lang="en-US" altLang="ko-KR" sz="1400" b="1" dirty="0">
                <a:latin typeface="맑은 고딕" pitchFamily="50" charset="-127"/>
                <a:cs typeface="Tahoma" pitchFamily="34" charset="0"/>
              </a:rPr>
              <a:t>4. Test </a:t>
            </a:r>
            <a:r>
              <a:rPr kumimoji="1" lang="ko-KR" altLang="en-US" sz="1400" b="1" dirty="0">
                <a:latin typeface="맑은 고딕" pitchFamily="50" charset="-127"/>
                <a:cs typeface="Tahoma" pitchFamily="34" charset="0"/>
              </a:rPr>
              <a:t>항목 간섭 결과 </a:t>
            </a:r>
            <a:r>
              <a:rPr kumimoji="1" lang="en-US" altLang="ko-KR" sz="1400" b="1" dirty="0">
                <a:latin typeface="맑은 고딕" pitchFamily="50" charset="-127"/>
                <a:cs typeface="Tahoma" pitchFamily="34" charset="0"/>
              </a:rPr>
              <a:t>Report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D84CEF4-3A5E-C369-0109-83FE331A8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58</a:t>
            </a:fld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43FBF7A-2C7F-63FD-8513-4BF31B9C5D2A}"/>
              </a:ext>
            </a:extLst>
          </p:cNvPr>
          <p:cNvSpPr/>
          <p:nvPr/>
        </p:nvSpPr>
        <p:spPr>
          <a:xfrm>
            <a:off x="993775" y="5851940"/>
            <a:ext cx="3797300" cy="66307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9074857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977557-8DCC-8BF4-1DC3-3EC0BFFCA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A72607A-DAA5-DF8E-7150-707890D9639D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BAF405A-C57B-099E-31BB-E044A29661FD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A9A7B4-DD18-54A1-41FD-999658A35051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간섭검토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1C566813-43C4-2D3D-E28E-3A89B1C50D0B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C292CB5-5EEA-BDFA-3AE0-0BA82E689E2F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 err="1">
                <a:solidFill>
                  <a:srgbClr val="CC4700"/>
                </a:solidFill>
              </a:rPr>
              <a:t>간섭세팅</a:t>
            </a:r>
            <a:endParaRPr lang="en-US" altLang="ko-KR" sz="2000" b="1" dirty="0">
              <a:solidFill>
                <a:srgbClr val="CC4700"/>
              </a:solidFill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DB44F03-BC39-94BB-C6B3-45FF6574638E}"/>
              </a:ext>
            </a:extLst>
          </p:cNvPr>
          <p:cNvGrpSpPr/>
          <p:nvPr/>
        </p:nvGrpSpPr>
        <p:grpSpPr>
          <a:xfrm>
            <a:off x="2340400" y="3927583"/>
            <a:ext cx="1927438" cy="1024593"/>
            <a:chOff x="1970900" y="2950010"/>
            <a:chExt cx="1927438" cy="1024593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EC0B6539-CB29-3A07-06DF-851F61FCB0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10114" y="2950010"/>
              <a:ext cx="501659" cy="418049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E92F2FA7-EFD2-D40B-71D2-0E3F8CC7B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32757" y="3449963"/>
              <a:ext cx="456372" cy="437357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11A453F-D725-F87C-FA4E-AAC6B83524FE}"/>
                </a:ext>
              </a:extLst>
            </p:cNvPr>
            <p:cNvSpPr txBox="1"/>
            <p:nvPr/>
          </p:nvSpPr>
          <p:spPr bwMode="auto">
            <a:xfrm>
              <a:off x="2530186" y="3021681"/>
              <a:ext cx="1368152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Save Selection </a:t>
              </a:r>
              <a:endPara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23BDD4A-253C-1DED-BFDD-EB9472D35C05}"/>
                </a:ext>
              </a:extLst>
            </p:cNvPr>
            <p:cNvSpPr txBox="1"/>
            <p:nvPr/>
          </p:nvSpPr>
          <p:spPr bwMode="auto">
            <a:xfrm>
              <a:off x="2530186" y="3532122"/>
              <a:ext cx="1368152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Save Search </a:t>
              </a:r>
              <a:endPara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B0D91992-7760-0C07-0EBF-75448EBCBF90}"/>
                </a:ext>
              </a:extLst>
            </p:cNvPr>
            <p:cNvSpPr/>
            <p:nvPr/>
          </p:nvSpPr>
          <p:spPr>
            <a:xfrm>
              <a:off x="1970900" y="2959012"/>
              <a:ext cx="1872208" cy="101559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F559ED4F-2105-98C3-E2BC-AAE2ED0E23ED}"/>
                </a:ext>
              </a:extLst>
            </p:cNvPr>
            <p:cNvSpPr/>
            <p:nvPr/>
          </p:nvSpPr>
          <p:spPr>
            <a:xfrm>
              <a:off x="2064682" y="3462919"/>
              <a:ext cx="1677632" cy="39898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25CE52E4-6E99-E490-9E40-E222B17E86C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48950"/>
          <a:stretch/>
        </p:blipFill>
        <p:spPr>
          <a:xfrm>
            <a:off x="8426144" y="3914660"/>
            <a:ext cx="1641541" cy="248591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A164700A-CFDE-C29C-0EEC-48CEF6985E1D}"/>
              </a:ext>
            </a:extLst>
          </p:cNvPr>
          <p:cNvSpPr txBox="1"/>
          <p:nvPr/>
        </p:nvSpPr>
        <p:spPr bwMode="auto">
          <a:xfrm>
            <a:off x="1411156" y="2297526"/>
            <a:ext cx="7949334" cy="15185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rabicParenR"/>
            </a:pPr>
            <a:r>
              <a:rPr lang="en-US" altLang="ko-KR" sz="1200" dirty="0">
                <a:solidFill>
                  <a:srgbClr val="0070C0"/>
                </a:solidFill>
                <a:latin typeface="+mn-ea"/>
              </a:rPr>
              <a:t>Find Item </a:t>
            </a:r>
            <a:r>
              <a:rPr lang="ko-KR" altLang="en-US" sz="1200" dirty="0">
                <a:latin typeface="+mn-ea"/>
              </a:rPr>
              <a:t>에서 검색 조건 입력 </a:t>
            </a: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    </a:t>
            </a:r>
            <a:r>
              <a:rPr lang="ko-KR" altLang="en-US" sz="1200" dirty="0">
                <a:latin typeface="+mn-ea"/>
              </a:rPr>
              <a:t>→ </a:t>
            </a:r>
            <a:r>
              <a:rPr lang="en-US" altLang="ko-KR" sz="1200" dirty="0">
                <a:latin typeface="+mn-ea"/>
              </a:rPr>
              <a:t>File All </a:t>
            </a:r>
            <a:r>
              <a:rPr lang="ko-KR" altLang="en-US" sz="1200" dirty="0">
                <a:latin typeface="+mn-ea"/>
              </a:rPr>
              <a:t>선택</a:t>
            </a:r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       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(Selection Tree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에서 객체 선택이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 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올바르게 되어 있는지 확인 필요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)</a:t>
            </a:r>
          </a:p>
          <a:p>
            <a:endParaRPr lang="en-US" altLang="ko-KR" sz="110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 startAt="2"/>
            </a:pPr>
            <a:r>
              <a:rPr lang="en-US" altLang="ko-KR" sz="1200" dirty="0">
                <a:solidFill>
                  <a:srgbClr val="0070C0"/>
                </a:solidFill>
                <a:latin typeface="+mn-ea"/>
              </a:rPr>
              <a:t>Sets</a:t>
            </a: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에서 오른쪽 마우스 클릭 </a:t>
            </a: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    </a:t>
            </a:r>
            <a:r>
              <a:rPr lang="ko-KR" altLang="en-US" sz="1200" dirty="0">
                <a:latin typeface="+mn-ea"/>
              </a:rPr>
              <a:t>→ </a:t>
            </a:r>
            <a:r>
              <a:rPr lang="en-US" altLang="ko-KR" sz="1200" dirty="0">
                <a:latin typeface="+mn-ea"/>
              </a:rPr>
              <a:t>Save Search </a:t>
            </a:r>
            <a:r>
              <a:rPr lang="ko-KR" altLang="en-US" sz="1200" dirty="0">
                <a:latin typeface="+mn-ea"/>
              </a:rPr>
              <a:t>선택</a:t>
            </a:r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87721BF5-4852-3D1B-BF5B-80DCFF40FD9A}"/>
              </a:ext>
            </a:extLst>
          </p:cNvPr>
          <p:cNvSpPr/>
          <p:nvPr/>
        </p:nvSpPr>
        <p:spPr>
          <a:xfrm>
            <a:off x="7363711" y="5066499"/>
            <a:ext cx="202342" cy="222390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FFA405B9-B1A9-73B6-32C2-582FF0CC21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1937" y="4509695"/>
            <a:ext cx="2344137" cy="1463693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9D500D1D-B39A-F204-7D1B-B95678A43BE0}"/>
              </a:ext>
            </a:extLst>
          </p:cNvPr>
          <p:cNvSpPr txBox="1"/>
          <p:nvPr/>
        </p:nvSpPr>
        <p:spPr bwMode="auto">
          <a:xfrm>
            <a:off x="2579049" y="6006744"/>
            <a:ext cx="3607742" cy="498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+mn-ea"/>
              </a:rPr>
              <a:t>** File </a:t>
            </a:r>
            <a:r>
              <a:rPr lang="ko-KR" altLang="en-US" sz="1200" dirty="0">
                <a:latin typeface="+mn-ea"/>
              </a:rPr>
              <a:t>선택 시 선택 된 </a:t>
            </a:r>
            <a:r>
              <a:rPr lang="en-US" altLang="ko-KR" sz="1200" dirty="0">
                <a:latin typeface="+mn-ea"/>
              </a:rPr>
              <a:t>File </a:t>
            </a:r>
            <a:r>
              <a:rPr lang="ko-KR" altLang="en-US" sz="1200" dirty="0">
                <a:latin typeface="+mn-ea"/>
              </a:rPr>
              <a:t>내에서만 조건 검색</a:t>
            </a: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+mn-ea"/>
              </a:rPr>
              <a:t>   (File </a:t>
            </a:r>
            <a:r>
              <a:rPr lang="ko-KR" altLang="en-US" sz="1100" dirty="0">
                <a:latin typeface="+mn-ea"/>
              </a:rPr>
              <a:t>미 선택 시 전체 파일에서 조건 검색</a:t>
            </a:r>
            <a:r>
              <a:rPr lang="en-US" altLang="ko-KR" sz="1100" dirty="0">
                <a:latin typeface="+mn-ea"/>
              </a:rPr>
              <a:t>)</a:t>
            </a:r>
            <a:endParaRPr lang="ko-KR" altLang="en-US" sz="1100" dirty="0">
              <a:latin typeface="+mn-ea"/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7CB6F8A0-6940-A1EB-A1B6-3760C4CD53A3}"/>
              </a:ext>
            </a:extLst>
          </p:cNvPr>
          <p:cNvCxnSpPr>
            <a:cxnSpLocks/>
          </p:cNvCxnSpPr>
          <p:nvPr/>
        </p:nvCxnSpPr>
        <p:spPr bwMode="auto">
          <a:xfrm flipH="1">
            <a:off x="4059482" y="5041455"/>
            <a:ext cx="1250095" cy="902145"/>
          </a:xfrm>
          <a:prstGeom prst="straightConnector1">
            <a:avLst/>
          </a:prstGeom>
          <a:noFill/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9417677-1131-DEB2-364E-9E4E96809524}"/>
              </a:ext>
            </a:extLst>
          </p:cNvPr>
          <p:cNvGrpSpPr/>
          <p:nvPr/>
        </p:nvGrpSpPr>
        <p:grpSpPr>
          <a:xfrm>
            <a:off x="4262465" y="3879227"/>
            <a:ext cx="4248583" cy="529485"/>
            <a:chOff x="3860683" y="2896312"/>
            <a:chExt cx="4248583" cy="529485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D8694D3-F23F-046F-C27E-2A179A1E3DE3}"/>
                </a:ext>
              </a:extLst>
            </p:cNvPr>
            <p:cNvSpPr txBox="1"/>
            <p:nvPr/>
          </p:nvSpPr>
          <p:spPr bwMode="auto">
            <a:xfrm>
              <a:off x="3860683" y="2896312"/>
              <a:ext cx="3938339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Search Set</a:t>
              </a:r>
              <a:endParaRPr lang="ko-KR" altLang="en-US" sz="1600" b="1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2A680BE-8A35-51B8-9846-E0FEFF2A76EF}"/>
                </a:ext>
              </a:extLst>
            </p:cNvPr>
            <p:cNvSpPr txBox="1"/>
            <p:nvPr/>
          </p:nvSpPr>
          <p:spPr bwMode="auto">
            <a:xfrm>
              <a:off x="4170927" y="3148798"/>
              <a:ext cx="3938339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검색 조건으로 선택되는 객체를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Set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으로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설정</a:t>
              </a:r>
              <a:endParaRPr lang="ko-KR" altLang="en-US" sz="1200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57F3A032-8F79-D15C-D235-13A42C9A643A}"/>
                </a:ext>
              </a:extLst>
            </p:cNvPr>
            <p:cNvSpPr/>
            <p:nvPr/>
          </p:nvSpPr>
          <p:spPr>
            <a:xfrm>
              <a:off x="4190987" y="2950867"/>
              <a:ext cx="3508444" cy="47313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CDBAE5B1-AEAF-31F8-76C2-A7D0518920B5}"/>
              </a:ext>
            </a:extLst>
          </p:cNvPr>
          <p:cNvSpPr txBox="1"/>
          <p:nvPr/>
        </p:nvSpPr>
        <p:spPr>
          <a:xfrm>
            <a:off x="843684" y="1872178"/>
            <a:ext cx="79493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/>
              <a:t>1-1. Set</a:t>
            </a:r>
            <a:r>
              <a:rPr lang="ko-KR" altLang="en-US" sz="1400" b="1" dirty="0"/>
              <a:t> 설정 </a:t>
            </a:r>
            <a:r>
              <a:rPr kumimoji="1" lang="ko-KR" altLang="en-US" sz="1200" dirty="0">
                <a:latin typeface="맑은 고딕" pitchFamily="50" charset="-127"/>
                <a:cs typeface="Tahoma" pitchFamily="34" charset="0"/>
              </a:rPr>
              <a:t>편의에 맞게 </a:t>
            </a:r>
            <a:r>
              <a:rPr kumimoji="1" lang="en-US" altLang="ko-KR" sz="1200" dirty="0">
                <a:latin typeface="맑은 고딕" pitchFamily="50" charset="-127"/>
                <a:cs typeface="Tahoma" pitchFamily="34" charset="0"/>
              </a:rPr>
              <a:t>Select </a:t>
            </a:r>
            <a:r>
              <a:rPr kumimoji="1" lang="ko-KR" altLang="en-US" sz="1200" dirty="0">
                <a:latin typeface="맑은 고딕" pitchFamily="50" charset="-127"/>
                <a:cs typeface="Tahoma" pitchFamily="34" charset="0"/>
              </a:rPr>
              <a:t>와 </a:t>
            </a:r>
            <a:r>
              <a:rPr kumimoji="1" lang="en-US" altLang="ko-KR" sz="1200" dirty="0">
                <a:latin typeface="맑은 고딕" pitchFamily="50" charset="-127"/>
                <a:cs typeface="Tahoma" pitchFamily="34" charset="0"/>
              </a:rPr>
              <a:t>Search </a:t>
            </a:r>
            <a:r>
              <a:rPr kumimoji="1" lang="ko-KR" altLang="en-US" sz="1200" dirty="0">
                <a:latin typeface="맑은 고딕" pitchFamily="50" charset="-127"/>
                <a:cs typeface="Tahoma" pitchFamily="34" charset="0"/>
              </a:rPr>
              <a:t>선택하여 </a:t>
            </a:r>
            <a:r>
              <a:rPr kumimoji="1" lang="en-US" altLang="ko-KR" sz="1200" dirty="0">
                <a:latin typeface="맑은 고딕" pitchFamily="50" charset="-127"/>
                <a:cs typeface="Tahoma" pitchFamily="34" charset="0"/>
              </a:rPr>
              <a:t>set </a:t>
            </a:r>
            <a:r>
              <a:rPr kumimoji="1" lang="ko-KR" altLang="en-US" sz="1200" dirty="0">
                <a:latin typeface="맑은 고딕" pitchFamily="50" charset="-127"/>
                <a:cs typeface="Tahoma" pitchFamily="34" charset="0"/>
              </a:rPr>
              <a:t>설정</a:t>
            </a:r>
            <a:endParaRPr kumimoji="1" lang="en-US" altLang="ko-KR" sz="1200" dirty="0">
              <a:latin typeface="맑은 고딕" pitchFamily="50" charset="-127"/>
              <a:cs typeface="Tahoma" pitchFamily="34" charset="0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59D993A-C53B-EF70-1DF5-3891277B6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38840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4B5CEE-6B83-7D8B-B800-5CF3F3DB2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1C7785A-7ED9-C953-8FDF-726AE6788142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7D8CB48-D759-A30D-8989-40D94EACE366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C68229-3E50-7BD2-1D16-6A0E9FAF3F8D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간섭검토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7A785313-4A9F-2369-23CD-26466804A1E2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C97110-1D6E-5175-57B7-7F2CF0D88677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 err="1">
                <a:solidFill>
                  <a:srgbClr val="CC4700"/>
                </a:solidFill>
              </a:rPr>
              <a:t>간섭세팅</a:t>
            </a:r>
            <a:endParaRPr lang="en-US" altLang="ko-KR" sz="2000" b="1" dirty="0">
              <a:solidFill>
                <a:srgbClr val="CC47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7ED0BE-904E-8D64-D3BB-275725EAD80F}"/>
              </a:ext>
            </a:extLst>
          </p:cNvPr>
          <p:cNvSpPr txBox="1"/>
          <p:nvPr/>
        </p:nvSpPr>
        <p:spPr>
          <a:xfrm>
            <a:off x="843684" y="1872178"/>
            <a:ext cx="79493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/>
              <a:t>1-2. Set</a:t>
            </a:r>
            <a:r>
              <a:rPr lang="ko-KR" altLang="en-US" sz="1400" b="1" dirty="0"/>
              <a:t> 설정 </a:t>
            </a:r>
            <a:r>
              <a:rPr kumimoji="1" lang="ko-KR" altLang="en-US" sz="1200" dirty="0">
                <a:latin typeface="맑은 고딕" pitchFamily="50" charset="-127"/>
                <a:cs typeface="Tahoma" pitchFamily="34" charset="0"/>
              </a:rPr>
              <a:t>편의에 맞게 </a:t>
            </a:r>
            <a:r>
              <a:rPr kumimoji="1" lang="en-US" altLang="ko-KR" sz="1200" dirty="0">
                <a:latin typeface="맑은 고딕" pitchFamily="50" charset="-127"/>
                <a:cs typeface="Tahoma" pitchFamily="34" charset="0"/>
              </a:rPr>
              <a:t>Select </a:t>
            </a:r>
            <a:r>
              <a:rPr kumimoji="1" lang="ko-KR" altLang="en-US" sz="1200" dirty="0">
                <a:latin typeface="맑은 고딕" pitchFamily="50" charset="-127"/>
                <a:cs typeface="Tahoma" pitchFamily="34" charset="0"/>
              </a:rPr>
              <a:t>와 </a:t>
            </a:r>
            <a:r>
              <a:rPr kumimoji="1" lang="en-US" altLang="ko-KR" sz="1200" dirty="0">
                <a:latin typeface="맑은 고딕" pitchFamily="50" charset="-127"/>
                <a:cs typeface="Tahoma" pitchFamily="34" charset="0"/>
              </a:rPr>
              <a:t>Search </a:t>
            </a:r>
            <a:r>
              <a:rPr kumimoji="1" lang="ko-KR" altLang="en-US" sz="1200" dirty="0">
                <a:latin typeface="맑은 고딕" pitchFamily="50" charset="-127"/>
                <a:cs typeface="Tahoma" pitchFamily="34" charset="0"/>
              </a:rPr>
              <a:t>선택하여 </a:t>
            </a:r>
            <a:r>
              <a:rPr kumimoji="1" lang="en-US" altLang="ko-KR" sz="1200" dirty="0">
                <a:latin typeface="맑은 고딕" pitchFamily="50" charset="-127"/>
                <a:cs typeface="Tahoma" pitchFamily="34" charset="0"/>
              </a:rPr>
              <a:t>set </a:t>
            </a:r>
            <a:r>
              <a:rPr kumimoji="1" lang="ko-KR" altLang="en-US" sz="1200" dirty="0">
                <a:latin typeface="맑은 고딕" pitchFamily="50" charset="-127"/>
                <a:cs typeface="Tahoma" pitchFamily="34" charset="0"/>
              </a:rPr>
              <a:t>설정</a:t>
            </a:r>
            <a:endParaRPr kumimoji="1" lang="en-US" altLang="ko-KR" sz="1200" dirty="0">
              <a:latin typeface="맑은 고딕" pitchFamily="50" charset="-127"/>
              <a:cs typeface="Tahoma" pitchFamily="34" charset="0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BDDDBC64-274D-F76A-0455-D4DF50C28A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8950"/>
          <a:stretch/>
        </p:blipFill>
        <p:spPr>
          <a:xfrm>
            <a:off x="9658154" y="3563993"/>
            <a:ext cx="2044630" cy="309634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B68C06DF-1631-0E31-1875-482EACA533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3418" y="4300099"/>
            <a:ext cx="2675871" cy="156861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BDC64C3-16C0-400E-A31C-671BA7594002}"/>
              </a:ext>
            </a:extLst>
          </p:cNvPr>
          <p:cNvSpPr txBox="1"/>
          <p:nvPr/>
        </p:nvSpPr>
        <p:spPr bwMode="auto">
          <a:xfrm>
            <a:off x="1327448" y="2268639"/>
            <a:ext cx="3168352" cy="1164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rabicParenR"/>
            </a:pPr>
            <a:r>
              <a:rPr lang="en-US" altLang="ko-KR" sz="1200" dirty="0">
                <a:solidFill>
                  <a:srgbClr val="0070C0"/>
                </a:solidFill>
                <a:latin typeface="+mn-ea"/>
              </a:rPr>
              <a:t>Selection Tree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에서 객체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or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파일 선택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en-US" altLang="ko-KR" sz="1200" dirty="0">
                <a:solidFill>
                  <a:srgbClr val="0070C0"/>
                </a:solidFill>
                <a:latin typeface="+mn-ea"/>
              </a:rPr>
              <a:t>Sets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에서 오른쪽 마우스 클릭 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  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→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Save Selection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선택</a:t>
            </a: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D89E0382-939A-46D8-6DF0-02EB99CB72B5}"/>
              </a:ext>
            </a:extLst>
          </p:cNvPr>
          <p:cNvSpPr/>
          <p:nvPr/>
        </p:nvSpPr>
        <p:spPr>
          <a:xfrm>
            <a:off x="8415726" y="4907687"/>
            <a:ext cx="252028" cy="276999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895AB3A-FAB3-53D1-6631-6EC10894D4E0}"/>
              </a:ext>
            </a:extLst>
          </p:cNvPr>
          <p:cNvGrpSpPr/>
          <p:nvPr/>
        </p:nvGrpSpPr>
        <p:grpSpPr>
          <a:xfrm>
            <a:off x="2298066" y="3563993"/>
            <a:ext cx="1964859" cy="1015591"/>
            <a:chOff x="1554787" y="2911647"/>
            <a:chExt cx="1964859" cy="1015591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066EEADC-971D-861A-7691-AB56B96AC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31422" y="2982108"/>
              <a:ext cx="501659" cy="418049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07D75B5B-6A6B-F103-6F48-CDC0B80E32C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54065" y="3482061"/>
              <a:ext cx="456372" cy="437357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A8606E5-7A47-982D-0C86-CD32E01AD068}"/>
                </a:ext>
              </a:extLst>
            </p:cNvPr>
            <p:cNvSpPr txBox="1"/>
            <p:nvPr/>
          </p:nvSpPr>
          <p:spPr bwMode="auto">
            <a:xfrm>
              <a:off x="2151494" y="3053779"/>
              <a:ext cx="1368152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Save Selection </a:t>
              </a:r>
              <a:endPara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78C2AAB-DC47-21E0-90AF-BAC0513E0C0F}"/>
                </a:ext>
              </a:extLst>
            </p:cNvPr>
            <p:cNvSpPr txBox="1"/>
            <p:nvPr/>
          </p:nvSpPr>
          <p:spPr bwMode="auto">
            <a:xfrm>
              <a:off x="2151494" y="3564220"/>
              <a:ext cx="120130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Save Search </a:t>
              </a:r>
              <a:endPara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094F87E-A27C-E7F2-780D-A5400AABA162}"/>
                </a:ext>
              </a:extLst>
            </p:cNvPr>
            <p:cNvSpPr/>
            <p:nvPr/>
          </p:nvSpPr>
          <p:spPr>
            <a:xfrm>
              <a:off x="1554787" y="2911647"/>
              <a:ext cx="1872208" cy="101559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8057D038-C83E-8CEA-5112-19326EB59C1D}"/>
                </a:ext>
              </a:extLst>
            </p:cNvPr>
            <p:cNvSpPr/>
            <p:nvPr/>
          </p:nvSpPr>
          <p:spPr>
            <a:xfrm>
              <a:off x="1628985" y="3004877"/>
              <a:ext cx="1723813" cy="39898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4D19812-0B21-E32C-DC73-44FDA4A6A699}"/>
              </a:ext>
            </a:extLst>
          </p:cNvPr>
          <p:cNvGrpSpPr/>
          <p:nvPr/>
        </p:nvGrpSpPr>
        <p:grpSpPr>
          <a:xfrm>
            <a:off x="4369552" y="3515854"/>
            <a:ext cx="4752936" cy="655248"/>
            <a:chOff x="3772870" y="3161460"/>
            <a:chExt cx="4752936" cy="65524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39EF16E-CC64-5ACE-A33A-3CC0A0B43AA4}"/>
                </a:ext>
              </a:extLst>
            </p:cNvPr>
            <p:cNvSpPr txBox="1"/>
            <p:nvPr/>
          </p:nvSpPr>
          <p:spPr bwMode="auto">
            <a:xfrm>
              <a:off x="3772870" y="3161460"/>
              <a:ext cx="1872208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Select Set</a:t>
              </a:r>
              <a:endParaRPr lang="ko-KR" altLang="en-US" sz="1600" b="1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2B414B2-6970-21D8-9D86-E1AF511EFF2C}"/>
                </a:ext>
              </a:extLst>
            </p:cNvPr>
            <p:cNvSpPr txBox="1"/>
            <p:nvPr/>
          </p:nvSpPr>
          <p:spPr bwMode="auto">
            <a:xfrm>
              <a:off x="3772870" y="3539709"/>
              <a:ext cx="4703630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선택되어 있는 객체를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Set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으로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설정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(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변경사항이 없을 경우 사용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)</a:t>
              </a:r>
              <a:endParaRPr lang="ko-KR" altLang="en-US" sz="1200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6790C49-872E-E5B9-9B31-769EBD489037}"/>
                </a:ext>
              </a:extLst>
            </p:cNvPr>
            <p:cNvSpPr/>
            <p:nvPr/>
          </p:nvSpPr>
          <p:spPr>
            <a:xfrm>
              <a:off x="3822175" y="3207856"/>
              <a:ext cx="4703631" cy="58741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BCB16FF-8831-5D06-E123-E40C7E17A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567015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A120F9-7932-CAA9-B85D-57D076E17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F9681C1-4EBA-319D-B322-39E864533733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05E406C-C791-5A05-DF72-F4E1F993EDDB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0A5E13-B348-8270-35F7-D0B7CCA58E10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간섭검토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C8459331-2F5F-AACF-2E48-26A4302587FB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18EE017-1AD8-DF8B-1542-C66B6F0FA36B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 err="1">
                <a:solidFill>
                  <a:srgbClr val="CC4700"/>
                </a:solidFill>
              </a:rPr>
              <a:t>간섭세팅</a:t>
            </a:r>
            <a:endParaRPr lang="en-US" altLang="ko-KR" sz="2000" b="1" dirty="0">
              <a:solidFill>
                <a:srgbClr val="CC47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C03012-711B-63C6-B165-2C1EE53E38F4}"/>
              </a:ext>
            </a:extLst>
          </p:cNvPr>
          <p:cNvSpPr txBox="1"/>
          <p:nvPr/>
        </p:nvSpPr>
        <p:spPr>
          <a:xfrm>
            <a:off x="843684" y="1872178"/>
            <a:ext cx="79493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defTabSz="895350" eaLnBrk="0" latinLnBrk="0" hangingPunct="0">
              <a:spcBef>
                <a:spcPts val="600"/>
              </a:spcBef>
              <a:buClr>
                <a:srgbClr val="000066"/>
              </a:buClr>
              <a:buSzPct val="100000"/>
              <a:buFont typeface="+mj-lt"/>
              <a:buAutoNum type="arabicPeriod" startAt="2"/>
            </a:pPr>
            <a:r>
              <a:rPr kumimoji="1" lang="en-US" altLang="ko-KR" sz="1400" b="1">
                <a:latin typeface="맑은 고딕" pitchFamily="50" charset="-127"/>
                <a:cs typeface="Tahoma" pitchFamily="34" charset="0"/>
              </a:rPr>
              <a:t>Rule </a:t>
            </a:r>
            <a:r>
              <a:rPr kumimoji="1" lang="ko-KR" altLang="en-US" sz="1400" b="1" dirty="0">
                <a:latin typeface="맑은 고딕" pitchFamily="50" charset="-127"/>
                <a:cs typeface="Tahoma" pitchFamily="34" charset="0"/>
              </a:rPr>
              <a:t>설정</a:t>
            </a:r>
            <a:r>
              <a:rPr kumimoji="1" lang="en-US" altLang="ko-KR" sz="1400" b="1" dirty="0">
                <a:latin typeface="맑은 고딕" pitchFamily="50" charset="-127"/>
                <a:cs typeface="Tahoma" pitchFamily="34" charset="0"/>
              </a:rPr>
              <a:t>(</a:t>
            </a:r>
            <a:r>
              <a:rPr kumimoji="1" lang="ko-KR" altLang="en-US" sz="1400" b="1" dirty="0">
                <a:latin typeface="맑은 고딕" pitchFamily="50" charset="-127"/>
                <a:cs typeface="Tahoma" pitchFamily="34" charset="0"/>
              </a:rPr>
              <a:t>조건부 간섭을 위한 설정</a:t>
            </a:r>
            <a:r>
              <a:rPr kumimoji="1" lang="en-US" altLang="ko-KR" sz="1400" b="1" dirty="0">
                <a:latin typeface="맑은 고딕" pitchFamily="50" charset="-127"/>
                <a:cs typeface="Tahoma" pitchFamily="34" charset="0"/>
              </a:rPr>
              <a:t>)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AB022FD4-8A66-F396-CE23-53642BFCE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082" y="2606218"/>
            <a:ext cx="4134336" cy="28803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0F4BC4FF-55E2-3643-77A9-70689DA63884}"/>
              </a:ext>
            </a:extLst>
          </p:cNvPr>
          <p:cNvSpPr/>
          <p:nvPr/>
        </p:nvSpPr>
        <p:spPr>
          <a:xfrm>
            <a:off x="1509082" y="2601593"/>
            <a:ext cx="402908" cy="26168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C0C47D-9897-7246-19D4-E719C1C7B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668433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8638E3-3169-825C-D223-E90D7905D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E684EC1C-FB77-8477-E1DD-FB2E681F6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565" y="1973845"/>
            <a:ext cx="4516312" cy="3743847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FC46E67B-E95A-24E0-5193-117B2349647D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1C69BEB-A4F7-D88C-5413-99B8CB339800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527400-D16A-F291-F368-F06F5CD9F28A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간섭검토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9AFC9BE-2CE3-D368-51D6-85691193EA3F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3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D038A2B-EC1A-D715-A751-54FF78980211}"/>
              </a:ext>
            </a:extLst>
          </p:cNvPr>
          <p:cNvSpPr txBox="1"/>
          <p:nvPr/>
        </p:nvSpPr>
        <p:spPr>
          <a:xfrm>
            <a:off x="917573" y="1353582"/>
            <a:ext cx="81223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 err="1">
                <a:solidFill>
                  <a:srgbClr val="CC4700"/>
                </a:solidFill>
              </a:rPr>
              <a:t>관측점</a:t>
            </a:r>
            <a:r>
              <a:rPr lang="ko-KR" altLang="en-US" sz="2000" b="1" dirty="0">
                <a:solidFill>
                  <a:srgbClr val="CC4700"/>
                </a:solidFill>
              </a:rPr>
              <a:t> 작성</a:t>
            </a:r>
            <a:r>
              <a:rPr lang="en-US" altLang="ko-KR" sz="1400" b="1" dirty="0">
                <a:solidFill>
                  <a:srgbClr val="CC4700"/>
                </a:solidFill>
              </a:rPr>
              <a:t>(</a:t>
            </a:r>
            <a:r>
              <a:rPr kumimoji="1" lang="ko-KR" altLang="en-US" sz="1400" b="1" dirty="0">
                <a:solidFill>
                  <a:srgbClr val="CC4700"/>
                </a:solidFill>
                <a:latin typeface="맑은 고딕" pitchFamily="50" charset="-127"/>
                <a:cs typeface="Tahoma" pitchFamily="34" charset="0"/>
              </a:rPr>
              <a:t>간섭검토 후 관측부분 빠른 확인을 위함</a:t>
            </a:r>
            <a:r>
              <a:rPr kumimoji="1" lang="en-US" altLang="ko-KR" sz="1400" b="1" dirty="0">
                <a:solidFill>
                  <a:srgbClr val="CC4700"/>
                </a:solidFill>
                <a:latin typeface="맑은 고딕" pitchFamily="50" charset="-127"/>
                <a:cs typeface="Tahoma" pitchFamily="34" charset="0"/>
              </a:rPr>
              <a:t>)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1932E8B-242C-803B-AA5C-B4E991F0A4DD}"/>
              </a:ext>
            </a:extLst>
          </p:cNvPr>
          <p:cNvSpPr/>
          <p:nvPr/>
        </p:nvSpPr>
        <p:spPr>
          <a:xfrm>
            <a:off x="4854574" y="4146549"/>
            <a:ext cx="517525" cy="23552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77A910C-9097-4DA8-AF41-CFF3A68E7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62</a:t>
            </a:fld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55625C7-E60D-FD97-7061-AE652E79B0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4768" y="1983370"/>
            <a:ext cx="2368184" cy="239870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5152126-4538-CC89-E517-C45838229A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4658" y="1992206"/>
            <a:ext cx="2894777" cy="977878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115B511B-9581-FB2A-6A12-BCB4746C51E1}"/>
              </a:ext>
            </a:extLst>
          </p:cNvPr>
          <p:cNvSpPr/>
          <p:nvPr/>
        </p:nvSpPr>
        <p:spPr>
          <a:xfrm>
            <a:off x="6162675" y="2675836"/>
            <a:ext cx="578213" cy="14356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EF8FC63-2EC6-ADC2-7DA8-B4A60B56F5C7}"/>
              </a:ext>
            </a:extLst>
          </p:cNvPr>
          <p:cNvSpPr/>
          <p:nvPr/>
        </p:nvSpPr>
        <p:spPr>
          <a:xfrm>
            <a:off x="10530696" y="2318194"/>
            <a:ext cx="400051" cy="50120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9270661-205B-8487-CDD0-E547BABB154F}"/>
              </a:ext>
            </a:extLst>
          </p:cNvPr>
          <p:cNvSpPr/>
          <p:nvPr/>
        </p:nvSpPr>
        <p:spPr>
          <a:xfrm>
            <a:off x="8871728" y="2168339"/>
            <a:ext cx="281798" cy="14985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0DE7C5-0083-DFC3-AB5E-A0E2E85EB8AF}"/>
              </a:ext>
            </a:extLst>
          </p:cNvPr>
          <p:cNvSpPr txBox="1"/>
          <p:nvPr/>
        </p:nvSpPr>
        <p:spPr>
          <a:xfrm>
            <a:off x="8432800" y="4636977"/>
            <a:ext cx="36512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ko-KR" altLang="en-US" sz="1400" dirty="0">
                <a:solidFill>
                  <a:srgbClr val="FF0000"/>
                </a:solidFill>
              </a:rPr>
              <a:t>간섭체크 항목 선택</a:t>
            </a:r>
            <a:endParaRPr lang="en-US" altLang="ko-KR" sz="1400" dirty="0">
              <a:solidFill>
                <a:srgbClr val="FF0000"/>
              </a:solidFill>
            </a:endParaRPr>
          </a:p>
          <a:p>
            <a:pPr marL="342900" indent="-342900">
              <a:buFont typeface="+mj-ea"/>
              <a:buAutoNum type="circleNumDbPlain"/>
            </a:pPr>
            <a:endParaRPr lang="en-US" altLang="ko-KR" sz="1400" dirty="0">
              <a:solidFill>
                <a:srgbClr val="FF0000"/>
              </a:solidFill>
            </a:endParaRPr>
          </a:p>
          <a:p>
            <a:pPr marL="342900" indent="-342900">
              <a:buFont typeface="+mj-ea"/>
              <a:buAutoNum type="circleNumDbPlain"/>
            </a:pPr>
            <a:r>
              <a:rPr lang="ko-KR" altLang="en-US" sz="1400" dirty="0" err="1">
                <a:solidFill>
                  <a:srgbClr val="FF0000"/>
                </a:solidFill>
              </a:rPr>
              <a:t>관측점</a:t>
            </a:r>
            <a:r>
              <a:rPr lang="ko-KR" altLang="en-US" sz="1400" dirty="0">
                <a:solidFill>
                  <a:srgbClr val="FF0000"/>
                </a:solidFill>
              </a:rPr>
              <a:t> 뷰 추가</a:t>
            </a:r>
            <a:endParaRPr lang="en-US" altLang="ko-KR" sz="1400" dirty="0">
              <a:solidFill>
                <a:srgbClr val="FF0000"/>
              </a:solidFill>
            </a:endParaRPr>
          </a:p>
          <a:p>
            <a:pPr marL="342900" indent="-342900">
              <a:buFont typeface="+mj-ea"/>
              <a:buAutoNum type="circleNumDbPlain"/>
            </a:pPr>
            <a:endParaRPr lang="en-US" altLang="ko-KR" sz="1400" dirty="0">
              <a:solidFill>
                <a:srgbClr val="FF0000"/>
              </a:solidFill>
            </a:endParaRPr>
          </a:p>
          <a:p>
            <a:pPr marL="342900" indent="-342900">
              <a:buFont typeface="+mj-ea"/>
              <a:buAutoNum type="circleNumDbPlain"/>
            </a:pPr>
            <a:r>
              <a:rPr lang="ko-KR" altLang="en-US" sz="1400" dirty="0" err="1">
                <a:solidFill>
                  <a:srgbClr val="FF0000"/>
                </a:solidFill>
              </a:rPr>
              <a:t>관측점</a:t>
            </a:r>
            <a:r>
              <a:rPr lang="ko-KR" altLang="en-US" sz="1400" dirty="0">
                <a:solidFill>
                  <a:srgbClr val="FF0000"/>
                </a:solidFill>
              </a:rPr>
              <a:t> 표시</a:t>
            </a:r>
            <a:endParaRPr lang="en-US" altLang="ko-KR" sz="1400" dirty="0">
              <a:solidFill>
                <a:srgbClr val="FF0000"/>
              </a:solidFill>
            </a:endParaRPr>
          </a:p>
          <a:p>
            <a:endParaRPr lang="en-US" altLang="ko-KR" sz="1400" dirty="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BEBEA4-7FE4-C7B4-E460-10FFF33966B3}"/>
              </a:ext>
            </a:extLst>
          </p:cNvPr>
          <p:cNvSpPr txBox="1"/>
          <p:nvPr/>
        </p:nvSpPr>
        <p:spPr>
          <a:xfrm>
            <a:off x="4495800" y="392639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7C7685A-33E8-2741-CEB4-617C382207D8}"/>
              </a:ext>
            </a:extLst>
          </p:cNvPr>
          <p:cNvSpPr txBox="1"/>
          <p:nvPr/>
        </p:nvSpPr>
        <p:spPr>
          <a:xfrm>
            <a:off x="8583788" y="219946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③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EBCC9B-7A4D-77E0-0F0D-8FA0CE470C63}"/>
              </a:ext>
            </a:extLst>
          </p:cNvPr>
          <p:cNvSpPr txBox="1"/>
          <p:nvPr/>
        </p:nvSpPr>
        <p:spPr>
          <a:xfrm>
            <a:off x="5821577" y="238413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②</a:t>
            </a:r>
          </a:p>
        </p:txBody>
      </p:sp>
    </p:spTree>
    <p:extLst>
      <p:ext uri="{BB962C8B-B14F-4D97-AF65-F5344CB8AC3E}">
        <p14:creationId xmlns:p14="http://schemas.microsoft.com/office/powerpoint/2010/main" val="110778469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CB9957-83B4-5C78-93CF-049BC010D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3AAF817-6A32-1A4D-3B1F-B3F0FB7CF130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B4560DC-61C1-9B85-AB0F-452E4656BDE7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18C1D6-6648-DA02-ACE6-1FB2013BFB3E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간섭검토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E6C2639-8A06-3866-29A5-878832B13290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4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40BE06F-D6CA-00C1-BBE7-51828E0A9AFF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rgbClr val="CC4700"/>
                </a:solidFill>
              </a:rPr>
              <a:t>단면처리 도구 사용</a:t>
            </a:r>
            <a:endParaRPr lang="en-US" altLang="ko-KR" sz="2000" b="1" dirty="0">
              <a:solidFill>
                <a:srgbClr val="CC4700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A6C9E5E-011A-B8C5-AF00-FC8741E6F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63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A013092-58FA-5B54-28A3-F5F3A99DE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727" y="2663305"/>
            <a:ext cx="8744769" cy="125635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787EBA39-0CCF-960A-D501-A8E1C29D9B24}"/>
              </a:ext>
            </a:extLst>
          </p:cNvPr>
          <p:cNvSpPr/>
          <p:nvPr/>
        </p:nvSpPr>
        <p:spPr>
          <a:xfrm>
            <a:off x="7083424" y="3054781"/>
            <a:ext cx="450851" cy="57424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4CE9513-4D56-978D-27F3-E4C110898BD8}"/>
              </a:ext>
            </a:extLst>
          </p:cNvPr>
          <p:cNvSpPr/>
          <p:nvPr/>
        </p:nvSpPr>
        <p:spPr>
          <a:xfrm>
            <a:off x="996950" y="2870153"/>
            <a:ext cx="346076" cy="18462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8249246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8AA598-0AB0-4F23-1428-95B0731BA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A6FE421F-B0E6-BCD4-4B41-78C3720736C7}"/>
              </a:ext>
            </a:extLst>
          </p:cNvPr>
          <p:cNvSpPr txBox="1"/>
          <p:nvPr/>
        </p:nvSpPr>
        <p:spPr>
          <a:xfrm>
            <a:off x="2377209" y="2946399"/>
            <a:ext cx="51362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95350" eaLnBrk="0" latinLnBrk="0" hangingPunct="0">
              <a:spcBef>
                <a:spcPts val="600"/>
              </a:spcBef>
              <a:buClr>
                <a:srgbClr val="000066"/>
              </a:buClr>
              <a:buSzPct val="100000"/>
            </a:pPr>
            <a:r>
              <a:rPr kumimoji="1" lang="ko-KR" altLang="en-US" sz="2400" b="1" dirty="0">
                <a:latin typeface="맑은 고딕" pitchFamily="50" charset="-127"/>
                <a:cs typeface="Tahoma" pitchFamily="34" charset="0"/>
              </a:rPr>
              <a:t>감사합니다</a:t>
            </a:r>
            <a:r>
              <a:rPr kumimoji="1" lang="en-US" altLang="ko-KR" sz="2400" b="1" dirty="0">
                <a:latin typeface="맑은 고딕" pitchFamily="50" charset="-127"/>
                <a:cs typeface="Tahoma" pitchFamily="34" charset="0"/>
              </a:rPr>
              <a:t>.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F63E9AC-801C-B180-0529-3EB153302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3854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2A92AFA-5D7B-4604-8E0D-EC96BC3D44D8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fe7f9e71-fe52-48c3-b5ca-6103145319f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8796</TotalTime>
  <Words>5107</Words>
  <Application>Microsoft Office PowerPoint</Application>
  <PresentationFormat>와이드스크린</PresentationFormat>
  <Paragraphs>1020</Paragraphs>
  <Slides>64</Slides>
  <Notes>64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64</vt:i4>
      </vt:variant>
    </vt:vector>
  </HeadingPairs>
  <TitlesOfParts>
    <vt:vector size="72" baseType="lpstr">
      <vt:lpstr>Google Sans Text</vt:lpstr>
      <vt:lpstr>ui-monospace</vt:lpstr>
      <vt:lpstr>Malgun Gothic</vt:lpstr>
      <vt:lpstr>Malgun Gothic</vt:lpstr>
      <vt:lpstr>Arial</vt:lpstr>
      <vt:lpstr>Courier New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hj8588@gmail.com</dc:creator>
  <cp:lastModifiedBy>hyejeong lee</cp:lastModifiedBy>
  <cp:revision>157</cp:revision>
  <cp:lastPrinted>2026-06-05T04:29:06Z</cp:lastPrinted>
  <dcterms:created xsi:type="dcterms:W3CDTF">2026-04-13T04:40:56Z</dcterms:created>
  <dcterms:modified xsi:type="dcterms:W3CDTF">2026-06-17T08:34:25Z</dcterms:modified>
</cp:coreProperties>
</file>